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 pitch up front. Sample company "Northpeak" — replace with your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pain with numbers. Illustrative sample figures.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non-obvious reframe the whole pitch rests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it is, in three capabilities. The panel is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'real, not magic' beat. Abstract hero — swap for a product still.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proof. Sample startup metrics — replace with your real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 in customers' voices. Fictional sample quotes.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this, why now. Three market signals. Sample figures.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against the alternatives. Northpeak is the mint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the product goes. Sequence, not exact 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raise and what it buys. Then stop.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237744" cy="237744"/>
          </a:xfrm>
          <a:prstGeom prst="ellipse">
            <a:avLst/>
          </a:prstGeom>
          <a:solidFill>
            <a:srgbClr val="BCEFCB"/>
          </a:solidFill>
          <a:ln/>
        </p:spPr>
      </p:sp>
      <p:sp>
        <p:nvSpPr>
          <p:cNvPr id="3" name="Text 1"/>
          <p:cNvSpPr/>
          <p:nvPr/>
        </p:nvSpPr>
        <p:spPr>
          <a:xfrm>
            <a:off x="1088136" y="4023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Northpeak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2359152"/>
            <a:ext cx="109728" cy="109728"/>
          </a:xfrm>
          <a:prstGeom prst="ellipse">
            <a:avLst/>
          </a:prstGeom>
          <a:solidFill>
            <a:srgbClr val="BCEFCB"/>
          </a:solidFill>
          <a:ln/>
        </p:spPr>
      </p:sp>
      <p:sp>
        <p:nvSpPr>
          <p:cNvPr id="5" name="Text 3"/>
          <p:cNvSpPr/>
          <p:nvPr/>
        </p:nvSpPr>
        <p:spPr>
          <a:xfrm>
            <a:off x="978408" y="22677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58952" y="2697480"/>
            <a:ext cx="10607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Northpeak</a:t>
            </a:r>
            <a:endParaRPr lang="en-US" sz="5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runs itself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77240" y="4892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9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Northpeak turns operational busywork into automatic, auditable actions — no rules to write.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6172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  ·  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058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9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still runs on manual work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77240" y="2011680"/>
            <a:ext cx="5577840" cy="834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hrs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77240" y="2864855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 the average ops team loses to manual busywork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3303767"/>
            <a:ext cx="557784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383280"/>
            <a:ext cx="5577840" cy="834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77240" y="4236455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that work is repetitive and rules-shaped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4675367"/>
            <a:ext cx="557784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754880"/>
            <a:ext cx="5577840" cy="834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$40k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777240" y="5608055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yearly cost of it, per ops hire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6046967"/>
            <a:ext cx="557784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2011680"/>
            <a:ext cx="4553712" cy="3977640"/>
          </a:xfrm>
          <a:prstGeom prst="roundRect">
            <a:avLst>
              <a:gd name="adj" fmla="val 2759"/>
            </a:avLst>
          </a:prstGeom>
          <a:solidFill>
            <a:srgbClr val="EFEDF7"/>
          </a:solidFill>
          <a:ln w="12700">
            <a:solidFill>
              <a:srgbClr val="DED9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23960" y="3451860"/>
            <a:ext cx="621792" cy="475488"/>
          </a:xfrm>
          <a:prstGeom prst="roundRect">
            <a:avLst>
              <a:gd name="adj" fmla="val 11538"/>
            </a:avLst>
          </a:prstGeom>
          <a:solidFill>
            <a:srgbClr val="EFEDF7"/>
          </a:solidFill>
          <a:ln w="19050">
            <a:solidFill>
              <a:srgbClr val="B9B2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53144" y="3543300"/>
            <a:ext cx="109728" cy="109728"/>
          </a:xfrm>
          <a:prstGeom prst="ellipse">
            <a:avLst/>
          </a:prstGeom>
          <a:solidFill>
            <a:srgbClr val="B9B2D4"/>
          </a:solidFill>
          <a:ln/>
        </p:spPr>
      </p:sp>
      <p:sp>
        <p:nvSpPr>
          <p:cNvPr id="15" name="Shape 13"/>
          <p:cNvSpPr/>
          <p:nvPr/>
        </p:nvSpPr>
        <p:spPr>
          <a:xfrm>
            <a:off x="8878824" y="3854196"/>
            <a:ext cx="512064" cy="0"/>
          </a:xfrm>
          <a:prstGeom prst="line">
            <a:avLst/>
          </a:prstGeom>
          <a:noFill/>
          <a:ln w="19050">
            <a:solidFill>
              <a:srgbClr val="B9B2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4073652"/>
            <a:ext cx="3822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customer-in-context photo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Northpeak  ·  Series A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5856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2176272"/>
            <a:ext cx="109728" cy="109728"/>
          </a:xfrm>
          <a:prstGeom prst="ellipse">
            <a:avLst/>
          </a:prstGeom>
          <a:solidFill>
            <a:srgbClr val="5A6CE6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20848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2560320"/>
            <a:ext cx="10972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3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already know what to do.</a:t>
            </a:r>
            <a:endParaRPr lang="en-US" sz="34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3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just don't </a:t>
            </a:r>
            <a:pPr algn="l" indent="0" marL="0">
              <a:lnSpc>
                <a:spcPct val="114000"/>
              </a:lnSpc>
              <a:buNone/>
            </a:pPr>
            <a:r>
              <a:rPr lang="en-US" sz="3400" b="1" dirty="0">
                <a:solidFill>
                  <a:srgbClr val="5A6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pPr algn="l" indent="0" marL="0">
              <a:lnSpc>
                <a:spcPct val="114000"/>
              </a:lnSpc>
              <a:buNone/>
            </a:pPr>
            <a:r>
              <a:rPr lang="en-US" sz="3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— yet.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461772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system already emits the signal. Northpeak reads it, decides, and takes the next action — then shows its work, so a human can trust it.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Northpeak  ·  Series 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5856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76072"/>
            <a:ext cx="109728" cy="109728"/>
          </a:xfrm>
          <a:prstGeom prst="ellipse">
            <a:avLst/>
          </a:prstGeom>
          <a:solidFill>
            <a:srgbClr val="5A6CE6"/>
          </a:solidFill>
          <a:ln/>
        </p:spPr>
      </p:sp>
      <p:sp>
        <p:nvSpPr>
          <p:cNvPr id="3" name="Text 1"/>
          <p:cNvSpPr/>
          <p:nvPr/>
        </p:nvSpPr>
        <p:spPr>
          <a:xfrm>
            <a:off x="978408" y="4846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Northpeak</a:t>
            </a:r>
            <a:endParaRPr lang="en-US" sz="28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that explains itself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468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work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85292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the systems you already run — no new data model.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36758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in context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4059936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the next action and says why, in plain language.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488289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Acts, with a trail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5266944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and logs every step, so nothing is a black box.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720840" y="2331720"/>
            <a:ext cx="4690872" cy="3611880"/>
          </a:xfrm>
          <a:prstGeom prst="roundRect">
            <a:avLst>
              <a:gd name="adj" fmla="val 3544"/>
            </a:avLst>
          </a:prstGeom>
          <a:solidFill>
            <a:srgbClr val="16181C"/>
          </a:solidFill>
          <a:ln/>
          <a:effectLst>
            <a:outerShdw sx="100000" sy="100000" kx="0" ky="0" algn="bl" rotWithShape="0" blurRad="114300" dist="38100" dir="5400000">
              <a:srgbClr val="20232A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040880" y="260604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NORTHPEAK · QUEUE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40880" y="3017520"/>
            <a:ext cx="4050792" cy="658368"/>
          </a:xfrm>
          <a:prstGeom prst="roundRect">
            <a:avLst>
              <a:gd name="adj" fmla="val 11111"/>
            </a:avLst>
          </a:prstGeom>
          <a:solidFill>
            <a:srgbClr val="20232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87768" y="3255264"/>
            <a:ext cx="182880" cy="182880"/>
          </a:xfrm>
          <a:prstGeom prst="ellipse">
            <a:avLst/>
          </a:prstGeom>
          <a:solidFill>
            <a:srgbClr val="BCEFCB"/>
          </a:solidFill>
          <a:ln/>
        </p:spPr>
      </p:sp>
      <p:sp>
        <p:nvSpPr>
          <p:cNvPr id="15" name="Text 13"/>
          <p:cNvSpPr/>
          <p:nvPr/>
        </p:nvSpPr>
        <p:spPr>
          <a:xfrm>
            <a:off x="7589520" y="301752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D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invoices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765792" y="30175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CE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40880" y="3840480"/>
            <a:ext cx="4050792" cy="658368"/>
          </a:xfrm>
          <a:prstGeom prst="roundRect">
            <a:avLst>
              <a:gd name="adj" fmla="val 11111"/>
            </a:avLst>
          </a:prstGeom>
          <a:solidFill>
            <a:srgbClr val="20232B"/>
          </a:solidFill>
          <a:ln/>
        </p:spPr>
      </p:sp>
      <p:sp>
        <p:nvSpPr>
          <p:cNvPr id="18" name="Shape 16"/>
          <p:cNvSpPr/>
          <p:nvPr/>
        </p:nvSpPr>
        <p:spPr>
          <a:xfrm>
            <a:off x="7287768" y="4078224"/>
            <a:ext cx="182880" cy="182880"/>
          </a:xfrm>
          <a:prstGeom prst="ellipse">
            <a:avLst/>
          </a:prstGeom>
          <a:solidFill>
            <a:srgbClr val="5A6CE6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0" y="384048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D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anomalies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765792" y="384048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6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040880" y="4663440"/>
            <a:ext cx="4050792" cy="658368"/>
          </a:xfrm>
          <a:prstGeom prst="roundRect">
            <a:avLst>
              <a:gd name="adj" fmla="val 11111"/>
            </a:avLst>
          </a:prstGeom>
          <a:solidFill>
            <a:srgbClr val="20232B"/>
          </a:solidFill>
          <a:ln/>
        </p:spPr>
      </p:sp>
      <p:sp>
        <p:nvSpPr>
          <p:cNvPr id="22" name="Shape 20"/>
          <p:cNvSpPr/>
          <p:nvPr/>
        </p:nvSpPr>
        <p:spPr>
          <a:xfrm>
            <a:off x="7287768" y="4901184"/>
            <a:ext cx="182880" cy="182880"/>
          </a:xfrm>
          <a:prstGeom prst="ellipse">
            <a:avLst/>
          </a:prstGeom>
          <a:solidFill>
            <a:srgbClr val="F3EEA0"/>
          </a:solidFill>
          <a:ln/>
        </p:spPr>
      </p:sp>
      <p:sp>
        <p:nvSpPr>
          <p:cNvPr id="23" name="Text 21"/>
          <p:cNvSpPr/>
          <p:nvPr/>
        </p:nvSpPr>
        <p:spPr>
          <a:xfrm>
            <a:off x="7589520" y="466344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D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the follow-ups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765792" y="466344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3E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20840" y="5532120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Northpeak action queue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Northpeak  ·  Series A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5856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stract intelligence visu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822960"/>
            <a:ext cx="5852160" cy="46817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" y="1078992"/>
            <a:ext cx="109728" cy="109728"/>
          </a:xfrm>
          <a:prstGeom prst="ellipse">
            <a:avLst/>
          </a:prstGeom>
          <a:solidFill>
            <a:srgbClr val="BCEFCB"/>
          </a:solidFill>
          <a:ln/>
        </p:spPr>
      </p:sp>
      <p:sp>
        <p:nvSpPr>
          <p:cNvPr id="4" name="Text 1"/>
          <p:cNvSpPr/>
          <p:nvPr/>
        </p:nvSpPr>
        <p:spPr>
          <a:xfrm>
            <a:off x="978408" y="9875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77240" y="137160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Watch. Decide.</a:t>
            </a:r>
            <a:endParaRPr lang="en-US" sz="30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Act.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777240" y="3063240"/>
            <a:ext cx="457200" cy="457200"/>
          </a:xfrm>
          <a:prstGeom prst="ellipse">
            <a:avLst/>
          </a:prstGeom>
          <a:solidFill>
            <a:srgbClr val="23262F"/>
          </a:solidFill>
          <a:ln w="15875">
            <a:solidFill>
              <a:srgbClr val="5A6C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35608" y="302666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35608" y="335584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your stack and learns the shape of the work — no rules to write.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4087368"/>
            <a:ext cx="457200" cy="457200"/>
          </a:xfrm>
          <a:prstGeom prst="ellipse">
            <a:avLst/>
          </a:prstGeom>
          <a:solidFill>
            <a:srgbClr val="23262F"/>
          </a:solidFill>
          <a:ln w="15875">
            <a:solidFill>
              <a:srgbClr val="5A6C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435608" y="40507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35608" y="437997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the next action and explains the reasoning behind it.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77240" y="5111496"/>
            <a:ext cx="457200" cy="457200"/>
          </a:xfrm>
          <a:prstGeom prst="ellipse">
            <a:avLst/>
          </a:prstGeom>
          <a:solidFill>
            <a:srgbClr val="23262F"/>
          </a:solidFill>
          <a:ln w="15875">
            <a:solidFill>
              <a:srgbClr val="5A6CE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35608" y="5074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435608" y="540410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with a full audit trail; a human can approve or step in.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Northpeak  ·  Series A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95856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058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29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already working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77240" y="2148840"/>
            <a:ext cx="4937760" cy="675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$2.4M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2842989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ARR, up 4× year on year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3281901"/>
            <a:ext cx="493776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55080" y="2148840"/>
            <a:ext cx="4937760" cy="675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355080" y="2842989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retention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55080" y="3281901"/>
            <a:ext cx="493776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474720"/>
            <a:ext cx="4937760" cy="675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120+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77240" y="4168869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live in production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4607781"/>
            <a:ext cx="493776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3474720"/>
            <a:ext cx="4937760" cy="675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wks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355080" y="4168869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payback for a customer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55080" y="4607781"/>
            <a:ext cx="493776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800600"/>
            <a:ext cx="4937760" cy="675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4.1M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77240" y="5494749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taken automatically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5933661"/>
            <a:ext cx="493776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4800600"/>
            <a:ext cx="4937760" cy="675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355080" y="5494749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logo churn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55080" y="5933661"/>
            <a:ext cx="493776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Northpeak  ·  Series A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5856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515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say it best</a:t>
            </a:r>
            <a:endParaRPr lang="en-US" sz="29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they stay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777240" y="2103120"/>
            <a:ext cx="3401568" cy="3520440"/>
          </a:xfrm>
          <a:prstGeom prst="roundRect">
            <a:avLst>
              <a:gd name="adj" fmla="val 3226"/>
            </a:avLst>
          </a:prstGeom>
          <a:solidFill>
            <a:srgbClr val="E7E3F5"/>
          </a:solidFill>
          <a:ln/>
        </p:spPr>
      </p:sp>
      <p:sp>
        <p:nvSpPr>
          <p:cNvPr id="4" name="Text 2"/>
          <p:cNvSpPr/>
          <p:nvPr/>
        </p:nvSpPr>
        <p:spPr>
          <a:xfrm>
            <a:off x="2441448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3272" y="22860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097280" y="3246120"/>
            <a:ext cx="27614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Northpeak quietly does a job we were about to hire two people for.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5001768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Devin  </a:t>
            </a:r>
            <a:pPr algn="l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Ops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2103120"/>
            <a:ext cx="3401568" cy="3520440"/>
          </a:xfrm>
          <a:prstGeom prst="roundRect">
            <a:avLst>
              <a:gd name="adj" fmla="val 3226"/>
            </a:avLst>
          </a:prstGeom>
          <a:solidFill>
            <a:srgbClr val="F3EEA0"/>
          </a:solidFill>
          <a:ln/>
        </p:spPr>
      </p:sp>
      <p:sp>
        <p:nvSpPr>
          <p:cNvPr id="9" name="Text 7"/>
          <p:cNvSpPr/>
          <p:nvPr/>
        </p:nvSpPr>
        <p:spPr>
          <a:xfrm>
            <a:off x="6053328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45152" y="22860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4709160" y="3246120"/>
            <a:ext cx="27614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went live in a week and never looked back.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09160" y="5001768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 </a:t>
            </a:r>
            <a:pPr algn="l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01000" y="2103120"/>
            <a:ext cx="3401568" cy="3520440"/>
          </a:xfrm>
          <a:prstGeom prst="roundRect">
            <a:avLst>
              <a:gd name="adj" fmla="val 3226"/>
            </a:avLst>
          </a:prstGeom>
          <a:solidFill>
            <a:srgbClr val="BCEFCB"/>
          </a:solidFill>
          <a:ln/>
        </p:spPr>
      </p:sp>
      <p:sp>
        <p:nvSpPr>
          <p:cNvPr id="14" name="Text 12"/>
          <p:cNvSpPr/>
          <p:nvPr/>
        </p:nvSpPr>
        <p:spPr>
          <a:xfrm>
            <a:off x="9665208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57032" y="22860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8321040" y="3246120"/>
            <a:ext cx="27614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 trail is what got it past our risk team.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21040" y="5001768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 </a:t>
            </a:r>
            <a:pPr algn="l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Finance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Northpeak  ·  Series 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5856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058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29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just tipped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77240" y="2011680"/>
            <a:ext cx="5577840" cy="834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$48B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77240" y="2864855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yearly on the ops work we automate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3303767"/>
            <a:ext cx="557784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383280"/>
            <a:ext cx="5577840" cy="834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77240" y="4236455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tooling adoption since models got good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4675367"/>
            <a:ext cx="557784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754880"/>
            <a:ext cx="5577840" cy="834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777240" y="5608055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teams now piloting automation, up from 22%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6046967"/>
            <a:ext cx="557784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2011680"/>
            <a:ext cx="4553712" cy="3977640"/>
          </a:xfrm>
          <a:prstGeom prst="roundRect">
            <a:avLst>
              <a:gd name="adj" fmla="val 2759"/>
            </a:avLst>
          </a:prstGeom>
          <a:solidFill>
            <a:srgbClr val="EFEDF7"/>
          </a:solidFill>
          <a:ln w="12700">
            <a:solidFill>
              <a:srgbClr val="DED9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23960" y="3451860"/>
            <a:ext cx="621792" cy="475488"/>
          </a:xfrm>
          <a:prstGeom prst="roundRect">
            <a:avLst>
              <a:gd name="adj" fmla="val 11538"/>
            </a:avLst>
          </a:prstGeom>
          <a:solidFill>
            <a:srgbClr val="EFEDF7"/>
          </a:solidFill>
          <a:ln w="19050">
            <a:solidFill>
              <a:srgbClr val="B9B2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53144" y="3543300"/>
            <a:ext cx="109728" cy="109728"/>
          </a:xfrm>
          <a:prstGeom prst="ellipse">
            <a:avLst/>
          </a:prstGeom>
          <a:solidFill>
            <a:srgbClr val="B9B2D4"/>
          </a:solidFill>
          <a:ln/>
        </p:spPr>
      </p:sp>
      <p:sp>
        <p:nvSpPr>
          <p:cNvPr id="15" name="Shape 13"/>
          <p:cNvSpPr/>
          <p:nvPr/>
        </p:nvSpPr>
        <p:spPr>
          <a:xfrm>
            <a:off x="8878824" y="3854196"/>
            <a:ext cx="512064" cy="0"/>
          </a:xfrm>
          <a:prstGeom prst="line">
            <a:avLst/>
          </a:prstGeom>
          <a:noFill/>
          <a:ln w="19050">
            <a:solidFill>
              <a:srgbClr val="B9B2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4073652"/>
            <a:ext cx="3822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E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market or trend chart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Northpeak  ·  Series A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5856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515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</a:t>
            </a:r>
            <a:endParaRPr lang="en-US" sz="29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alternatives fall short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777240" y="2011680"/>
            <a:ext cx="3401568" cy="4160520"/>
          </a:xfrm>
          <a:prstGeom prst="roundRect">
            <a:avLst>
              <a:gd name="adj" fmla="val 3226"/>
            </a:avLst>
          </a:prstGeom>
          <a:solidFill>
            <a:srgbClr val="BCEFCB"/>
          </a:solidFill>
          <a:ln/>
          <a:effectLst>
            <a:outerShdw sx="100000" sy="100000" kx="0" ky="0" algn="bl" rotWithShape="0" blurRad="114300" dist="38100" dir="5400000">
              <a:srgbClr val="20232A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51560" y="2304288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81818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3042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NORTHPEAK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51560" y="2926080"/>
            <a:ext cx="2852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Northpeak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51560" y="3840480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5A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VALUE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51560" y="4059936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51560" y="4389120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5A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1560" y="4608576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51560" y="4937760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5A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51560" y="5157216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rules to write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51560" y="5486400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5A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51560" y="5705856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on its own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89120" y="2011680"/>
            <a:ext cx="3401568" cy="4160520"/>
          </a:xfrm>
          <a:prstGeom prst="roundRect">
            <a:avLst>
              <a:gd name="adj" fmla="val 3226"/>
            </a:avLst>
          </a:prstGeom>
          <a:solidFill>
            <a:srgbClr val="F4F4F4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926080"/>
            <a:ext cx="2852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in-house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63440" y="3840480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VALUE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663440" y="4059936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quarters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663440" y="4389120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663440" y="4608576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build it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663440" y="4937760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663440" y="5157216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663440" y="5486400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663440" y="5705856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what you code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001000" y="2011680"/>
            <a:ext cx="3401568" cy="4160520"/>
          </a:xfrm>
          <a:prstGeom prst="roundRect">
            <a:avLst>
              <a:gd name="adj" fmla="val 3226"/>
            </a:avLst>
          </a:prstGeom>
          <a:solidFill>
            <a:srgbClr val="F4F4F4"/>
          </a:solidFill>
          <a:ln/>
        </p:spPr>
      </p:sp>
      <p:sp>
        <p:nvSpPr>
          <p:cNvPr id="26" name="Text 24"/>
          <p:cNvSpPr/>
          <p:nvPr/>
        </p:nvSpPr>
        <p:spPr>
          <a:xfrm>
            <a:off x="8275320" y="2926080"/>
            <a:ext cx="2852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RPA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275320" y="3840480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VALUE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275320" y="4059936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275320" y="4389120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275320" y="4608576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Brittle scripts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275320" y="4937760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275320" y="5157216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Rule-by-rule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75320" y="5486400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275320" y="5705856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on change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Northpeak  ·  Series A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5856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515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roadmap</a:t>
            </a:r>
            <a:endParaRPr lang="en-US" sz="29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Now, next, later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777240" y="2103120"/>
            <a:ext cx="3401568" cy="3749040"/>
          </a:xfrm>
          <a:prstGeom prst="roundRect">
            <a:avLst>
              <a:gd name="adj" fmla="val 3226"/>
            </a:avLst>
          </a:prstGeom>
          <a:solidFill>
            <a:srgbClr val="F4F4F4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468880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5A6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" y="3017520"/>
            <a:ext cx="267004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ops workflows</a:t>
            </a:r>
            <a:endParaRPr lang="en-US" sz="1450" dirty="0"/>
          </a:p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Audit-trail dashboard</a:t>
            </a:r>
            <a:endParaRPr lang="en-US" sz="1450" dirty="0"/>
          </a:p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onboarding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89120" y="2103120"/>
            <a:ext cx="3401568" cy="3749040"/>
          </a:xfrm>
          <a:prstGeom prst="roundRect">
            <a:avLst>
              <a:gd name="adj" fmla="val 3226"/>
            </a:avLst>
          </a:prstGeom>
          <a:solidFill>
            <a:srgbClr val="F4F4F4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2468880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5A6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3017520"/>
            <a:ext cx="267004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action API</a:t>
            </a:r>
            <a:endParaRPr lang="en-US" sz="1450" dirty="0"/>
          </a:p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approval flows</a:t>
            </a:r>
            <a:endParaRPr lang="en-US" sz="1450" dirty="0"/>
          </a:p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new verticals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01000" y="2103120"/>
            <a:ext cx="3401568" cy="3749040"/>
          </a:xfrm>
          <a:prstGeom prst="roundRect">
            <a:avLst>
              <a:gd name="adj" fmla="val 3226"/>
            </a:avLst>
          </a:prstGeom>
          <a:solidFill>
            <a:srgbClr val="F4F4F4"/>
          </a:solidFill>
          <a:ln/>
        </p:spPr>
      </p:sp>
      <p:sp>
        <p:nvSpPr>
          <p:cNvPr id="10" name="Text 8"/>
          <p:cNvSpPr/>
          <p:nvPr/>
        </p:nvSpPr>
        <p:spPr>
          <a:xfrm>
            <a:off x="8366760" y="2468880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5A6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366760" y="3017520"/>
            <a:ext cx="267004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of actions</a:t>
            </a:r>
            <a:endParaRPr lang="en-US" sz="1450" dirty="0"/>
          </a:p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deployment</a:t>
            </a:r>
            <a:endParaRPr lang="en-US" sz="1450" dirty="0"/>
          </a:p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expansion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Northpeak  ·  Series 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58565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237744" cy="237744"/>
          </a:xfrm>
          <a:prstGeom prst="ellipse">
            <a:avLst/>
          </a:prstGeom>
          <a:solidFill>
            <a:srgbClr val="BCEFCB"/>
          </a:solidFill>
          <a:ln/>
        </p:spPr>
      </p:sp>
      <p:sp>
        <p:nvSpPr>
          <p:cNvPr id="3" name="Text 1"/>
          <p:cNvSpPr/>
          <p:nvPr/>
        </p:nvSpPr>
        <p:spPr>
          <a:xfrm>
            <a:off x="1088136" y="4023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Northpeak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2176272"/>
            <a:ext cx="109728" cy="109728"/>
          </a:xfrm>
          <a:prstGeom prst="ellipse">
            <a:avLst/>
          </a:prstGeom>
          <a:solidFill>
            <a:srgbClr val="BCEFCB"/>
          </a:solidFill>
          <a:ln/>
        </p:spPr>
      </p:sp>
      <p:sp>
        <p:nvSpPr>
          <p:cNvPr id="5" name="Text 3"/>
          <p:cNvSpPr/>
          <p:nvPr/>
        </p:nvSpPr>
        <p:spPr>
          <a:xfrm>
            <a:off x="978408" y="20848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58952" y="2377440"/>
            <a:ext cx="10058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our Series A</a:t>
            </a:r>
            <a:endParaRPr lang="en-US" sz="44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scale what's working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4617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51023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size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60520" y="4617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160520" y="51023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 of funds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543800" y="4617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$10M ARR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543800" y="51023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8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milestone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5806440"/>
            <a:ext cx="4297680" cy="457200"/>
          </a:xfrm>
          <a:prstGeom prst="roundRect">
            <a:avLst>
              <a:gd name="adj" fmla="val 50000"/>
            </a:avLst>
          </a:prstGeom>
          <a:solidFill>
            <a:srgbClr val="BCEFC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58064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talk: hello@northpeak.example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Northpeak — Pitch</dc:title>
  <dc:subject>PptxGenJS Presentation</dc:subject>
  <dc:creator>Northpeak</dc:creator>
  <cp:lastModifiedBy>Northpeak</cp:lastModifiedBy>
  <cp:revision>1</cp:revision>
  <dcterms:created xsi:type="dcterms:W3CDTF">2026-07-07T00:15:40Z</dcterms:created>
  <dcterms:modified xsi:type="dcterms:W3CDTF">2026-07-07T00:15:40Z</dcterms:modified>
</cp:coreProperties>
</file>