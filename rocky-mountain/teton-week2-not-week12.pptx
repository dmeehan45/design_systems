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not opening with what's broken — the wedge works. Night falls are concrete, urgent, tied to an obvious action, and the night team built its routine around them. The strategic problem: the product is load-bearing for twelve hours and dark for the twelve when every care decision happens. Underneath sit two more insights — decline is caught ~10 weeks late because reassessment is memory and gut, and the insight feed already sees this but produces glances, not actions. The renewal quote converts all of this from a product-quality issue into a commercial clock.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one resident's twelve weeks. Teton recorded the pattern from the start; the organization saw it at week twelve, at crisis. I pair the money and the care outcome because Dana does: 'a clinical version and a money version — the same problem.' Differentiation: August already flags rising acuity from EHR data — but EHR flags only see what got documented, and the industry's own survey says acuity is systematically underreported. Teton's unique asset is the evidence nobody charted. The dollar figure is an illustration of the sizing logic, not a claim — validating it is literally Phase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Engineering capacity buys one initiative, so the slide shows what I'm saying no to and why. Each rejected option is genuinely tempting — most were requested verbatim in the interview — which is why they're on the slide. Two to flag: the family portal is a feature-request trap the same transcript refutes, and auto care-leveling is the overreach version of the right idea — it converts Teton from care-quality ally into billing hammer. The guardrail sentence is the deck's most important sentence; it's also the renewal-protecting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MVP is deliberately boring in the right way. Detection runs on data Teton already collects; the model change is the unit of output — a weekly curated shortlist, not a feed. Review is a ten-minute ritual for one named owner. Documentation rides the August integration that already moves fall incidents into the EHR today — the announced roadmap explicitly names mobility, sleep, and routine changes as next, so this swims with the partnership current. For non-August communities, the fallback is a printable evidence pack. False-alarm history is answered by design: trends spanning weeks are robust where single-frame events eroded trust, and dismissals feed back into ranking.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ranked, and the order matters. If assumption one fails, nothing downstream can save the bet — a review workflow on noisy signals just routes noise to the most overloaded person in the building. That's why the retrospective study is first and cheap: no engineering, just replaying history. The thresholds are placeholders I'd pressure-test with clinical leadership, but committing to numbers — and to named pivots — is the point: this is a bet with exits, not a roadmap with momentum.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 front-loads the cheapest, most falsifiable test and keeps engineering off the critical path until the signal gate clears. Adoption is driven the same way the night shift adopted falls — by fitting an existing ritual, with the design partners who told us the problem as first users. On metrics: the ladder is ordered so vanity can't hide — usage without action fails the middle tier, action without earlier detection fails the top. The single number I'd put on a wall is median weeks-earlier detection. The last line closes the loop the deck opened on: the renewal clock.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77240" y="338328"/>
            <a:ext cx="109728" cy="109728"/>
          </a:xfrm>
          <a:prstGeom prst="ellipse">
            <a:avLst/>
          </a:prstGeom>
          <a:solidFill>
            <a:srgbClr val="5A6CE6"/>
          </a:solidFill>
          <a:ln/>
        </p:spPr>
      </p:sp>
      <p:sp>
        <p:nvSpPr>
          <p:cNvPr id="3" name="Text 1"/>
          <p:cNvSpPr/>
          <p:nvPr/>
        </p:nvSpPr>
        <p:spPr>
          <a:xfrm>
            <a:off x="978408" y="246888"/>
            <a:ext cx="7315200" cy="292608"/>
          </a:xfrm>
          <a:prstGeom prst="rect">
            <a:avLst/>
          </a:prstGeom>
          <a:noFill/>
          <a:ln/>
        </p:spPr>
        <p:txBody>
          <a:bodyPr wrap="square" lIns="0" tIns="0" rIns="0" bIns="0" rtlCol="0" anchor="ctr"/>
          <a:lstStyle/>
          <a:p>
            <a:pPr algn="l" indent="0" marL="0">
              <a:buNone/>
            </a:pPr>
            <a:r>
              <a:rPr lang="en-US" sz="1100" b="1" spc="200" kern="0" dirty="0">
                <a:solidFill>
                  <a:srgbClr val="8E8E8E"/>
                </a:solidFill>
                <a:latin typeface="Calibri" pitchFamily="34" charset="0"/>
                <a:ea typeface="Calibri" pitchFamily="34" charset="-122"/>
                <a:cs typeface="Calibri" pitchFamily="34" charset="-120"/>
              </a:rPr>
              <a:t>WEEK 2, NOT WEEK 12   ·   WHAT WE HEARD</a:t>
            </a:r>
            <a:endParaRPr lang="en-US" sz="1100" dirty="0"/>
          </a:p>
        </p:txBody>
      </p:sp>
      <p:sp>
        <p:nvSpPr>
          <p:cNvPr id="4" name="Text 2"/>
          <p:cNvSpPr/>
          <p:nvPr/>
        </p:nvSpPr>
        <p:spPr>
          <a:xfrm>
            <a:off x="777240" y="640080"/>
            <a:ext cx="10637215" cy="822960"/>
          </a:xfrm>
          <a:prstGeom prst="rect">
            <a:avLst/>
          </a:prstGeom>
          <a:noFill/>
          <a:ln/>
        </p:spPr>
        <p:txBody>
          <a:bodyPr wrap="square" lIns="0" tIns="0" rIns="0" bIns="0" rtlCol="0" anchor="t"/>
          <a:lstStyle/>
          <a:p>
            <a:pPr algn="l" indent="0" marL="0">
              <a:lnSpc>
                <a:spcPct val="102000"/>
              </a:lnSpc>
              <a:buNone/>
            </a:pPr>
            <a:r>
              <a:rPr lang="en-US" sz="2250" b="1" dirty="0">
                <a:solidFill>
                  <a:srgbClr val="181818"/>
                </a:solidFill>
                <a:latin typeface="Calibri" pitchFamily="34" charset="0"/>
                <a:ea typeface="Calibri" pitchFamily="34" charset="-122"/>
                <a:cs typeface="Calibri" pitchFamily="34" charset="-120"/>
              </a:rPr>
              <a:t>The fall wedge earned trust at night — but Teton is dark when care decisions happen</a:t>
            </a:r>
            <a:endParaRPr lang="en-US" sz="2250" dirty="0"/>
          </a:p>
        </p:txBody>
      </p:sp>
      <p:sp>
        <p:nvSpPr>
          <p:cNvPr id="5" name="Text 3"/>
          <p:cNvSpPr/>
          <p:nvPr/>
        </p:nvSpPr>
        <p:spPr>
          <a:xfrm>
            <a:off x="777240" y="1426464"/>
            <a:ext cx="10637215" cy="320040"/>
          </a:xfrm>
          <a:prstGeom prst="rect">
            <a:avLst/>
          </a:prstGeom>
          <a:noFill/>
          <a:ln/>
        </p:spPr>
        <p:txBody>
          <a:bodyPr wrap="square" lIns="0" tIns="0" rIns="0" bIns="0" rtlCol="0" anchor="t"/>
          <a:lstStyle/>
          <a:p>
            <a:pPr algn="l" indent="0" marL="0">
              <a:buNone/>
            </a:pPr>
            <a:r>
              <a:rPr lang="en-US" sz="1350" dirty="0">
                <a:solidFill>
                  <a:srgbClr val="8E8E8E"/>
                </a:solidFill>
                <a:latin typeface="Calibri" pitchFamily="34" charset="0"/>
                <a:ea typeface="Calibri" pitchFamily="34" charset="-122"/>
                <a:cs typeface="Calibri" pitchFamily="34" charset="-120"/>
              </a:rPr>
              <a:t>Four insights from the interview, one renewal clock.</a:t>
            </a:r>
            <a:endParaRPr lang="en-US" sz="1350" dirty="0"/>
          </a:p>
        </p:txBody>
      </p:sp>
      <p:sp>
        <p:nvSpPr>
          <p:cNvPr id="6" name="Shape 4"/>
          <p:cNvSpPr/>
          <p:nvPr/>
        </p:nvSpPr>
        <p:spPr>
          <a:xfrm>
            <a:off x="777240" y="1847088"/>
            <a:ext cx="4526280" cy="1481328"/>
          </a:xfrm>
          <a:prstGeom prst="roundRect">
            <a:avLst>
              <a:gd name="adj" fmla="val 8642"/>
            </a:avLst>
          </a:prstGeom>
          <a:solidFill>
            <a:srgbClr val="16181C"/>
          </a:solidFill>
          <a:ln/>
          <a:effectLst>
            <a:outerShdw sx="100000" sy="100000" kx="0" ky="0" algn="bl" rotWithShape="0" blurRad="114300" dist="38100" dir="5400000">
              <a:srgbClr val="20232A">
                <a:alpha val="10000"/>
              </a:srgbClr>
            </a:outerShdw>
          </a:effectLst>
        </p:spPr>
      </p:sp>
      <p:sp>
        <p:nvSpPr>
          <p:cNvPr id="7" name="Text 5"/>
          <p:cNvSpPr/>
          <p:nvPr/>
        </p:nvSpPr>
        <p:spPr>
          <a:xfrm>
            <a:off x="1033272" y="1993392"/>
            <a:ext cx="4014216" cy="274320"/>
          </a:xfrm>
          <a:prstGeom prst="rect">
            <a:avLst/>
          </a:prstGeom>
          <a:noFill/>
          <a:ln/>
        </p:spPr>
        <p:txBody>
          <a:bodyPr wrap="square" lIns="0" tIns="0" rIns="0" bIns="0" rtlCol="0" anchor="t"/>
          <a:lstStyle/>
          <a:p>
            <a:pPr algn="l" indent="0" marL="0">
              <a:buNone/>
            </a:pPr>
            <a:r>
              <a:rPr lang="en-US" sz="1000" b="1" spc="100" kern="0" dirty="0">
                <a:solidFill>
                  <a:srgbClr val="FFFFFF"/>
                </a:solidFill>
                <a:latin typeface="Calibri" pitchFamily="34" charset="0"/>
                <a:ea typeface="Calibri" pitchFamily="34" charset="-122"/>
                <a:cs typeface="Calibri" pitchFamily="34" charset="-120"/>
              </a:rPr>
              <a:t>7 PM – 7 AM  ·  LOAD-BEARING</a:t>
            </a:r>
            <a:endParaRPr lang="en-US" sz="1000" dirty="0"/>
          </a:p>
        </p:txBody>
      </p:sp>
      <p:sp>
        <p:nvSpPr>
          <p:cNvPr id="8" name="Text 6"/>
          <p:cNvSpPr/>
          <p:nvPr/>
        </p:nvSpPr>
        <p:spPr>
          <a:xfrm>
            <a:off x="1033272" y="2286000"/>
            <a:ext cx="4014216" cy="640080"/>
          </a:xfrm>
          <a:prstGeom prst="rect">
            <a:avLst/>
          </a:prstGeom>
          <a:noFill/>
          <a:ln/>
        </p:spPr>
        <p:txBody>
          <a:bodyPr wrap="square" lIns="0" tIns="0" rIns="0" bIns="0" rtlCol="0" anchor="t"/>
          <a:lstStyle/>
          <a:p>
            <a:pPr algn="l" marL="203200" indent="-203200">
              <a:lnSpc>
                <a:spcPct val="105000"/>
              </a:lnSpc>
              <a:spcAft>
                <a:spcPts val="300"/>
              </a:spcAft>
              <a:buSzPct val="100000"/>
              <a:buChar char="•"/>
            </a:pPr>
            <a:r>
              <a:rPr lang="en-US" sz="1100" dirty="0">
                <a:solidFill>
                  <a:srgbClr val="C9CCD4"/>
                </a:solidFill>
                <a:latin typeface="Calibri" pitchFamily="34" charset="0"/>
                <a:ea typeface="Calibri" pitchFamily="34" charset="-122"/>
                <a:cs typeface="Calibri" pitchFamily="34" charset="-120"/>
              </a:rPr>
              <a:t>Fall alerts in minutes (was ~40)</a:t>
            </a:r>
            <a:endParaRPr lang="en-US" sz="1100" dirty="0"/>
          </a:p>
          <a:p>
            <a:pPr algn="l" marL="203200" indent="-203200">
              <a:lnSpc>
                <a:spcPct val="105000"/>
              </a:lnSpc>
              <a:spcAft>
                <a:spcPts val="300"/>
              </a:spcAft>
              <a:buSzPct val="100000"/>
              <a:buChar char="•"/>
            </a:pPr>
            <a:r>
              <a:rPr lang="en-US" sz="1100" dirty="0">
                <a:solidFill>
                  <a:srgbClr val="C9CCD4"/>
                </a:solidFill>
                <a:latin typeface="Calibri" pitchFamily="34" charset="0"/>
                <a:ea typeface="Calibri" pitchFamily="34" charset="-122"/>
                <a:cs typeface="Calibri" pitchFamily="34" charset="-120"/>
              </a:rPr>
              <a:t>Digital rounds  ·  board watched all shift</a:t>
            </a:r>
            <a:endParaRPr lang="en-US" sz="1100" dirty="0"/>
          </a:p>
        </p:txBody>
      </p:sp>
      <p:sp>
        <p:nvSpPr>
          <p:cNvPr id="9" name="Shape 7"/>
          <p:cNvSpPr/>
          <p:nvPr/>
        </p:nvSpPr>
        <p:spPr>
          <a:xfrm>
            <a:off x="1033272" y="2889504"/>
            <a:ext cx="2148840" cy="457200"/>
          </a:xfrm>
          <a:prstGeom prst="roundRect">
            <a:avLst>
              <a:gd name="adj" fmla="val 50000"/>
            </a:avLst>
          </a:prstGeom>
          <a:solidFill>
            <a:srgbClr val="BCEFCB"/>
          </a:solidFill>
          <a:ln/>
        </p:spPr>
      </p:sp>
      <p:sp>
        <p:nvSpPr>
          <p:cNvPr id="10" name="Text 8"/>
          <p:cNvSpPr/>
          <p:nvPr/>
        </p:nvSpPr>
        <p:spPr>
          <a:xfrm>
            <a:off x="1033272" y="2889504"/>
            <a:ext cx="2148840" cy="457200"/>
          </a:xfrm>
          <a:prstGeom prst="rect">
            <a:avLst/>
          </a:prstGeom>
          <a:noFill/>
          <a:ln/>
        </p:spPr>
        <p:txBody>
          <a:bodyPr wrap="square" lIns="0" tIns="0" rIns="0" bIns="0" rtlCol="0" anchor="ctr"/>
          <a:lstStyle/>
          <a:p>
            <a:pPr algn="ctr" indent="0" marL="0">
              <a:buNone/>
            </a:pPr>
            <a:r>
              <a:rPr lang="en-US" sz="1250" b="1" dirty="0">
                <a:solidFill>
                  <a:srgbClr val="181818"/>
                </a:solidFill>
                <a:latin typeface="Calibri" pitchFamily="34" charset="0"/>
                <a:ea typeface="Calibri" pitchFamily="34" charset="-122"/>
                <a:cs typeface="Calibri" pitchFamily="34" charset="-120"/>
              </a:rPr>
              <a:t>Night team's a believer</a:t>
            </a:r>
            <a:endParaRPr lang="en-US" sz="1250" dirty="0"/>
          </a:p>
        </p:txBody>
      </p:sp>
      <p:sp>
        <p:nvSpPr>
          <p:cNvPr id="11" name="Shape 9"/>
          <p:cNvSpPr/>
          <p:nvPr/>
        </p:nvSpPr>
        <p:spPr>
          <a:xfrm>
            <a:off x="777240" y="3419856"/>
            <a:ext cx="4526280" cy="1664208"/>
          </a:xfrm>
          <a:prstGeom prst="roundRect">
            <a:avLst>
              <a:gd name="adj" fmla="val 7692"/>
            </a:avLst>
          </a:prstGeom>
          <a:solidFill>
            <a:srgbClr val="F4F4F4"/>
          </a:solidFill>
          <a:ln/>
        </p:spPr>
      </p:sp>
      <p:sp>
        <p:nvSpPr>
          <p:cNvPr id="12" name="Text 10"/>
          <p:cNvSpPr/>
          <p:nvPr/>
        </p:nvSpPr>
        <p:spPr>
          <a:xfrm>
            <a:off x="1033272" y="3566160"/>
            <a:ext cx="4014216" cy="274320"/>
          </a:xfrm>
          <a:prstGeom prst="rect">
            <a:avLst/>
          </a:prstGeom>
          <a:noFill/>
          <a:ln/>
        </p:spPr>
        <p:txBody>
          <a:bodyPr wrap="square" lIns="0" tIns="0" rIns="0" bIns="0" rtlCol="0" anchor="t"/>
          <a:lstStyle/>
          <a:p>
            <a:pPr algn="l" indent="0" marL="0">
              <a:buNone/>
            </a:pPr>
            <a:r>
              <a:rPr lang="en-US" sz="1000" b="1" spc="100" kern="0" dirty="0">
                <a:solidFill>
                  <a:srgbClr val="6E7176"/>
                </a:solidFill>
                <a:latin typeface="Calibri" pitchFamily="34" charset="0"/>
                <a:ea typeface="Calibri" pitchFamily="34" charset="-122"/>
                <a:cs typeface="Calibri" pitchFamily="34" charset="-120"/>
              </a:rPr>
              <a:t>7 AM – 7 PM  ·  DARK</a:t>
            </a:r>
            <a:endParaRPr lang="en-US" sz="1000" dirty="0"/>
          </a:p>
        </p:txBody>
      </p:sp>
      <p:sp>
        <p:nvSpPr>
          <p:cNvPr id="13" name="Shape 11"/>
          <p:cNvSpPr/>
          <p:nvPr/>
        </p:nvSpPr>
        <p:spPr>
          <a:xfrm>
            <a:off x="1051560" y="3922776"/>
            <a:ext cx="118872" cy="118872"/>
          </a:xfrm>
          <a:prstGeom prst="ellipse">
            <a:avLst/>
          </a:prstGeom>
          <a:solidFill>
            <a:srgbClr val="F4F4F4"/>
          </a:solidFill>
          <a:ln w="15875">
            <a:solidFill>
              <a:srgbClr val="9AA0A6"/>
            </a:solidFill>
            <a:prstDash val="solid"/>
          </a:ln>
        </p:spPr>
      </p:sp>
      <p:sp>
        <p:nvSpPr>
          <p:cNvPr id="14" name="Text 12"/>
          <p:cNvSpPr/>
          <p:nvPr/>
        </p:nvSpPr>
        <p:spPr>
          <a:xfrm>
            <a:off x="1289304" y="3849624"/>
            <a:ext cx="3794760" cy="274320"/>
          </a:xfrm>
          <a:prstGeom prst="rect">
            <a:avLst/>
          </a:prstGeom>
          <a:noFill/>
          <a:ln/>
        </p:spPr>
        <p:txBody>
          <a:bodyPr wrap="square" lIns="0" tIns="0" rIns="0" bIns="0" rtlCol="0" anchor="ctr"/>
          <a:lstStyle/>
          <a:p>
            <a:pPr algn="l" indent="0" marL="0">
              <a:buNone/>
            </a:pPr>
            <a:r>
              <a:rPr lang="en-US" sz="1100" dirty="0">
                <a:solidFill>
                  <a:srgbClr val="5B5F63"/>
                </a:solidFill>
                <a:latin typeface="Calibri" pitchFamily="34" charset="0"/>
                <a:ea typeface="Calibri" pitchFamily="34" charset="-122"/>
                <a:cs typeface="Calibri" pitchFamily="34" charset="-120"/>
              </a:rPr>
              <a:t>Nurse assessments</a:t>
            </a:r>
            <a:endParaRPr lang="en-US" sz="1100" dirty="0"/>
          </a:p>
        </p:txBody>
      </p:sp>
      <p:sp>
        <p:nvSpPr>
          <p:cNvPr id="15" name="Shape 13"/>
          <p:cNvSpPr/>
          <p:nvPr/>
        </p:nvSpPr>
        <p:spPr>
          <a:xfrm>
            <a:off x="1051560" y="4206240"/>
            <a:ext cx="118872" cy="118872"/>
          </a:xfrm>
          <a:prstGeom prst="ellipse">
            <a:avLst/>
          </a:prstGeom>
          <a:solidFill>
            <a:srgbClr val="F4F4F4"/>
          </a:solidFill>
          <a:ln w="15875">
            <a:solidFill>
              <a:srgbClr val="9AA0A6"/>
            </a:solidFill>
            <a:prstDash val="solid"/>
          </a:ln>
        </p:spPr>
      </p:sp>
      <p:sp>
        <p:nvSpPr>
          <p:cNvPr id="16" name="Text 14"/>
          <p:cNvSpPr/>
          <p:nvPr/>
        </p:nvSpPr>
        <p:spPr>
          <a:xfrm>
            <a:off x="1289304" y="4133088"/>
            <a:ext cx="3794760" cy="274320"/>
          </a:xfrm>
          <a:prstGeom prst="rect">
            <a:avLst/>
          </a:prstGeom>
          <a:noFill/>
          <a:ln/>
        </p:spPr>
        <p:txBody>
          <a:bodyPr wrap="square" lIns="0" tIns="0" rIns="0" bIns="0" rtlCol="0" anchor="ctr"/>
          <a:lstStyle/>
          <a:p>
            <a:pPr algn="l" indent="0" marL="0">
              <a:buNone/>
            </a:pPr>
            <a:r>
              <a:rPr lang="en-US" sz="1100" dirty="0">
                <a:solidFill>
                  <a:srgbClr val="5B5F63"/>
                </a:solidFill>
                <a:latin typeface="Calibri" pitchFamily="34" charset="0"/>
                <a:ea typeface="Calibri" pitchFamily="34" charset="-122"/>
                <a:cs typeface="Calibri" pitchFamily="34" charset="-120"/>
              </a:rPr>
              <a:t>Family visits</a:t>
            </a:r>
            <a:endParaRPr lang="en-US" sz="1100" dirty="0"/>
          </a:p>
        </p:txBody>
      </p:sp>
      <p:sp>
        <p:nvSpPr>
          <p:cNvPr id="17" name="Shape 15"/>
          <p:cNvSpPr/>
          <p:nvPr/>
        </p:nvSpPr>
        <p:spPr>
          <a:xfrm>
            <a:off x="1051560" y="4489704"/>
            <a:ext cx="118872" cy="118872"/>
          </a:xfrm>
          <a:prstGeom prst="ellipse">
            <a:avLst/>
          </a:prstGeom>
          <a:solidFill>
            <a:srgbClr val="F4F4F4"/>
          </a:solidFill>
          <a:ln w="15875">
            <a:solidFill>
              <a:srgbClr val="9AA0A6"/>
            </a:solidFill>
            <a:prstDash val="solid"/>
          </a:ln>
        </p:spPr>
      </p:sp>
      <p:sp>
        <p:nvSpPr>
          <p:cNvPr id="18" name="Text 16"/>
          <p:cNvSpPr/>
          <p:nvPr/>
        </p:nvSpPr>
        <p:spPr>
          <a:xfrm>
            <a:off x="1289304" y="4416552"/>
            <a:ext cx="3794760" cy="274320"/>
          </a:xfrm>
          <a:prstGeom prst="rect">
            <a:avLst/>
          </a:prstGeom>
          <a:noFill/>
          <a:ln/>
        </p:spPr>
        <p:txBody>
          <a:bodyPr wrap="square" lIns="0" tIns="0" rIns="0" bIns="0" rtlCol="0" anchor="ctr"/>
          <a:lstStyle/>
          <a:p>
            <a:pPr algn="l" indent="0" marL="0">
              <a:buNone/>
            </a:pPr>
            <a:r>
              <a:rPr lang="en-US" sz="1100" dirty="0">
                <a:solidFill>
                  <a:srgbClr val="5B5F63"/>
                </a:solidFill>
                <a:latin typeface="Calibri" pitchFamily="34" charset="0"/>
                <a:ea typeface="Calibri" pitchFamily="34" charset="-122"/>
                <a:cs typeface="Calibri" pitchFamily="34" charset="-120"/>
              </a:rPr>
              <a:t>Care conferences</a:t>
            </a:r>
            <a:endParaRPr lang="en-US" sz="1100" dirty="0"/>
          </a:p>
        </p:txBody>
      </p:sp>
      <p:sp>
        <p:nvSpPr>
          <p:cNvPr id="19" name="Shape 17"/>
          <p:cNvSpPr/>
          <p:nvPr/>
        </p:nvSpPr>
        <p:spPr>
          <a:xfrm>
            <a:off x="1051560" y="4773168"/>
            <a:ext cx="118872" cy="118872"/>
          </a:xfrm>
          <a:prstGeom prst="ellipse">
            <a:avLst/>
          </a:prstGeom>
          <a:solidFill>
            <a:srgbClr val="F4F4F4"/>
          </a:solidFill>
          <a:ln w="15875">
            <a:solidFill>
              <a:srgbClr val="9AA0A6"/>
            </a:solidFill>
            <a:prstDash val="solid"/>
          </a:ln>
        </p:spPr>
      </p:sp>
      <p:sp>
        <p:nvSpPr>
          <p:cNvPr id="20" name="Text 18"/>
          <p:cNvSpPr/>
          <p:nvPr/>
        </p:nvSpPr>
        <p:spPr>
          <a:xfrm>
            <a:off x="1289304" y="4700016"/>
            <a:ext cx="3794760" cy="274320"/>
          </a:xfrm>
          <a:prstGeom prst="rect">
            <a:avLst/>
          </a:prstGeom>
          <a:noFill/>
          <a:ln/>
        </p:spPr>
        <p:txBody>
          <a:bodyPr wrap="square" lIns="0" tIns="0" rIns="0" bIns="0" rtlCol="0" anchor="ctr"/>
          <a:lstStyle/>
          <a:p>
            <a:pPr algn="l" indent="0" marL="0">
              <a:buNone/>
            </a:pPr>
            <a:r>
              <a:rPr lang="en-US" sz="1100" dirty="0">
                <a:solidFill>
                  <a:srgbClr val="5B5F63"/>
                </a:solidFill>
                <a:latin typeface="Calibri" pitchFamily="34" charset="0"/>
                <a:ea typeface="Calibri" pitchFamily="34" charset="-122"/>
                <a:cs typeface="Calibri" pitchFamily="34" charset="-120"/>
              </a:rPr>
              <a:t>Care-level decisions</a:t>
            </a:r>
            <a:endParaRPr lang="en-US" sz="1100" dirty="0"/>
          </a:p>
        </p:txBody>
      </p:sp>
      <p:sp>
        <p:nvSpPr>
          <p:cNvPr id="21" name="Text 19"/>
          <p:cNvSpPr/>
          <p:nvPr/>
        </p:nvSpPr>
        <p:spPr>
          <a:xfrm>
            <a:off x="777240" y="5175504"/>
            <a:ext cx="4526280" cy="274320"/>
          </a:xfrm>
          <a:prstGeom prst="rect">
            <a:avLst/>
          </a:prstGeom>
          <a:noFill/>
          <a:ln/>
        </p:spPr>
        <p:txBody>
          <a:bodyPr wrap="square" lIns="0" tIns="0" rIns="0" bIns="0" rtlCol="0" anchor="t"/>
          <a:lstStyle/>
          <a:p>
            <a:pPr algn="l" indent="0" marL="0">
              <a:buNone/>
            </a:pPr>
            <a:r>
              <a:rPr lang="en-US" sz="950" i="1" dirty="0">
                <a:solidFill>
                  <a:srgbClr val="8E8E8E"/>
                </a:solidFill>
                <a:latin typeface="Calibri" pitchFamily="34" charset="0"/>
                <a:ea typeface="Calibri" pitchFamily="34" charset="-122"/>
                <a:cs typeface="Calibri" pitchFamily="34" charset="-120"/>
              </a:rPr>
              <a:t>Usage lives at night; decisions live in the day.</a:t>
            </a:r>
            <a:endParaRPr lang="en-US" sz="950" dirty="0"/>
          </a:p>
        </p:txBody>
      </p:sp>
      <p:sp>
        <p:nvSpPr>
          <p:cNvPr id="22" name="Shape 20"/>
          <p:cNvSpPr/>
          <p:nvPr/>
        </p:nvSpPr>
        <p:spPr>
          <a:xfrm>
            <a:off x="5623560" y="1847088"/>
            <a:ext cx="5790895" cy="795528"/>
          </a:xfrm>
          <a:prstGeom prst="roundRect">
            <a:avLst>
              <a:gd name="adj" fmla="val 13793"/>
            </a:avLst>
          </a:prstGeom>
          <a:solidFill>
            <a:srgbClr val="FFFFFF"/>
          </a:solidFill>
          <a:ln w="12700">
            <a:solidFill>
              <a:srgbClr val="E6E6E6"/>
            </a:solidFill>
            <a:prstDash val="solid"/>
          </a:ln>
          <a:effectLst>
            <a:outerShdw sx="100000" sy="100000" kx="0" ky="0" algn="bl" rotWithShape="0" blurRad="114300" dist="38100" dir="5400000">
              <a:srgbClr val="20232A">
                <a:alpha val="10000"/>
              </a:srgbClr>
            </a:outerShdw>
          </a:effectLst>
        </p:spPr>
      </p:sp>
      <p:sp>
        <p:nvSpPr>
          <p:cNvPr id="23" name="Shape 21"/>
          <p:cNvSpPr/>
          <p:nvPr/>
        </p:nvSpPr>
        <p:spPr>
          <a:xfrm>
            <a:off x="5824728" y="2048256"/>
            <a:ext cx="384048" cy="384048"/>
          </a:xfrm>
          <a:prstGeom prst="ellipse">
            <a:avLst/>
          </a:prstGeom>
          <a:solidFill>
            <a:srgbClr val="5A6CE6"/>
          </a:solidFill>
          <a:ln/>
        </p:spPr>
      </p:sp>
      <p:sp>
        <p:nvSpPr>
          <p:cNvPr id="24" name="Text 22"/>
          <p:cNvSpPr/>
          <p:nvPr/>
        </p:nvSpPr>
        <p:spPr>
          <a:xfrm>
            <a:off x="5824728" y="20482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5" name="Text 23"/>
          <p:cNvSpPr/>
          <p:nvPr/>
        </p:nvSpPr>
        <p:spPr>
          <a:xfrm>
            <a:off x="6373368" y="1956816"/>
            <a:ext cx="4876495" cy="274320"/>
          </a:xfrm>
          <a:prstGeom prst="rect">
            <a:avLst/>
          </a:prstGeom>
          <a:noFill/>
          <a:ln/>
        </p:spPr>
        <p:txBody>
          <a:bodyPr wrap="square" lIns="0" tIns="0" rIns="0" bIns="0" rtlCol="0" anchor="t"/>
          <a:lstStyle/>
          <a:p>
            <a:pPr algn="l" indent="0" marL="0">
              <a:buNone/>
            </a:pPr>
            <a:r>
              <a:rPr lang="en-US" sz="1300" b="1" dirty="0">
                <a:solidFill>
                  <a:srgbClr val="181818"/>
                </a:solidFill>
                <a:latin typeface="Calibri" pitchFamily="34" charset="0"/>
                <a:ea typeface="Calibri" pitchFamily="34" charset="-122"/>
                <a:cs typeface="Calibri" pitchFamily="34" charset="-120"/>
              </a:rPr>
              <a:t>The wedge works.</a:t>
            </a:r>
            <a:endParaRPr lang="en-US" sz="1300" dirty="0"/>
          </a:p>
        </p:txBody>
      </p:sp>
      <p:sp>
        <p:nvSpPr>
          <p:cNvPr id="26" name="Text 24"/>
          <p:cNvSpPr/>
          <p:nvPr/>
        </p:nvSpPr>
        <p:spPr>
          <a:xfrm>
            <a:off x="6373368" y="2231136"/>
            <a:ext cx="3962095" cy="384048"/>
          </a:xfrm>
          <a:prstGeom prst="rect">
            <a:avLst/>
          </a:prstGeom>
          <a:noFill/>
          <a:ln/>
        </p:spPr>
        <p:txBody>
          <a:bodyPr wrap="square" lIns="0" tIns="0" rIns="0" bIns="0" rtlCol="0" anchor="t"/>
          <a:lstStyle/>
          <a:p>
            <a:pPr algn="l" indent="0" marL="0">
              <a:lnSpc>
                <a:spcPct val="102000"/>
              </a:lnSpc>
              <a:buNone/>
            </a:pPr>
            <a:r>
              <a:rPr lang="en-US" sz="980" dirty="0">
                <a:solidFill>
                  <a:srgbClr val="8E8E8E"/>
                </a:solidFill>
                <a:latin typeface="Calibri" pitchFamily="34" charset="0"/>
                <a:ea typeface="Calibri" pitchFamily="34" charset="-122"/>
                <a:cs typeface="Calibri" pitchFamily="34" charset="-120"/>
              </a:rPr>
              <a:t>Night falls are why they bought — and why they'd renew.</a:t>
            </a:r>
            <a:endParaRPr lang="en-US" sz="980" dirty="0"/>
          </a:p>
        </p:txBody>
      </p:sp>
      <p:sp>
        <p:nvSpPr>
          <p:cNvPr id="27" name="Text 25"/>
          <p:cNvSpPr/>
          <p:nvPr/>
        </p:nvSpPr>
        <p:spPr>
          <a:xfrm>
            <a:off x="10390327" y="1975104"/>
            <a:ext cx="896112" cy="566928"/>
          </a:xfrm>
          <a:prstGeom prst="rect">
            <a:avLst/>
          </a:prstGeom>
          <a:noFill/>
          <a:ln/>
        </p:spPr>
        <p:txBody>
          <a:bodyPr wrap="square" lIns="0" tIns="0" rIns="0" bIns="0" rtlCol="0" anchor="ctr"/>
          <a:lstStyle/>
          <a:p>
            <a:pPr algn="l" indent="0" marL="0">
              <a:lnSpc>
                <a:spcPct val="100000"/>
              </a:lnSpc>
              <a:buNone/>
            </a:pPr>
            <a:r>
              <a:rPr lang="en-US" sz="1000" i="1" dirty="0">
                <a:solidFill>
                  <a:srgbClr val="5A6CE6"/>
                </a:solidFill>
                <a:latin typeface="Calibri" pitchFamily="34" charset="0"/>
                <a:ea typeface="Calibri" pitchFamily="34" charset="-122"/>
                <a:cs typeface="Calibri" pitchFamily="34" charset="-120"/>
              </a:rPr>
              <a:t>“For the night falls alone — yeah.”</a:t>
            </a:r>
            <a:endParaRPr lang="en-US" sz="1000" dirty="0"/>
          </a:p>
        </p:txBody>
      </p:sp>
      <p:sp>
        <p:nvSpPr>
          <p:cNvPr id="28" name="Shape 26"/>
          <p:cNvSpPr/>
          <p:nvPr/>
        </p:nvSpPr>
        <p:spPr>
          <a:xfrm>
            <a:off x="5623560" y="2743200"/>
            <a:ext cx="5790895" cy="795528"/>
          </a:xfrm>
          <a:prstGeom prst="roundRect">
            <a:avLst>
              <a:gd name="adj" fmla="val 13793"/>
            </a:avLst>
          </a:prstGeom>
          <a:solidFill>
            <a:srgbClr val="FFFFFF"/>
          </a:solidFill>
          <a:ln w="12700">
            <a:solidFill>
              <a:srgbClr val="E6E6E6"/>
            </a:solidFill>
            <a:prstDash val="solid"/>
          </a:ln>
          <a:effectLst>
            <a:outerShdw sx="100000" sy="100000" kx="0" ky="0" algn="bl" rotWithShape="0" blurRad="114300" dist="38100" dir="5400000">
              <a:srgbClr val="20232A">
                <a:alpha val="10000"/>
              </a:srgbClr>
            </a:outerShdw>
          </a:effectLst>
        </p:spPr>
      </p:sp>
      <p:sp>
        <p:nvSpPr>
          <p:cNvPr id="29" name="Shape 27"/>
          <p:cNvSpPr/>
          <p:nvPr/>
        </p:nvSpPr>
        <p:spPr>
          <a:xfrm>
            <a:off x="5824728" y="2944368"/>
            <a:ext cx="384048" cy="384048"/>
          </a:xfrm>
          <a:prstGeom prst="ellipse">
            <a:avLst/>
          </a:prstGeom>
          <a:solidFill>
            <a:srgbClr val="5A6CE6"/>
          </a:solidFill>
          <a:ln/>
        </p:spPr>
      </p:sp>
      <p:sp>
        <p:nvSpPr>
          <p:cNvPr id="30" name="Text 28"/>
          <p:cNvSpPr/>
          <p:nvPr/>
        </p:nvSpPr>
        <p:spPr>
          <a:xfrm>
            <a:off x="5824728" y="29443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31" name="Text 29"/>
          <p:cNvSpPr/>
          <p:nvPr/>
        </p:nvSpPr>
        <p:spPr>
          <a:xfrm>
            <a:off x="6373368" y="2852928"/>
            <a:ext cx="4876495" cy="274320"/>
          </a:xfrm>
          <a:prstGeom prst="rect">
            <a:avLst/>
          </a:prstGeom>
          <a:noFill/>
          <a:ln/>
        </p:spPr>
        <p:txBody>
          <a:bodyPr wrap="square" lIns="0" tIns="0" rIns="0" bIns="0" rtlCol="0" anchor="t"/>
          <a:lstStyle/>
          <a:p>
            <a:pPr algn="l" indent="0" marL="0">
              <a:buNone/>
            </a:pPr>
            <a:r>
              <a:rPr lang="en-US" sz="1300" b="1" dirty="0">
                <a:solidFill>
                  <a:srgbClr val="181818"/>
                </a:solidFill>
                <a:latin typeface="Calibri" pitchFamily="34" charset="0"/>
                <a:ea typeface="Calibri" pitchFamily="34" charset="-122"/>
                <a:cs typeface="Calibri" pitchFamily="34" charset="-120"/>
              </a:rPr>
              <a:t>Dark during decision hours.</a:t>
            </a:r>
            <a:endParaRPr lang="en-US" sz="1300" dirty="0"/>
          </a:p>
        </p:txBody>
      </p:sp>
      <p:sp>
        <p:nvSpPr>
          <p:cNvPr id="32" name="Text 30"/>
          <p:cNvSpPr/>
          <p:nvPr/>
        </p:nvSpPr>
        <p:spPr>
          <a:xfrm>
            <a:off x="6373368" y="3127248"/>
            <a:ext cx="4876495" cy="384048"/>
          </a:xfrm>
          <a:prstGeom prst="rect">
            <a:avLst/>
          </a:prstGeom>
          <a:noFill/>
          <a:ln/>
        </p:spPr>
        <p:txBody>
          <a:bodyPr wrap="square" lIns="0" tIns="0" rIns="0" bIns="0" rtlCol="0" anchor="t"/>
          <a:lstStyle/>
          <a:p>
            <a:pPr algn="l" indent="0" marL="0">
              <a:lnSpc>
                <a:spcPct val="102000"/>
              </a:lnSpc>
              <a:buNone/>
            </a:pPr>
            <a:r>
              <a:rPr lang="en-US" sz="980" dirty="0">
                <a:solidFill>
                  <a:srgbClr val="8E8E8E"/>
                </a:solidFill>
                <a:latin typeface="Calibri" pitchFamily="34" charset="0"/>
                <a:ea typeface="Calibri" pitchFamily="34" charset="-122"/>
                <a:cs typeface="Calibri" pitchFamily="34" charset="-120"/>
              </a:rPr>
              <a:t>Day staff barely open the app; daytime is when needs are interpreted, documented, explained to families.</a:t>
            </a:r>
            <a:endParaRPr lang="en-US" sz="980" dirty="0"/>
          </a:p>
        </p:txBody>
      </p:sp>
      <p:sp>
        <p:nvSpPr>
          <p:cNvPr id="33" name="Shape 31"/>
          <p:cNvSpPr/>
          <p:nvPr/>
        </p:nvSpPr>
        <p:spPr>
          <a:xfrm>
            <a:off x="5623560" y="3639312"/>
            <a:ext cx="5790895" cy="795528"/>
          </a:xfrm>
          <a:prstGeom prst="roundRect">
            <a:avLst>
              <a:gd name="adj" fmla="val 13793"/>
            </a:avLst>
          </a:prstGeom>
          <a:solidFill>
            <a:srgbClr val="FFFFFF"/>
          </a:solidFill>
          <a:ln w="12700">
            <a:solidFill>
              <a:srgbClr val="E6E6E6"/>
            </a:solidFill>
            <a:prstDash val="solid"/>
          </a:ln>
          <a:effectLst>
            <a:outerShdw sx="100000" sy="100000" kx="0" ky="0" algn="bl" rotWithShape="0" blurRad="114300" dist="38100" dir="5400000">
              <a:srgbClr val="20232A">
                <a:alpha val="10000"/>
              </a:srgbClr>
            </a:outerShdw>
          </a:effectLst>
        </p:spPr>
      </p:sp>
      <p:sp>
        <p:nvSpPr>
          <p:cNvPr id="34" name="Shape 32"/>
          <p:cNvSpPr/>
          <p:nvPr/>
        </p:nvSpPr>
        <p:spPr>
          <a:xfrm>
            <a:off x="5824728" y="3840480"/>
            <a:ext cx="384048" cy="384048"/>
          </a:xfrm>
          <a:prstGeom prst="ellipse">
            <a:avLst/>
          </a:prstGeom>
          <a:solidFill>
            <a:srgbClr val="5A6CE6"/>
          </a:solidFill>
          <a:ln/>
        </p:spPr>
      </p:sp>
      <p:sp>
        <p:nvSpPr>
          <p:cNvPr id="35" name="Text 33"/>
          <p:cNvSpPr/>
          <p:nvPr/>
        </p:nvSpPr>
        <p:spPr>
          <a:xfrm>
            <a:off x="5824728" y="38404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36" name="Text 34"/>
          <p:cNvSpPr/>
          <p:nvPr/>
        </p:nvSpPr>
        <p:spPr>
          <a:xfrm>
            <a:off x="6373368" y="3749040"/>
            <a:ext cx="4876495" cy="274320"/>
          </a:xfrm>
          <a:prstGeom prst="rect">
            <a:avLst/>
          </a:prstGeom>
          <a:noFill/>
          <a:ln/>
        </p:spPr>
        <p:txBody>
          <a:bodyPr wrap="square" lIns="0" tIns="0" rIns="0" bIns="0" rtlCol="0" anchor="t"/>
          <a:lstStyle/>
          <a:p>
            <a:pPr algn="l" indent="0" marL="0">
              <a:buNone/>
            </a:pPr>
            <a:r>
              <a:rPr lang="en-US" sz="1300" b="1" dirty="0">
                <a:solidFill>
                  <a:srgbClr val="181818"/>
                </a:solidFill>
                <a:latin typeface="Calibri" pitchFamily="34" charset="0"/>
                <a:ea typeface="Calibri" pitchFamily="34" charset="-122"/>
                <a:cs typeface="Calibri" pitchFamily="34" charset="-120"/>
              </a:rPr>
              <a:t>Decline is caught ~10 weeks late.</a:t>
            </a:r>
            <a:endParaRPr lang="en-US" sz="1300" dirty="0"/>
          </a:p>
        </p:txBody>
      </p:sp>
      <p:sp>
        <p:nvSpPr>
          <p:cNvPr id="37" name="Text 35"/>
          <p:cNvSpPr/>
          <p:nvPr/>
        </p:nvSpPr>
        <p:spPr>
          <a:xfrm>
            <a:off x="6373368" y="4023360"/>
            <a:ext cx="4876495" cy="384048"/>
          </a:xfrm>
          <a:prstGeom prst="rect">
            <a:avLst/>
          </a:prstGeom>
          <a:noFill/>
          <a:ln/>
        </p:spPr>
        <p:txBody>
          <a:bodyPr wrap="square" lIns="0" tIns="0" rIns="0" bIns="0" rtlCol="0" anchor="t"/>
          <a:lstStyle/>
          <a:p>
            <a:pPr algn="l" indent="0" marL="0">
              <a:lnSpc>
                <a:spcPct val="102000"/>
              </a:lnSpc>
              <a:buNone/>
            </a:pPr>
            <a:r>
              <a:rPr lang="en-US" sz="980" dirty="0">
                <a:solidFill>
                  <a:srgbClr val="8E8E8E"/>
                </a:solidFill>
                <a:latin typeface="Calibri" pitchFamily="34" charset="0"/>
                <a:ea typeface="Calibri" pitchFamily="34" charset="-122"/>
                <a:cs typeface="Calibri" pitchFamily="34" charset="-120"/>
              </a:rPr>
              <a:t>Reassessment runs on memory and gut. One problem, two faces: clinical (falls) and financial (level-4 care billed at level 2).</a:t>
            </a:r>
            <a:endParaRPr lang="en-US" sz="980" dirty="0"/>
          </a:p>
        </p:txBody>
      </p:sp>
      <p:sp>
        <p:nvSpPr>
          <p:cNvPr id="38" name="Shape 36"/>
          <p:cNvSpPr/>
          <p:nvPr/>
        </p:nvSpPr>
        <p:spPr>
          <a:xfrm>
            <a:off x="5623560" y="4535424"/>
            <a:ext cx="5790895" cy="795528"/>
          </a:xfrm>
          <a:prstGeom prst="roundRect">
            <a:avLst>
              <a:gd name="adj" fmla="val 13793"/>
            </a:avLst>
          </a:prstGeom>
          <a:solidFill>
            <a:srgbClr val="FFFFFF"/>
          </a:solidFill>
          <a:ln w="12700">
            <a:solidFill>
              <a:srgbClr val="E6E6E6"/>
            </a:solidFill>
            <a:prstDash val="solid"/>
          </a:ln>
          <a:effectLst>
            <a:outerShdw sx="100000" sy="100000" kx="0" ky="0" algn="bl" rotWithShape="0" blurRad="114300" dist="38100" dir="5400000">
              <a:srgbClr val="20232A">
                <a:alpha val="10000"/>
              </a:srgbClr>
            </a:outerShdw>
          </a:effectLst>
        </p:spPr>
      </p:sp>
      <p:sp>
        <p:nvSpPr>
          <p:cNvPr id="39" name="Shape 37"/>
          <p:cNvSpPr/>
          <p:nvPr/>
        </p:nvSpPr>
        <p:spPr>
          <a:xfrm>
            <a:off x="5824728" y="4736592"/>
            <a:ext cx="384048" cy="384048"/>
          </a:xfrm>
          <a:prstGeom prst="ellipse">
            <a:avLst/>
          </a:prstGeom>
          <a:solidFill>
            <a:srgbClr val="5A6CE6"/>
          </a:solidFill>
          <a:ln/>
        </p:spPr>
      </p:sp>
      <p:sp>
        <p:nvSpPr>
          <p:cNvPr id="40" name="Text 38"/>
          <p:cNvSpPr/>
          <p:nvPr/>
        </p:nvSpPr>
        <p:spPr>
          <a:xfrm>
            <a:off x="5824728" y="47365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41" name="Text 39"/>
          <p:cNvSpPr/>
          <p:nvPr/>
        </p:nvSpPr>
        <p:spPr>
          <a:xfrm>
            <a:off x="6373368" y="4645152"/>
            <a:ext cx="4876495" cy="274320"/>
          </a:xfrm>
          <a:prstGeom prst="rect">
            <a:avLst/>
          </a:prstGeom>
          <a:noFill/>
          <a:ln/>
        </p:spPr>
        <p:txBody>
          <a:bodyPr wrap="square" lIns="0" tIns="0" rIns="0" bIns="0" rtlCol="0" anchor="t"/>
          <a:lstStyle/>
          <a:p>
            <a:pPr algn="l" indent="0" marL="0">
              <a:buNone/>
            </a:pPr>
            <a:r>
              <a:rPr lang="en-US" sz="1300" b="1" dirty="0">
                <a:solidFill>
                  <a:srgbClr val="181818"/>
                </a:solidFill>
                <a:latin typeface="Calibri" pitchFamily="34" charset="0"/>
                <a:ea typeface="Calibri" pitchFamily="34" charset="-122"/>
                <a:cs typeface="Calibri" pitchFamily="34" charset="-120"/>
              </a:rPr>
              <a:t>Insights get looked at, not acted on.</a:t>
            </a:r>
            <a:endParaRPr lang="en-US" sz="1300" dirty="0"/>
          </a:p>
        </p:txBody>
      </p:sp>
      <p:sp>
        <p:nvSpPr>
          <p:cNvPr id="42" name="Text 40"/>
          <p:cNvSpPr/>
          <p:nvPr/>
        </p:nvSpPr>
        <p:spPr>
          <a:xfrm>
            <a:off x="6373368" y="4919472"/>
            <a:ext cx="3962095" cy="384048"/>
          </a:xfrm>
          <a:prstGeom prst="rect">
            <a:avLst/>
          </a:prstGeom>
          <a:noFill/>
          <a:ln/>
        </p:spPr>
        <p:txBody>
          <a:bodyPr wrap="square" lIns="0" tIns="0" rIns="0" bIns="0" rtlCol="0" anchor="t"/>
          <a:lstStyle/>
          <a:p>
            <a:pPr algn="l" indent="0" marL="0">
              <a:lnSpc>
                <a:spcPct val="102000"/>
              </a:lnSpc>
              <a:buNone/>
            </a:pPr>
            <a:r>
              <a:rPr lang="en-US" sz="980" dirty="0">
                <a:solidFill>
                  <a:srgbClr val="8E8E8E"/>
                </a:solidFill>
                <a:latin typeface="Calibri" pitchFamily="34" charset="0"/>
                <a:ea typeface="Calibri" pitchFamily="34" charset="-122"/>
                <a:cs typeface="Calibri" pitchFamily="34" charset="-120"/>
              </a:rPr>
              <a:t>Twenty soft signals, no owner, no documentation path.</a:t>
            </a:r>
            <a:endParaRPr lang="en-US" sz="980" dirty="0"/>
          </a:p>
        </p:txBody>
      </p:sp>
      <p:sp>
        <p:nvSpPr>
          <p:cNvPr id="43" name="Text 41"/>
          <p:cNvSpPr/>
          <p:nvPr/>
        </p:nvSpPr>
        <p:spPr>
          <a:xfrm>
            <a:off x="10390327" y="4663440"/>
            <a:ext cx="896112" cy="566928"/>
          </a:xfrm>
          <a:prstGeom prst="rect">
            <a:avLst/>
          </a:prstGeom>
          <a:noFill/>
          <a:ln/>
        </p:spPr>
        <p:txBody>
          <a:bodyPr wrap="square" lIns="0" tIns="0" rIns="0" bIns="0" rtlCol="0" anchor="ctr"/>
          <a:lstStyle/>
          <a:p>
            <a:pPr algn="l" indent="0" marL="0">
              <a:lnSpc>
                <a:spcPct val="100000"/>
              </a:lnSpc>
              <a:buNone/>
            </a:pPr>
            <a:r>
              <a:rPr lang="en-US" sz="1000" i="1" dirty="0">
                <a:solidFill>
                  <a:srgbClr val="5A6CE6"/>
                </a:solidFill>
                <a:latin typeface="Calibri" pitchFamily="34" charset="0"/>
                <a:ea typeface="Calibri" pitchFamily="34" charset="-122"/>
                <a:cs typeface="Calibri" pitchFamily="34" charset="-120"/>
              </a:rPr>
              <a:t>“Okay… and?”</a:t>
            </a:r>
            <a:endParaRPr lang="en-US" sz="1000" dirty="0"/>
          </a:p>
        </p:txBody>
      </p:sp>
      <p:sp>
        <p:nvSpPr>
          <p:cNvPr id="44" name="Shape 42"/>
          <p:cNvSpPr/>
          <p:nvPr/>
        </p:nvSpPr>
        <p:spPr>
          <a:xfrm>
            <a:off x="777240" y="5468112"/>
            <a:ext cx="10637215" cy="749808"/>
          </a:xfrm>
          <a:prstGeom prst="roundRect">
            <a:avLst>
              <a:gd name="adj" fmla="val 14634"/>
            </a:avLst>
          </a:prstGeom>
          <a:solidFill>
            <a:srgbClr val="F3EEA0"/>
          </a:solidFill>
          <a:ln/>
        </p:spPr>
      </p:sp>
      <p:sp>
        <p:nvSpPr>
          <p:cNvPr id="45" name="Text 43"/>
          <p:cNvSpPr/>
          <p:nvPr/>
        </p:nvSpPr>
        <p:spPr>
          <a:xfrm>
            <a:off x="1069848" y="5577840"/>
            <a:ext cx="1371600" cy="274320"/>
          </a:xfrm>
          <a:prstGeom prst="rect">
            <a:avLst/>
          </a:prstGeom>
          <a:noFill/>
          <a:ln/>
        </p:spPr>
        <p:txBody>
          <a:bodyPr wrap="square" lIns="0" tIns="0" rIns="0" bIns="0" rtlCol="0" anchor="ctr"/>
          <a:lstStyle/>
          <a:p>
            <a:pPr algn="l" indent="0" marL="0">
              <a:buNone/>
            </a:pPr>
            <a:r>
              <a:rPr lang="en-US" sz="1000" b="1" spc="120" kern="0" dirty="0">
                <a:solidFill>
                  <a:srgbClr val="8A7B2E"/>
                </a:solidFill>
                <a:latin typeface="Calibri" pitchFamily="34" charset="0"/>
                <a:ea typeface="Calibri" pitchFamily="34" charset="-122"/>
                <a:cs typeface="Calibri" pitchFamily="34" charset="-120"/>
              </a:rPr>
              <a:t>THE CLOCK</a:t>
            </a:r>
            <a:endParaRPr lang="en-US" sz="1000" dirty="0"/>
          </a:p>
        </p:txBody>
      </p:sp>
      <p:sp>
        <p:nvSpPr>
          <p:cNvPr id="46" name="Text 44"/>
          <p:cNvSpPr/>
          <p:nvPr/>
        </p:nvSpPr>
        <p:spPr>
          <a:xfrm>
            <a:off x="2514600" y="5541264"/>
            <a:ext cx="8625535" cy="603504"/>
          </a:xfrm>
          <a:prstGeom prst="rect">
            <a:avLst/>
          </a:prstGeom>
          <a:noFill/>
          <a:ln/>
        </p:spPr>
        <p:txBody>
          <a:bodyPr wrap="square" lIns="0" tIns="0" rIns="0" bIns="0" rtlCol="0" anchor="ctr"/>
          <a:lstStyle/>
          <a:p>
            <a:pPr algn="l" indent="0" marL="0">
              <a:lnSpc>
                <a:spcPct val="106000"/>
              </a:lnSpc>
              <a:buNone/>
            </a:pPr>
            <a:r>
              <a:rPr lang="en-US" sz="1200" dirty="0">
                <a:solidFill>
                  <a:srgbClr val="181818"/>
                </a:solidFill>
                <a:latin typeface="Calibri" pitchFamily="34" charset="0"/>
                <a:ea typeface="Calibri" pitchFamily="34" charset="-122"/>
                <a:cs typeface="Calibri" pitchFamily="34" charset="-120"/>
              </a:rPr>
              <a:t>Renewal today is </a:t>
            </a:r>
            <a:pPr algn="l" indent="0" marL="0">
              <a:lnSpc>
                <a:spcPct val="106000"/>
              </a:lnSpc>
              <a:buNone/>
            </a:pPr>
            <a:r>
              <a:rPr lang="en-US" sz="1200" i="1" dirty="0">
                <a:solidFill>
                  <a:srgbClr val="181818"/>
                </a:solidFill>
                <a:latin typeface="Calibri" pitchFamily="34" charset="0"/>
                <a:ea typeface="Calibri" pitchFamily="34" charset="-122"/>
                <a:cs typeface="Calibri" pitchFamily="34" charset="-120"/>
              </a:rPr>
              <a:t>“yes, but the clock's running.”</a:t>
            </a:r>
            <a:pPr algn="l" indent="0" marL="0">
              <a:lnSpc>
                <a:spcPct val="106000"/>
              </a:lnSpc>
              <a:buNone/>
            </a:pPr>
            <a:r>
              <a:rPr lang="en-US" sz="1200" dirty="0">
                <a:solidFill>
                  <a:srgbClr val="181818"/>
                </a:solidFill>
                <a:latin typeface="Calibri" pitchFamily="34" charset="0"/>
                <a:ea typeface="Calibri" pitchFamily="34" charset="-122"/>
                <a:cs typeface="Calibri" pitchFamily="34" charset="-120"/>
              </a:rPr>
              <a:t>  The owner group already asks “what's the ROI on Teton?” — </a:t>
            </a:r>
            <a:pPr algn="l" indent="0" marL="0">
              <a:lnSpc>
                <a:spcPct val="106000"/>
              </a:lnSpc>
              <a:buNone/>
            </a:pPr>
            <a:r>
              <a:rPr lang="en-US" sz="1200" i="1" dirty="0">
                <a:solidFill>
                  <a:srgbClr val="181818"/>
                </a:solidFill>
                <a:latin typeface="Calibri" pitchFamily="34" charset="0"/>
                <a:ea typeface="Calibri" pitchFamily="34" charset="-122"/>
                <a:cs typeface="Calibri" pitchFamily="34" charset="-120"/>
              </a:rPr>
              <a:t>“paying for a Ferrari to drive to the mailbox.”</a:t>
            </a:r>
            <a:endParaRPr lang="en-US" sz="1200" dirty="0"/>
          </a:p>
        </p:txBody>
      </p:sp>
      <p:sp>
        <p:nvSpPr>
          <p:cNvPr id="47" name="Text 45"/>
          <p:cNvSpPr/>
          <p:nvPr/>
        </p:nvSpPr>
        <p:spPr>
          <a:xfrm>
            <a:off x="777240" y="6473952"/>
            <a:ext cx="4937760" cy="237744"/>
          </a:xfrm>
          <a:prstGeom prst="rect">
            <a:avLst/>
          </a:prstGeom>
          <a:noFill/>
          <a:ln/>
        </p:spPr>
        <p:txBody>
          <a:bodyPr wrap="square" lIns="0" tIns="0" rIns="0" bIns="0" rtlCol="0" anchor="ctr"/>
          <a:lstStyle/>
          <a:p>
            <a:pPr algn="l" indent="0" marL="0">
              <a:buNone/>
            </a:pPr>
            <a:r>
              <a:rPr lang="en-US" sz="850" dirty="0">
                <a:solidFill>
                  <a:srgbClr val="8E8E8E"/>
                </a:solidFill>
                <a:latin typeface="Calibri" pitchFamily="34" charset="0"/>
                <a:ea typeface="Calibri" pitchFamily="34" charset="-122"/>
                <a:cs typeface="Calibri" pitchFamily="34" charset="-120"/>
              </a:rPr>
              <a:t>Week 2, Not Week 12  ·  Teton PM Challenge</a:t>
            </a:r>
            <a:endParaRPr lang="en-US" sz="850" dirty="0"/>
          </a:p>
        </p:txBody>
      </p:sp>
      <p:sp>
        <p:nvSpPr>
          <p:cNvPr id="48" name="Shape 46"/>
          <p:cNvSpPr/>
          <p:nvPr/>
        </p:nvSpPr>
        <p:spPr>
          <a:xfrm>
            <a:off x="9116568" y="6400800"/>
            <a:ext cx="1261872" cy="274320"/>
          </a:xfrm>
          <a:prstGeom prst="roundRect">
            <a:avLst>
              <a:gd name="adj" fmla="val 50000"/>
            </a:avLst>
          </a:prstGeom>
          <a:solidFill>
            <a:srgbClr val="F4F4F4"/>
          </a:solidFill>
          <a:ln/>
        </p:spPr>
      </p:sp>
      <p:sp>
        <p:nvSpPr>
          <p:cNvPr id="49" name="Text 47"/>
          <p:cNvSpPr/>
          <p:nvPr/>
        </p:nvSpPr>
        <p:spPr>
          <a:xfrm>
            <a:off x="9116568" y="6400800"/>
            <a:ext cx="1261872" cy="274320"/>
          </a:xfrm>
          <a:prstGeom prst="rect">
            <a:avLst/>
          </a:prstGeom>
          <a:noFill/>
          <a:ln/>
        </p:spPr>
        <p:txBody>
          <a:bodyPr wrap="square" lIns="0" tIns="0" rIns="0" bIns="0" rtlCol="0" anchor="ctr"/>
          <a:lstStyle/>
          <a:p>
            <a:pPr algn="ctr" indent="0" marL="0">
              <a:buNone/>
            </a:pPr>
            <a:r>
              <a:rPr lang="en-US" sz="850" b="1" dirty="0">
                <a:solidFill>
                  <a:srgbClr val="5A6CE6"/>
                </a:solidFill>
                <a:latin typeface="Calibri" pitchFamily="34" charset="0"/>
                <a:ea typeface="Calibri" pitchFamily="34" charset="-122"/>
                <a:cs typeface="Calibri" pitchFamily="34" charset="-120"/>
              </a:rPr>
              <a:t>Prompt: Key insights</a:t>
            </a:r>
            <a:endParaRPr lang="en-US" sz="850" dirty="0"/>
          </a:p>
        </p:txBody>
      </p:sp>
      <p:sp>
        <p:nvSpPr>
          <p:cNvPr id="50" name="Text 48"/>
          <p:cNvSpPr/>
          <p:nvPr/>
        </p:nvSpPr>
        <p:spPr>
          <a:xfrm>
            <a:off x="10515600" y="6473952"/>
            <a:ext cx="896112" cy="237744"/>
          </a:xfrm>
          <a:prstGeom prst="rect">
            <a:avLst/>
          </a:prstGeom>
          <a:noFill/>
          <a:ln/>
        </p:spPr>
        <p:txBody>
          <a:bodyPr wrap="square" lIns="0" tIns="0" rIns="0" bIns="0" rtlCol="0" anchor="ctr"/>
          <a:lstStyle/>
          <a:p>
            <a:pPr algn="r" indent="0" marL="0">
              <a:buNone/>
            </a:pPr>
            <a:r>
              <a:rPr lang="en-US" sz="850" dirty="0">
                <a:solidFill>
                  <a:srgbClr val="8E8E8E"/>
                </a:solidFill>
                <a:latin typeface="Calibri" pitchFamily="34" charset="0"/>
                <a:ea typeface="Calibri" pitchFamily="34" charset="-122"/>
                <a:cs typeface="Calibri" pitchFamily="34" charset="-120"/>
              </a:rPr>
              <a:t>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77240" y="338328"/>
            <a:ext cx="109728" cy="109728"/>
          </a:xfrm>
          <a:prstGeom prst="ellipse">
            <a:avLst/>
          </a:prstGeom>
          <a:solidFill>
            <a:srgbClr val="5A6CE6"/>
          </a:solidFill>
          <a:ln/>
        </p:spPr>
      </p:sp>
      <p:sp>
        <p:nvSpPr>
          <p:cNvPr id="3" name="Text 1"/>
          <p:cNvSpPr/>
          <p:nvPr/>
        </p:nvSpPr>
        <p:spPr>
          <a:xfrm>
            <a:off x="978408" y="246888"/>
            <a:ext cx="7315200" cy="292608"/>
          </a:xfrm>
          <a:prstGeom prst="rect">
            <a:avLst/>
          </a:prstGeom>
          <a:noFill/>
          <a:ln/>
        </p:spPr>
        <p:txBody>
          <a:bodyPr wrap="square" lIns="0" tIns="0" rIns="0" bIns="0" rtlCol="0" anchor="ctr"/>
          <a:lstStyle/>
          <a:p>
            <a:pPr algn="l" indent="0" marL="0">
              <a:buNone/>
            </a:pPr>
            <a:r>
              <a:rPr lang="en-US" sz="1100" b="1" spc="200" kern="0" dirty="0">
                <a:solidFill>
                  <a:srgbClr val="8E8E8E"/>
                </a:solidFill>
                <a:latin typeface="Calibri" pitchFamily="34" charset="0"/>
                <a:ea typeface="Calibri" pitchFamily="34" charset="-122"/>
                <a:cs typeface="Calibri" pitchFamily="34" charset="-120"/>
              </a:rPr>
              <a:t>TETON INTERVIEW READOUT   ·   THE OPPORTUNITY</a:t>
            </a:r>
            <a:endParaRPr lang="en-US" sz="1100" dirty="0"/>
          </a:p>
        </p:txBody>
      </p:sp>
      <p:sp>
        <p:nvSpPr>
          <p:cNvPr id="4" name="Text 2"/>
          <p:cNvSpPr/>
          <p:nvPr/>
        </p:nvSpPr>
        <p:spPr>
          <a:xfrm>
            <a:off x="777240" y="640080"/>
            <a:ext cx="10637215" cy="822960"/>
          </a:xfrm>
          <a:prstGeom prst="rect">
            <a:avLst/>
          </a:prstGeom>
          <a:noFill/>
          <a:ln/>
        </p:spPr>
        <p:txBody>
          <a:bodyPr wrap="square" lIns="0" tIns="0" rIns="0" bIns="0" rtlCol="0" anchor="t"/>
          <a:lstStyle/>
          <a:p>
            <a:pPr algn="l" indent="0" marL="0">
              <a:lnSpc>
                <a:spcPct val="102000"/>
              </a:lnSpc>
              <a:buNone/>
            </a:pPr>
            <a:r>
              <a:rPr lang="en-US" sz="2250" b="1" dirty="0">
                <a:solidFill>
                  <a:srgbClr val="181818"/>
                </a:solidFill>
                <a:latin typeface="Calibri" pitchFamily="34" charset="0"/>
                <a:ea typeface="Calibri" pitchFamily="34" charset="-122"/>
                <a:cs typeface="Calibri" pitchFamily="34" charset="-120"/>
              </a:rPr>
              <a:t>Catch the change of condition in week 2, not week 12</a:t>
            </a:r>
            <a:endParaRPr lang="en-US" sz="2250" dirty="0"/>
          </a:p>
        </p:txBody>
      </p:sp>
      <p:sp>
        <p:nvSpPr>
          <p:cNvPr id="5" name="Text 3"/>
          <p:cNvSpPr/>
          <p:nvPr/>
        </p:nvSpPr>
        <p:spPr>
          <a:xfrm>
            <a:off x="777240" y="1426464"/>
            <a:ext cx="10637215" cy="320040"/>
          </a:xfrm>
          <a:prstGeom prst="rect">
            <a:avLst/>
          </a:prstGeom>
          <a:noFill/>
          <a:ln/>
        </p:spPr>
        <p:txBody>
          <a:bodyPr wrap="square" lIns="0" tIns="0" rIns="0" bIns="0" rtlCol="0" anchor="t"/>
          <a:lstStyle/>
          <a:p>
            <a:pPr algn="l" indent="0" marL="0">
              <a:buNone/>
            </a:pPr>
            <a:r>
              <a:rPr lang="en-US" sz="1350" dirty="0">
                <a:solidFill>
                  <a:srgbClr val="8E8E8E"/>
                </a:solidFill>
                <a:latin typeface="Calibri" pitchFamily="34" charset="0"/>
                <a:ea typeface="Calibri" pitchFamily="34" charset="-122"/>
                <a:cs typeface="Calibri" pitchFamily="34" charset="-120"/>
              </a:rPr>
              <a:t>One real resident, twelve weeks, and the only company that could have seen it.</a:t>
            </a:r>
            <a:endParaRPr lang="en-US" sz="1350" dirty="0"/>
          </a:p>
        </p:txBody>
      </p:sp>
      <p:sp>
        <p:nvSpPr>
          <p:cNvPr id="6" name="Shape 4"/>
          <p:cNvSpPr/>
          <p:nvPr/>
        </p:nvSpPr>
        <p:spPr>
          <a:xfrm>
            <a:off x="777240" y="1828800"/>
            <a:ext cx="118872" cy="118872"/>
          </a:xfrm>
          <a:prstGeom prst="ellipse">
            <a:avLst/>
          </a:prstGeom>
          <a:solidFill>
            <a:srgbClr val="5A6CE6"/>
          </a:solidFill>
          <a:ln/>
        </p:spPr>
      </p:sp>
      <p:sp>
        <p:nvSpPr>
          <p:cNvPr id="7" name="Text 5"/>
          <p:cNvSpPr/>
          <p:nvPr/>
        </p:nvSpPr>
        <p:spPr>
          <a:xfrm>
            <a:off x="996696" y="1755648"/>
            <a:ext cx="5943600" cy="256032"/>
          </a:xfrm>
          <a:prstGeom prst="rect">
            <a:avLst/>
          </a:prstGeom>
          <a:noFill/>
          <a:ln/>
        </p:spPr>
        <p:txBody>
          <a:bodyPr wrap="square" lIns="0" tIns="0" rIns="0" bIns="0" rtlCol="0" anchor="ctr"/>
          <a:lstStyle/>
          <a:p>
            <a:pPr algn="l" indent="0" marL="0">
              <a:buNone/>
            </a:pPr>
            <a:r>
              <a:rPr lang="en-US" sz="950" b="1" spc="50" kern="0" dirty="0">
                <a:solidFill>
                  <a:srgbClr val="5A6CE6"/>
                </a:solidFill>
                <a:latin typeface="Calibri" pitchFamily="34" charset="0"/>
                <a:ea typeface="Calibri" pitchFamily="34" charset="-122"/>
                <a:cs typeface="Calibri" pitchFamily="34" charset="-120"/>
              </a:rPr>
              <a:t>TETON'S VIEW — recorded, undocumented</a:t>
            </a:r>
            <a:endParaRPr lang="en-US" sz="950" dirty="0"/>
          </a:p>
        </p:txBody>
      </p:sp>
      <p:sp>
        <p:nvSpPr>
          <p:cNvPr id="8" name="Shape 6"/>
          <p:cNvSpPr/>
          <p:nvPr/>
        </p:nvSpPr>
        <p:spPr>
          <a:xfrm>
            <a:off x="1051560" y="3172968"/>
            <a:ext cx="5897880" cy="0"/>
          </a:xfrm>
          <a:prstGeom prst="line">
            <a:avLst/>
          </a:prstGeom>
          <a:noFill/>
          <a:ln w="9525">
            <a:solidFill>
              <a:srgbClr val="E6E6E6"/>
            </a:solidFill>
            <a:prstDash val="solid"/>
          </a:ln>
        </p:spPr>
      </p:sp>
      <p:sp>
        <p:nvSpPr>
          <p:cNvPr id="9" name="Shape 7"/>
          <p:cNvSpPr/>
          <p:nvPr/>
        </p:nvSpPr>
        <p:spPr>
          <a:xfrm flipV="1">
            <a:off x="1051560" y="2872271"/>
            <a:ext cx="527858" cy="116938"/>
          </a:xfrm>
          <a:prstGeom prst="line">
            <a:avLst/>
          </a:prstGeom>
          <a:noFill/>
          <a:ln w="28575">
            <a:solidFill>
              <a:srgbClr val="5A6CE6"/>
            </a:solidFill>
            <a:prstDash val="solid"/>
          </a:ln>
        </p:spPr>
      </p:sp>
      <p:sp>
        <p:nvSpPr>
          <p:cNvPr id="10" name="Shape 8"/>
          <p:cNvSpPr/>
          <p:nvPr/>
        </p:nvSpPr>
        <p:spPr>
          <a:xfrm flipV="1">
            <a:off x="1579418" y="2738628"/>
            <a:ext cx="1055716" cy="133643"/>
          </a:xfrm>
          <a:prstGeom prst="line">
            <a:avLst/>
          </a:prstGeom>
          <a:noFill/>
          <a:ln w="28575">
            <a:solidFill>
              <a:srgbClr val="5A6CE6"/>
            </a:solidFill>
            <a:prstDash val="solid"/>
          </a:ln>
        </p:spPr>
      </p:sp>
      <p:sp>
        <p:nvSpPr>
          <p:cNvPr id="11" name="Shape 9"/>
          <p:cNvSpPr/>
          <p:nvPr/>
        </p:nvSpPr>
        <p:spPr>
          <a:xfrm flipV="1">
            <a:off x="2635135" y="2604985"/>
            <a:ext cx="1055716" cy="133643"/>
          </a:xfrm>
          <a:prstGeom prst="line">
            <a:avLst/>
          </a:prstGeom>
          <a:noFill/>
          <a:ln w="28575">
            <a:solidFill>
              <a:srgbClr val="5A6CE6"/>
            </a:solidFill>
            <a:prstDash val="solid"/>
          </a:ln>
        </p:spPr>
      </p:sp>
      <p:sp>
        <p:nvSpPr>
          <p:cNvPr id="12" name="Shape 10"/>
          <p:cNvSpPr/>
          <p:nvPr/>
        </p:nvSpPr>
        <p:spPr>
          <a:xfrm flipV="1">
            <a:off x="3690851" y="2471342"/>
            <a:ext cx="1055716" cy="133643"/>
          </a:xfrm>
          <a:prstGeom prst="line">
            <a:avLst/>
          </a:prstGeom>
          <a:noFill/>
          <a:ln w="28575">
            <a:solidFill>
              <a:srgbClr val="5A6CE6"/>
            </a:solidFill>
            <a:prstDash val="solid"/>
          </a:ln>
        </p:spPr>
      </p:sp>
      <p:sp>
        <p:nvSpPr>
          <p:cNvPr id="13" name="Shape 11"/>
          <p:cNvSpPr/>
          <p:nvPr/>
        </p:nvSpPr>
        <p:spPr>
          <a:xfrm flipV="1">
            <a:off x="4746567" y="2371110"/>
            <a:ext cx="1055716" cy="100232"/>
          </a:xfrm>
          <a:prstGeom prst="line">
            <a:avLst/>
          </a:prstGeom>
          <a:noFill/>
          <a:ln w="28575">
            <a:solidFill>
              <a:srgbClr val="5A6CE6"/>
            </a:solidFill>
            <a:prstDash val="solid"/>
          </a:ln>
        </p:spPr>
      </p:sp>
      <p:sp>
        <p:nvSpPr>
          <p:cNvPr id="14" name="Shape 12"/>
          <p:cNvSpPr/>
          <p:nvPr/>
        </p:nvSpPr>
        <p:spPr>
          <a:xfrm>
            <a:off x="5802284" y="2371110"/>
            <a:ext cx="1055716" cy="0"/>
          </a:xfrm>
          <a:prstGeom prst="line">
            <a:avLst/>
          </a:prstGeom>
          <a:noFill/>
          <a:ln w="28575">
            <a:solidFill>
              <a:srgbClr val="5A6CE6"/>
            </a:solidFill>
            <a:prstDash val="solid"/>
          </a:ln>
        </p:spPr>
      </p:sp>
      <p:sp>
        <p:nvSpPr>
          <p:cNvPr id="15" name="Shape 13"/>
          <p:cNvSpPr/>
          <p:nvPr/>
        </p:nvSpPr>
        <p:spPr>
          <a:xfrm>
            <a:off x="1005840" y="2943489"/>
            <a:ext cx="91440" cy="91440"/>
          </a:xfrm>
          <a:prstGeom prst="ellipse">
            <a:avLst/>
          </a:prstGeom>
          <a:solidFill>
            <a:srgbClr val="5A6CE6"/>
          </a:solidFill>
          <a:ln/>
        </p:spPr>
      </p:sp>
      <p:sp>
        <p:nvSpPr>
          <p:cNvPr id="16" name="Shape 14"/>
          <p:cNvSpPr/>
          <p:nvPr/>
        </p:nvSpPr>
        <p:spPr>
          <a:xfrm>
            <a:off x="1533698" y="2826551"/>
            <a:ext cx="91440" cy="91440"/>
          </a:xfrm>
          <a:prstGeom prst="ellipse">
            <a:avLst/>
          </a:prstGeom>
          <a:solidFill>
            <a:srgbClr val="5A6CE6"/>
          </a:solidFill>
          <a:ln/>
        </p:spPr>
      </p:sp>
      <p:sp>
        <p:nvSpPr>
          <p:cNvPr id="17" name="Shape 15"/>
          <p:cNvSpPr/>
          <p:nvPr/>
        </p:nvSpPr>
        <p:spPr>
          <a:xfrm>
            <a:off x="2589415" y="2692908"/>
            <a:ext cx="91440" cy="91440"/>
          </a:xfrm>
          <a:prstGeom prst="ellipse">
            <a:avLst/>
          </a:prstGeom>
          <a:solidFill>
            <a:srgbClr val="5A6CE6"/>
          </a:solidFill>
          <a:ln/>
        </p:spPr>
      </p:sp>
      <p:sp>
        <p:nvSpPr>
          <p:cNvPr id="18" name="Shape 16"/>
          <p:cNvSpPr/>
          <p:nvPr/>
        </p:nvSpPr>
        <p:spPr>
          <a:xfrm>
            <a:off x="3645131" y="2559265"/>
            <a:ext cx="91440" cy="91440"/>
          </a:xfrm>
          <a:prstGeom prst="ellipse">
            <a:avLst/>
          </a:prstGeom>
          <a:solidFill>
            <a:srgbClr val="5A6CE6"/>
          </a:solidFill>
          <a:ln/>
        </p:spPr>
      </p:sp>
      <p:sp>
        <p:nvSpPr>
          <p:cNvPr id="19" name="Shape 17"/>
          <p:cNvSpPr/>
          <p:nvPr/>
        </p:nvSpPr>
        <p:spPr>
          <a:xfrm>
            <a:off x="4700847" y="2425622"/>
            <a:ext cx="91440" cy="91440"/>
          </a:xfrm>
          <a:prstGeom prst="ellipse">
            <a:avLst/>
          </a:prstGeom>
          <a:solidFill>
            <a:srgbClr val="5A6CE6"/>
          </a:solidFill>
          <a:ln/>
        </p:spPr>
      </p:sp>
      <p:sp>
        <p:nvSpPr>
          <p:cNvPr id="20" name="Shape 18"/>
          <p:cNvSpPr/>
          <p:nvPr/>
        </p:nvSpPr>
        <p:spPr>
          <a:xfrm>
            <a:off x="5756564" y="2325390"/>
            <a:ext cx="91440" cy="91440"/>
          </a:xfrm>
          <a:prstGeom prst="ellipse">
            <a:avLst/>
          </a:prstGeom>
          <a:solidFill>
            <a:srgbClr val="5A6CE6"/>
          </a:solidFill>
          <a:ln/>
        </p:spPr>
      </p:sp>
      <p:sp>
        <p:nvSpPr>
          <p:cNvPr id="21" name="Shape 19"/>
          <p:cNvSpPr/>
          <p:nvPr/>
        </p:nvSpPr>
        <p:spPr>
          <a:xfrm>
            <a:off x="6812280" y="2325390"/>
            <a:ext cx="91440" cy="91440"/>
          </a:xfrm>
          <a:prstGeom prst="ellipse">
            <a:avLst/>
          </a:prstGeom>
          <a:solidFill>
            <a:srgbClr val="5A6CE6"/>
          </a:solidFill>
          <a:ln/>
        </p:spPr>
      </p:sp>
      <p:sp>
        <p:nvSpPr>
          <p:cNvPr id="22" name="Text 20"/>
          <p:cNvSpPr/>
          <p:nvPr/>
        </p:nvSpPr>
        <p:spPr>
          <a:xfrm>
            <a:off x="777240" y="3218688"/>
            <a:ext cx="548640" cy="201168"/>
          </a:xfrm>
          <a:prstGeom prst="rect">
            <a:avLst/>
          </a:prstGeom>
          <a:noFill/>
          <a:ln/>
        </p:spPr>
        <p:txBody>
          <a:bodyPr wrap="square" lIns="0" tIns="0" rIns="0" bIns="0" rtlCol="0" anchor="t"/>
          <a:lstStyle/>
          <a:p>
            <a:pPr algn="ctr" indent="0" marL="0">
              <a:buNone/>
            </a:pPr>
            <a:r>
              <a:rPr lang="en-US" sz="850" dirty="0">
                <a:solidFill>
                  <a:srgbClr val="8E8E8E"/>
                </a:solidFill>
                <a:latin typeface="Calibri" pitchFamily="34" charset="0"/>
                <a:ea typeface="Calibri" pitchFamily="34" charset="-122"/>
                <a:cs typeface="Calibri" pitchFamily="34" charset="-120"/>
              </a:rPr>
              <a:t>W1</a:t>
            </a:r>
            <a:endParaRPr lang="en-US" sz="850" dirty="0"/>
          </a:p>
        </p:txBody>
      </p:sp>
      <p:sp>
        <p:nvSpPr>
          <p:cNvPr id="23" name="Text 21"/>
          <p:cNvSpPr/>
          <p:nvPr/>
        </p:nvSpPr>
        <p:spPr>
          <a:xfrm>
            <a:off x="1305098" y="3218688"/>
            <a:ext cx="548640" cy="201168"/>
          </a:xfrm>
          <a:prstGeom prst="rect">
            <a:avLst/>
          </a:prstGeom>
          <a:noFill/>
          <a:ln/>
        </p:spPr>
        <p:txBody>
          <a:bodyPr wrap="square" lIns="0" tIns="0" rIns="0" bIns="0" rtlCol="0" anchor="t"/>
          <a:lstStyle/>
          <a:p>
            <a:pPr algn="ctr" indent="0" marL="0">
              <a:buNone/>
            </a:pPr>
            <a:r>
              <a:rPr lang="en-US" sz="850" dirty="0">
                <a:solidFill>
                  <a:srgbClr val="8E8E8E"/>
                </a:solidFill>
                <a:latin typeface="Calibri" pitchFamily="34" charset="0"/>
                <a:ea typeface="Calibri" pitchFamily="34" charset="-122"/>
                <a:cs typeface="Calibri" pitchFamily="34" charset="-120"/>
              </a:rPr>
              <a:t>W2</a:t>
            </a:r>
            <a:endParaRPr lang="en-US" sz="850" dirty="0"/>
          </a:p>
        </p:txBody>
      </p:sp>
      <p:sp>
        <p:nvSpPr>
          <p:cNvPr id="24" name="Text 22"/>
          <p:cNvSpPr/>
          <p:nvPr/>
        </p:nvSpPr>
        <p:spPr>
          <a:xfrm>
            <a:off x="2360815" y="3218688"/>
            <a:ext cx="548640" cy="201168"/>
          </a:xfrm>
          <a:prstGeom prst="rect">
            <a:avLst/>
          </a:prstGeom>
          <a:noFill/>
          <a:ln/>
        </p:spPr>
        <p:txBody>
          <a:bodyPr wrap="square" lIns="0" tIns="0" rIns="0" bIns="0" rtlCol="0" anchor="t"/>
          <a:lstStyle/>
          <a:p>
            <a:pPr algn="ctr" indent="0" marL="0">
              <a:buNone/>
            </a:pPr>
            <a:r>
              <a:rPr lang="en-US" sz="850" dirty="0">
                <a:solidFill>
                  <a:srgbClr val="8E8E8E"/>
                </a:solidFill>
                <a:latin typeface="Calibri" pitchFamily="34" charset="0"/>
                <a:ea typeface="Calibri" pitchFamily="34" charset="-122"/>
                <a:cs typeface="Calibri" pitchFamily="34" charset="-120"/>
              </a:rPr>
              <a:t>W4</a:t>
            </a:r>
            <a:endParaRPr lang="en-US" sz="850" dirty="0"/>
          </a:p>
        </p:txBody>
      </p:sp>
      <p:sp>
        <p:nvSpPr>
          <p:cNvPr id="25" name="Text 23"/>
          <p:cNvSpPr/>
          <p:nvPr/>
        </p:nvSpPr>
        <p:spPr>
          <a:xfrm>
            <a:off x="3416531" y="3218688"/>
            <a:ext cx="548640" cy="201168"/>
          </a:xfrm>
          <a:prstGeom prst="rect">
            <a:avLst/>
          </a:prstGeom>
          <a:noFill/>
          <a:ln/>
        </p:spPr>
        <p:txBody>
          <a:bodyPr wrap="square" lIns="0" tIns="0" rIns="0" bIns="0" rtlCol="0" anchor="t"/>
          <a:lstStyle/>
          <a:p>
            <a:pPr algn="ctr" indent="0" marL="0">
              <a:buNone/>
            </a:pPr>
            <a:r>
              <a:rPr lang="en-US" sz="850" dirty="0">
                <a:solidFill>
                  <a:srgbClr val="8E8E8E"/>
                </a:solidFill>
                <a:latin typeface="Calibri" pitchFamily="34" charset="0"/>
                <a:ea typeface="Calibri" pitchFamily="34" charset="-122"/>
                <a:cs typeface="Calibri" pitchFamily="34" charset="-120"/>
              </a:rPr>
              <a:t>W6</a:t>
            </a:r>
            <a:endParaRPr lang="en-US" sz="850" dirty="0"/>
          </a:p>
        </p:txBody>
      </p:sp>
      <p:sp>
        <p:nvSpPr>
          <p:cNvPr id="26" name="Text 24"/>
          <p:cNvSpPr/>
          <p:nvPr/>
        </p:nvSpPr>
        <p:spPr>
          <a:xfrm>
            <a:off x="4472247" y="3218688"/>
            <a:ext cx="548640" cy="201168"/>
          </a:xfrm>
          <a:prstGeom prst="rect">
            <a:avLst/>
          </a:prstGeom>
          <a:noFill/>
          <a:ln/>
        </p:spPr>
        <p:txBody>
          <a:bodyPr wrap="square" lIns="0" tIns="0" rIns="0" bIns="0" rtlCol="0" anchor="t"/>
          <a:lstStyle/>
          <a:p>
            <a:pPr algn="ctr" indent="0" marL="0">
              <a:buNone/>
            </a:pPr>
            <a:r>
              <a:rPr lang="en-US" sz="850" dirty="0">
                <a:solidFill>
                  <a:srgbClr val="8E8E8E"/>
                </a:solidFill>
                <a:latin typeface="Calibri" pitchFamily="34" charset="0"/>
                <a:ea typeface="Calibri" pitchFamily="34" charset="-122"/>
                <a:cs typeface="Calibri" pitchFamily="34" charset="-120"/>
              </a:rPr>
              <a:t>W8</a:t>
            </a:r>
            <a:endParaRPr lang="en-US" sz="850" dirty="0"/>
          </a:p>
        </p:txBody>
      </p:sp>
      <p:sp>
        <p:nvSpPr>
          <p:cNvPr id="27" name="Text 25"/>
          <p:cNvSpPr/>
          <p:nvPr/>
        </p:nvSpPr>
        <p:spPr>
          <a:xfrm>
            <a:off x="5527964" y="3218688"/>
            <a:ext cx="548640" cy="201168"/>
          </a:xfrm>
          <a:prstGeom prst="rect">
            <a:avLst/>
          </a:prstGeom>
          <a:noFill/>
          <a:ln/>
        </p:spPr>
        <p:txBody>
          <a:bodyPr wrap="square" lIns="0" tIns="0" rIns="0" bIns="0" rtlCol="0" anchor="t"/>
          <a:lstStyle/>
          <a:p>
            <a:pPr algn="ctr" indent="0" marL="0">
              <a:buNone/>
            </a:pPr>
            <a:r>
              <a:rPr lang="en-US" sz="850" dirty="0">
                <a:solidFill>
                  <a:srgbClr val="8E8E8E"/>
                </a:solidFill>
                <a:latin typeface="Calibri" pitchFamily="34" charset="0"/>
                <a:ea typeface="Calibri" pitchFamily="34" charset="-122"/>
                <a:cs typeface="Calibri" pitchFamily="34" charset="-120"/>
              </a:rPr>
              <a:t>W10</a:t>
            </a:r>
            <a:endParaRPr lang="en-US" sz="850" dirty="0"/>
          </a:p>
        </p:txBody>
      </p:sp>
      <p:sp>
        <p:nvSpPr>
          <p:cNvPr id="28" name="Text 26"/>
          <p:cNvSpPr/>
          <p:nvPr/>
        </p:nvSpPr>
        <p:spPr>
          <a:xfrm>
            <a:off x="6583680" y="3218688"/>
            <a:ext cx="548640" cy="201168"/>
          </a:xfrm>
          <a:prstGeom prst="rect">
            <a:avLst/>
          </a:prstGeom>
          <a:noFill/>
          <a:ln/>
        </p:spPr>
        <p:txBody>
          <a:bodyPr wrap="square" lIns="0" tIns="0" rIns="0" bIns="0" rtlCol="0" anchor="t"/>
          <a:lstStyle/>
          <a:p>
            <a:pPr algn="ctr" indent="0" marL="0">
              <a:buNone/>
            </a:pPr>
            <a:r>
              <a:rPr lang="en-US" sz="850" dirty="0">
                <a:solidFill>
                  <a:srgbClr val="8E8E8E"/>
                </a:solidFill>
                <a:latin typeface="Calibri" pitchFamily="34" charset="0"/>
                <a:ea typeface="Calibri" pitchFamily="34" charset="-122"/>
                <a:cs typeface="Calibri" pitchFamily="34" charset="-120"/>
              </a:rPr>
              <a:t>W12</a:t>
            </a:r>
            <a:endParaRPr lang="en-US" sz="850" dirty="0"/>
          </a:p>
        </p:txBody>
      </p:sp>
      <p:sp>
        <p:nvSpPr>
          <p:cNvPr id="29" name="Shape 27"/>
          <p:cNvSpPr/>
          <p:nvPr/>
        </p:nvSpPr>
        <p:spPr>
          <a:xfrm>
            <a:off x="1497122" y="2789975"/>
            <a:ext cx="164592" cy="164592"/>
          </a:xfrm>
          <a:prstGeom prst="ellipse">
            <a:avLst/>
          </a:prstGeom>
          <a:solidFill>
            <a:srgbClr val="FFFFFF"/>
          </a:solidFill>
          <a:ln w="25400">
            <a:solidFill>
              <a:srgbClr val="5A6CE6"/>
            </a:solidFill>
            <a:prstDash val="solid"/>
          </a:ln>
        </p:spPr>
      </p:sp>
      <p:sp>
        <p:nvSpPr>
          <p:cNvPr id="30" name="Shape 28"/>
          <p:cNvSpPr/>
          <p:nvPr/>
        </p:nvSpPr>
        <p:spPr>
          <a:xfrm>
            <a:off x="1579418" y="2596896"/>
            <a:ext cx="0" cy="193079"/>
          </a:xfrm>
          <a:prstGeom prst="line">
            <a:avLst/>
          </a:prstGeom>
          <a:noFill/>
          <a:ln w="12700">
            <a:solidFill>
              <a:srgbClr val="5A6CE6"/>
            </a:solidFill>
            <a:prstDash val="solid"/>
          </a:ln>
        </p:spPr>
      </p:sp>
      <p:sp>
        <p:nvSpPr>
          <p:cNvPr id="31" name="Text 29"/>
          <p:cNvSpPr/>
          <p:nvPr/>
        </p:nvSpPr>
        <p:spPr>
          <a:xfrm>
            <a:off x="1195370" y="2340864"/>
            <a:ext cx="2651760" cy="219456"/>
          </a:xfrm>
          <a:prstGeom prst="rect">
            <a:avLst/>
          </a:prstGeom>
          <a:noFill/>
          <a:ln/>
        </p:spPr>
        <p:txBody>
          <a:bodyPr wrap="square" lIns="0" tIns="0" rIns="0" bIns="0" rtlCol="0" anchor="t"/>
          <a:lstStyle/>
          <a:p>
            <a:pPr algn="l" indent="0" marL="0">
              <a:buNone/>
            </a:pPr>
            <a:r>
              <a:rPr lang="en-US" sz="900" b="1" dirty="0">
                <a:solidFill>
                  <a:srgbClr val="5A6CE6"/>
                </a:solidFill>
                <a:latin typeface="Calibri" pitchFamily="34" charset="0"/>
                <a:ea typeface="Calibri" pitchFamily="34" charset="-122"/>
                <a:cs typeface="Calibri" pitchFamily="34" charset="-120"/>
              </a:rPr>
              <a:t>SIGNAL DETECTABLE · WEEK 2</a:t>
            </a:r>
            <a:endParaRPr lang="en-US" sz="900" dirty="0"/>
          </a:p>
        </p:txBody>
      </p:sp>
      <p:sp>
        <p:nvSpPr>
          <p:cNvPr id="32" name="Shape 30"/>
          <p:cNvSpPr/>
          <p:nvPr/>
        </p:nvSpPr>
        <p:spPr>
          <a:xfrm>
            <a:off x="6775704" y="2288814"/>
            <a:ext cx="164592" cy="164592"/>
          </a:xfrm>
          <a:prstGeom prst="ellipse">
            <a:avLst/>
          </a:prstGeom>
          <a:solidFill>
            <a:srgbClr val="181818"/>
          </a:solidFill>
          <a:ln/>
        </p:spPr>
      </p:sp>
      <p:sp>
        <p:nvSpPr>
          <p:cNvPr id="33" name="Text 31"/>
          <p:cNvSpPr/>
          <p:nvPr/>
        </p:nvSpPr>
        <p:spPr>
          <a:xfrm>
            <a:off x="777240" y="3392424"/>
            <a:ext cx="6949440" cy="256032"/>
          </a:xfrm>
          <a:prstGeom prst="rect">
            <a:avLst/>
          </a:prstGeom>
          <a:noFill/>
          <a:ln/>
        </p:spPr>
        <p:txBody>
          <a:bodyPr wrap="square" lIns="0" tIns="0" rIns="0" bIns="0" rtlCol="0" anchor="t"/>
          <a:lstStyle/>
          <a:p>
            <a:pPr algn="l" indent="0" marL="0">
              <a:buNone/>
            </a:pPr>
            <a:r>
              <a:rPr lang="en-US" sz="950" i="1" dirty="0">
                <a:solidFill>
                  <a:srgbClr val="8E8E8E"/>
                </a:solidFill>
                <a:latin typeface="Calibri" pitchFamily="34" charset="0"/>
                <a:ea typeface="Calibri" pitchFamily="34" charset="-122"/>
                <a:cs typeface="Calibri" pitchFamily="34" charset="-120"/>
              </a:rPr>
              <a:t>The building's view — uncharted: more bathroom help, falls “heard about after,” no change-of-condition filed.</a:t>
            </a:r>
            <a:endParaRPr lang="en-US" sz="950" dirty="0"/>
          </a:p>
        </p:txBody>
      </p:sp>
      <p:sp>
        <p:nvSpPr>
          <p:cNvPr id="34" name="Shape 32"/>
          <p:cNvSpPr/>
          <p:nvPr/>
        </p:nvSpPr>
        <p:spPr>
          <a:xfrm>
            <a:off x="7452360" y="1810512"/>
            <a:ext cx="3962095" cy="1874520"/>
          </a:xfrm>
          <a:prstGeom prst="roundRect">
            <a:avLst>
              <a:gd name="adj" fmla="val 6829"/>
            </a:avLst>
          </a:prstGeom>
          <a:solidFill>
            <a:srgbClr val="16181C"/>
          </a:solidFill>
          <a:ln/>
          <a:effectLst>
            <a:outerShdw sx="100000" sy="100000" kx="0" ky="0" algn="bl" rotWithShape="0" blurRad="114300" dist="38100" dir="5400000">
              <a:srgbClr val="20232A">
                <a:alpha val="10000"/>
              </a:srgbClr>
            </a:outerShdw>
          </a:effectLst>
        </p:spPr>
      </p:sp>
      <p:sp>
        <p:nvSpPr>
          <p:cNvPr id="35" name="Text 33"/>
          <p:cNvSpPr/>
          <p:nvPr/>
        </p:nvSpPr>
        <p:spPr>
          <a:xfrm>
            <a:off x="7726680" y="1956816"/>
            <a:ext cx="3413455" cy="256032"/>
          </a:xfrm>
          <a:prstGeom prst="rect">
            <a:avLst/>
          </a:prstGeom>
          <a:noFill/>
          <a:ln/>
        </p:spPr>
        <p:txBody>
          <a:bodyPr wrap="square" lIns="0" tIns="0" rIns="0" bIns="0" rtlCol="0" anchor="t"/>
          <a:lstStyle/>
          <a:p>
            <a:pPr algn="l" indent="0" marL="0">
              <a:buNone/>
            </a:pPr>
            <a:r>
              <a:rPr lang="en-US" sz="1050" b="1" spc="80" kern="0" dirty="0">
                <a:solidFill>
                  <a:srgbClr val="FFFFFF"/>
                </a:solidFill>
                <a:latin typeface="Calibri" pitchFamily="34" charset="0"/>
                <a:ea typeface="Calibri" pitchFamily="34" charset="-122"/>
                <a:cs typeface="Calibri" pitchFamily="34" charset="-120"/>
              </a:rPr>
              <a:t>WEEK 12 — CAUGHT AT CRISIS</a:t>
            </a:r>
            <a:endParaRPr lang="en-US" sz="1050" dirty="0"/>
          </a:p>
        </p:txBody>
      </p:sp>
      <p:sp>
        <p:nvSpPr>
          <p:cNvPr id="36" name="Text 34"/>
          <p:cNvSpPr/>
          <p:nvPr/>
        </p:nvSpPr>
        <p:spPr>
          <a:xfrm>
            <a:off x="7726680" y="2286000"/>
            <a:ext cx="3413455" cy="1280160"/>
          </a:xfrm>
          <a:prstGeom prst="rect">
            <a:avLst/>
          </a:prstGeom>
          <a:noFill/>
          <a:ln/>
        </p:spPr>
        <p:txBody>
          <a:bodyPr wrap="square" lIns="0" tIns="0" rIns="0" bIns="0" rtlCol="0" anchor="t"/>
          <a:lstStyle/>
          <a:p>
            <a:pPr algn="l" indent="0" marL="0">
              <a:lnSpc>
                <a:spcPct val="112000"/>
              </a:lnSpc>
              <a:buNone/>
            </a:pPr>
            <a:r>
              <a:rPr lang="en-US" sz="1150" dirty="0">
                <a:solidFill>
                  <a:srgbClr val="C9CCD4"/>
                </a:solidFill>
                <a:latin typeface="Calibri" pitchFamily="34" charset="0"/>
                <a:ea typeface="Calibri" pitchFamily="34" charset="-122"/>
                <a:cs typeface="Calibri" pitchFamily="34" charset="-120"/>
              </a:rPr>
              <a:t>Fall → hospitalization → scramble reassessment → hostile family meeting → ~10 weeks of level-4 care billed at level 2.</a:t>
            </a:r>
            <a:endParaRPr lang="en-US" sz="1150" dirty="0"/>
          </a:p>
        </p:txBody>
      </p:sp>
      <p:sp>
        <p:nvSpPr>
          <p:cNvPr id="37" name="Text 35"/>
          <p:cNvSpPr/>
          <p:nvPr/>
        </p:nvSpPr>
        <p:spPr>
          <a:xfrm>
            <a:off x="758952" y="3694176"/>
            <a:ext cx="548640" cy="548640"/>
          </a:xfrm>
          <a:prstGeom prst="rect">
            <a:avLst/>
          </a:prstGeom>
          <a:noFill/>
          <a:ln/>
        </p:spPr>
        <p:txBody>
          <a:bodyPr wrap="square" lIns="0" tIns="0" rIns="0" bIns="0" rtlCol="0" anchor="t"/>
          <a:lstStyle/>
          <a:p>
            <a:pPr algn="l" indent="0" marL="0">
              <a:buNone/>
            </a:pPr>
            <a:r>
              <a:rPr lang="en-US" sz="4000" b="1" dirty="0">
                <a:solidFill>
                  <a:srgbClr val="5A6CE6"/>
                </a:solidFill>
                <a:latin typeface="Calibri" pitchFamily="34" charset="0"/>
                <a:ea typeface="Calibri" pitchFamily="34" charset="-122"/>
                <a:cs typeface="Calibri" pitchFamily="34" charset="-120"/>
              </a:rPr>
              <a:t>“</a:t>
            </a:r>
            <a:endParaRPr lang="en-US" sz="4000" dirty="0"/>
          </a:p>
        </p:txBody>
      </p:sp>
      <p:sp>
        <p:nvSpPr>
          <p:cNvPr id="38" name="Text 36"/>
          <p:cNvSpPr/>
          <p:nvPr/>
        </p:nvSpPr>
        <p:spPr>
          <a:xfrm>
            <a:off x="1161288" y="3950208"/>
            <a:ext cx="10040112" cy="822960"/>
          </a:xfrm>
          <a:prstGeom prst="rect">
            <a:avLst/>
          </a:prstGeom>
          <a:noFill/>
          <a:ln/>
        </p:spPr>
        <p:txBody>
          <a:bodyPr wrap="square" lIns="0" tIns="0" rIns="0" bIns="0" rtlCol="0" anchor="t"/>
          <a:lstStyle/>
          <a:p>
            <a:pPr algn="l" indent="0" marL="0">
              <a:lnSpc>
                <a:spcPct val="108000"/>
              </a:lnSpc>
              <a:buNone/>
            </a:pPr>
            <a:r>
              <a:rPr lang="en-US" sz="1300" i="1" dirty="0">
                <a:solidFill>
                  <a:srgbClr val="181818"/>
                </a:solidFill>
                <a:latin typeface="Calibri" pitchFamily="34" charset="0"/>
                <a:ea typeface="Calibri" pitchFamily="34" charset="-122"/>
                <a:cs typeface="Calibri" pitchFamily="34" charset="-120"/>
              </a:rPr>
              <a:t>If we'd caught it in week two instead of week twelve — a different care plan, a different family conversation, a different revenue line. And maybe she's not in the hospital.</a:t>
            </a:r>
            <a:endParaRPr lang="en-US" sz="1300" dirty="0"/>
          </a:p>
        </p:txBody>
      </p:sp>
      <p:sp>
        <p:nvSpPr>
          <p:cNvPr id="39" name="Text 37"/>
          <p:cNvSpPr/>
          <p:nvPr/>
        </p:nvSpPr>
        <p:spPr>
          <a:xfrm>
            <a:off x="1161288" y="4425696"/>
            <a:ext cx="5486400" cy="219456"/>
          </a:xfrm>
          <a:prstGeom prst="rect">
            <a:avLst/>
          </a:prstGeom>
          <a:noFill/>
          <a:ln/>
        </p:spPr>
        <p:txBody>
          <a:bodyPr wrap="square" lIns="0" tIns="0" rIns="0" bIns="0" rtlCol="0" anchor="t"/>
          <a:lstStyle/>
          <a:p>
            <a:pPr algn="l" indent="0" marL="0">
              <a:buNone/>
            </a:pPr>
            <a:r>
              <a:rPr lang="en-US" sz="1000" dirty="0">
                <a:solidFill>
                  <a:srgbClr val="8E8E8E"/>
                </a:solidFill>
                <a:latin typeface="Calibri" pitchFamily="34" charset="0"/>
                <a:ea typeface="Calibri" pitchFamily="34" charset="-122"/>
                <a:cs typeface="Calibri" pitchFamily="34" charset="-120"/>
              </a:rPr>
              <a:t>— Dana, VP Health Services</a:t>
            </a:r>
            <a:endParaRPr lang="en-US" sz="1000" dirty="0"/>
          </a:p>
        </p:txBody>
      </p:sp>
      <p:sp>
        <p:nvSpPr>
          <p:cNvPr id="40" name="Shape 38"/>
          <p:cNvSpPr/>
          <p:nvPr/>
        </p:nvSpPr>
        <p:spPr>
          <a:xfrm>
            <a:off x="777240" y="4626864"/>
            <a:ext cx="5175504" cy="1481328"/>
          </a:xfrm>
          <a:prstGeom prst="roundRect">
            <a:avLst>
              <a:gd name="adj" fmla="val 7407"/>
            </a:avLst>
          </a:prstGeom>
          <a:solidFill>
            <a:srgbClr val="F4F4F4"/>
          </a:solidFill>
          <a:ln/>
        </p:spPr>
      </p:sp>
      <p:sp>
        <p:nvSpPr>
          <p:cNvPr id="41" name="Text 39"/>
          <p:cNvSpPr/>
          <p:nvPr/>
        </p:nvSpPr>
        <p:spPr>
          <a:xfrm>
            <a:off x="1051560" y="4773168"/>
            <a:ext cx="4626864" cy="256032"/>
          </a:xfrm>
          <a:prstGeom prst="rect">
            <a:avLst/>
          </a:prstGeom>
          <a:noFill/>
          <a:ln/>
        </p:spPr>
        <p:txBody>
          <a:bodyPr wrap="square" lIns="0" tIns="0" rIns="0" bIns="0" rtlCol="0" anchor="t"/>
          <a:lstStyle/>
          <a:p>
            <a:pPr algn="l" indent="0" marL="0">
              <a:buNone/>
            </a:pPr>
            <a:r>
              <a:rPr lang="en-US" sz="1250" b="1" dirty="0">
                <a:solidFill>
                  <a:srgbClr val="181818"/>
                </a:solidFill>
                <a:latin typeface="Calibri" pitchFamily="34" charset="0"/>
                <a:ea typeface="Calibri" pitchFamily="34" charset="-122"/>
                <a:cs typeface="Calibri" pitchFamily="34" charset="-120"/>
              </a:rPr>
              <a:t>One intervention, four payoffs</a:t>
            </a:r>
            <a:endParaRPr lang="en-US" sz="1250" dirty="0"/>
          </a:p>
        </p:txBody>
      </p:sp>
      <p:sp>
        <p:nvSpPr>
          <p:cNvPr id="42" name="Text 40"/>
          <p:cNvSpPr/>
          <p:nvPr/>
        </p:nvSpPr>
        <p:spPr>
          <a:xfrm>
            <a:off x="1051560" y="5157216"/>
            <a:ext cx="2313432" cy="219456"/>
          </a:xfrm>
          <a:prstGeom prst="rect">
            <a:avLst/>
          </a:prstGeom>
          <a:noFill/>
          <a:ln/>
        </p:spPr>
        <p:txBody>
          <a:bodyPr wrap="square" lIns="0" tIns="0" rIns="0" bIns="0" rtlCol="0" anchor="t"/>
          <a:lstStyle/>
          <a:p>
            <a:pPr algn="l" indent="0" marL="0">
              <a:buNone/>
            </a:pPr>
            <a:r>
              <a:rPr lang="en-US" sz="1050" b="1" dirty="0">
                <a:solidFill>
                  <a:srgbClr val="5A6CE6"/>
                </a:solidFill>
                <a:latin typeface="Calibri" pitchFamily="34" charset="0"/>
                <a:ea typeface="Calibri" pitchFamily="34" charset="-122"/>
                <a:cs typeface="Calibri" pitchFamily="34" charset="-120"/>
              </a:rPr>
              <a:t>Clinical</a:t>
            </a:r>
            <a:endParaRPr lang="en-US" sz="1050" dirty="0"/>
          </a:p>
        </p:txBody>
      </p:sp>
      <p:sp>
        <p:nvSpPr>
          <p:cNvPr id="43" name="Text 41"/>
          <p:cNvSpPr/>
          <p:nvPr/>
        </p:nvSpPr>
        <p:spPr>
          <a:xfrm>
            <a:off x="1051560" y="5358384"/>
            <a:ext cx="2313432" cy="274320"/>
          </a:xfrm>
          <a:prstGeom prst="rect">
            <a:avLst/>
          </a:prstGeom>
          <a:noFill/>
          <a:ln/>
        </p:spPr>
        <p:txBody>
          <a:bodyPr wrap="square" lIns="0" tIns="0" rIns="0" bIns="0" rtlCol="0" anchor="t"/>
          <a:lstStyle/>
          <a:p>
            <a:pPr algn="l" indent="0" marL="0">
              <a:lnSpc>
                <a:spcPct val="100000"/>
              </a:lnSpc>
              <a:buNone/>
            </a:pPr>
            <a:r>
              <a:rPr lang="en-US" sz="920" dirty="0">
                <a:solidFill>
                  <a:srgbClr val="8E8E8E"/>
                </a:solidFill>
                <a:latin typeface="Calibri" pitchFamily="34" charset="0"/>
                <a:ea typeface="Calibri" pitchFamily="34" charset="-122"/>
                <a:cs typeface="Calibri" pitchFamily="34" charset="-120"/>
              </a:rPr>
              <a:t>intervene weeks earlier; fewer crises</a:t>
            </a:r>
            <a:endParaRPr lang="en-US" sz="920" dirty="0"/>
          </a:p>
        </p:txBody>
      </p:sp>
      <p:sp>
        <p:nvSpPr>
          <p:cNvPr id="44" name="Text 42"/>
          <p:cNvSpPr/>
          <p:nvPr/>
        </p:nvSpPr>
        <p:spPr>
          <a:xfrm>
            <a:off x="3502152" y="5157216"/>
            <a:ext cx="2313432" cy="219456"/>
          </a:xfrm>
          <a:prstGeom prst="rect">
            <a:avLst/>
          </a:prstGeom>
          <a:noFill/>
          <a:ln/>
        </p:spPr>
        <p:txBody>
          <a:bodyPr wrap="square" lIns="0" tIns="0" rIns="0" bIns="0" rtlCol="0" anchor="t"/>
          <a:lstStyle/>
          <a:p>
            <a:pPr algn="l" indent="0" marL="0">
              <a:buNone/>
            </a:pPr>
            <a:r>
              <a:rPr lang="en-US" sz="1050" b="1" dirty="0">
                <a:solidFill>
                  <a:srgbClr val="5A6CE6"/>
                </a:solidFill>
                <a:latin typeface="Calibri" pitchFamily="34" charset="0"/>
                <a:ea typeface="Calibri" pitchFamily="34" charset="-122"/>
                <a:cs typeface="Calibri" pitchFamily="34" charset="-120"/>
              </a:rPr>
              <a:t>Financial</a:t>
            </a:r>
            <a:endParaRPr lang="en-US" sz="1050" dirty="0"/>
          </a:p>
        </p:txBody>
      </p:sp>
      <p:sp>
        <p:nvSpPr>
          <p:cNvPr id="45" name="Text 43"/>
          <p:cNvSpPr/>
          <p:nvPr/>
        </p:nvSpPr>
        <p:spPr>
          <a:xfrm>
            <a:off x="3502152" y="5358384"/>
            <a:ext cx="2313432" cy="274320"/>
          </a:xfrm>
          <a:prstGeom prst="rect">
            <a:avLst/>
          </a:prstGeom>
          <a:noFill/>
          <a:ln/>
        </p:spPr>
        <p:txBody>
          <a:bodyPr wrap="square" lIns="0" tIns="0" rIns="0" bIns="0" rtlCol="0" anchor="t"/>
          <a:lstStyle/>
          <a:p>
            <a:pPr algn="l" indent="0" marL="0">
              <a:lnSpc>
                <a:spcPct val="100000"/>
              </a:lnSpc>
              <a:buNone/>
            </a:pPr>
            <a:r>
              <a:rPr lang="en-US" sz="920" dirty="0">
                <a:solidFill>
                  <a:srgbClr val="8E8E8E"/>
                </a:solidFill>
                <a:latin typeface="Calibri" pitchFamily="34" charset="0"/>
                <a:ea typeface="Calibri" pitchFamily="34" charset="-122"/>
                <a:cs typeface="Calibri" pitchFamily="34" charset="-120"/>
              </a:rPr>
              <a:t>care plans sized right; end silent under-billing</a:t>
            </a:r>
            <a:endParaRPr lang="en-US" sz="920" dirty="0"/>
          </a:p>
        </p:txBody>
      </p:sp>
      <p:sp>
        <p:nvSpPr>
          <p:cNvPr id="46" name="Text 44"/>
          <p:cNvSpPr/>
          <p:nvPr/>
        </p:nvSpPr>
        <p:spPr>
          <a:xfrm>
            <a:off x="1051560" y="5632704"/>
            <a:ext cx="2313432" cy="219456"/>
          </a:xfrm>
          <a:prstGeom prst="rect">
            <a:avLst/>
          </a:prstGeom>
          <a:noFill/>
          <a:ln/>
        </p:spPr>
        <p:txBody>
          <a:bodyPr wrap="square" lIns="0" tIns="0" rIns="0" bIns="0" rtlCol="0" anchor="t"/>
          <a:lstStyle/>
          <a:p>
            <a:pPr algn="l" indent="0" marL="0">
              <a:buNone/>
            </a:pPr>
            <a:r>
              <a:rPr lang="en-US" sz="1050" b="1" dirty="0">
                <a:solidFill>
                  <a:srgbClr val="5A6CE6"/>
                </a:solidFill>
                <a:latin typeface="Calibri" pitchFamily="34" charset="0"/>
                <a:ea typeface="Calibri" pitchFamily="34" charset="-122"/>
                <a:cs typeface="Calibri" pitchFamily="34" charset="-120"/>
              </a:rPr>
              <a:t>Family</a:t>
            </a:r>
            <a:endParaRPr lang="en-US" sz="1050" dirty="0"/>
          </a:p>
        </p:txBody>
      </p:sp>
      <p:sp>
        <p:nvSpPr>
          <p:cNvPr id="47" name="Text 45"/>
          <p:cNvSpPr/>
          <p:nvPr/>
        </p:nvSpPr>
        <p:spPr>
          <a:xfrm>
            <a:off x="1051560" y="5833872"/>
            <a:ext cx="2313432" cy="274320"/>
          </a:xfrm>
          <a:prstGeom prst="rect">
            <a:avLst/>
          </a:prstGeom>
          <a:noFill/>
          <a:ln/>
        </p:spPr>
        <p:txBody>
          <a:bodyPr wrap="square" lIns="0" tIns="0" rIns="0" bIns="0" rtlCol="0" anchor="t"/>
          <a:lstStyle/>
          <a:p>
            <a:pPr algn="l" indent="0" marL="0">
              <a:lnSpc>
                <a:spcPct val="100000"/>
              </a:lnSpc>
              <a:buNone/>
            </a:pPr>
            <a:r>
              <a:rPr lang="en-US" sz="920" dirty="0">
                <a:solidFill>
                  <a:srgbClr val="8E8E8E"/>
                </a:solidFill>
                <a:latin typeface="Calibri" pitchFamily="34" charset="0"/>
                <a:ea typeface="Calibri" pitchFamily="34" charset="-122"/>
                <a:cs typeface="Calibri" pitchFamily="34" charset="-120"/>
              </a:rPr>
              <a:t>trend evidence cools hostile conferences</a:t>
            </a:r>
            <a:endParaRPr lang="en-US" sz="920" dirty="0"/>
          </a:p>
        </p:txBody>
      </p:sp>
      <p:sp>
        <p:nvSpPr>
          <p:cNvPr id="48" name="Text 46"/>
          <p:cNvSpPr/>
          <p:nvPr/>
        </p:nvSpPr>
        <p:spPr>
          <a:xfrm>
            <a:off x="3502152" y="5632704"/>
            <a:ext cx="2313432" cy="219456"/>
          </a:xfrm>
          <a:prstGeom prst="rect">
            <a:avLst/>
          </a:prstGeom>
          <a:noFill/>
          <a:ln/>
        </p:spPr>
        <p:txBody>
          <a:bodyPr wrap="square" lIns="0" tIns="0" rIns="0" bIns="0" rtlCol="0" anchor="t"/>
          <a:lstStyle/>
          <a:p>
            <a:pPr algn="l" indent="0" marL="0">
              <a:buNone/>
            </a:pPr>
            <a:r>
              <a:rPr lang="en-US" sz="1050" b="1" dirty="0">
                <a:solidFill>
                  <a:srgbClr val="5A6CE6"/>
                </a:solidFill>
                <a:latin typeface="Calibri" pitchFamily="34" charset="0"/>
                <a:ea typeface="Calibri" pitchFamily="34" charset="-122"/>
                <a:cs typeface="Calibri" pitchFamily="34" charset="-120"/>
              </a:rPr>
              <a:t>Renewal</a:t>
            </a:r>
            <a:endParaRPr lang="en-US" sz="1050" dirty="0"/>
          </a:p>
        </p:txBody>
      </p:sp>
      <p:sp>
        <p:nvSpPr>
          <p:cNvPr id="49" name="Text 47"/>
          <p:cNvSpPr/>
          <p:nvPr/>
        </p:nvSpPr>
        <p:spPr>
          <a:xfrm>
            <a:off x="3502152" y="5833872"/>
            <a:ext cx="2313432" cy="274320"/>
          </a:xfrm>
          <a:prstGeom prst="rect">
            <a:avLst/>
          </a:prstGeom>
          <a:noFill/>
          <a:ln/>
        </p:spPr>
        <p:txBody>
          <a:bodyPr wrap="square" lIns="0" tIns="0" rIns="0" bIns="0" rtlCol="0" anchor="t"/>
          <a:lstStyle/>
          <a:p>
            <a:pPr algn="l" indent="0" marL="0">
              <a:lnSpc>
                <a:spcPct val="100000"/>
              </a:lnSpc>
              <a:buNone/>
            </a:pPr>
            <a:r>
              <a:rPr lang="en-US" sz="920" dirty="0">
                <a:solidFill>
                  <a:srgbClr val="8E8E8E"/>
                </a:solidFill>
                <a:latin typeface="Calibri" pitchFamily="34" charset="0"/>
                <a:ea typeface="Calibri" pitchFamily="34" charset="-122"/>
                <a:cs typeface="Calibri" pitchFamily="34" charset="-120"/>
              </a:rPr>
              <a:t>a countable ROI story — never a staffing cut</a:t>
            </a:r>
            <a:endParaRPr lang="en-US" sz="920" dirty="0"/>
          </a:p>
        </p:txBody>
      </p:sp>
      <p:sp>
        <p:nvSpPr>
          <p:cNvPr id="50" name="Shape 48"/>
          <p:cNvSpPr/>
          <p:nvPr/>
        </p:nvSpPr>
        <p:spPr>
          <a:xfrm>
            <a:off x="6236208" y="4626864"/>
            <a:ext cx="5178247" cy="1481328"/>
          </a:xfrm>
          <a:prstGeom prst="roundRect">
            <a:avLst>
              <a:gd name="adj" fmla="val 7407"/>
            </a:avLst>
          </a:prstGeom>
          <a:solidFill>
            <a:srgbClr val="FFFFFF"/>
          </a:solidFill>
          <a:ln w="12700">
            <a:solidFill>
              <a:srgbClr val="E6E6E6"/>
            </a:solidFill>
            <a:prstDash val="solid"/>
          </a:ln>
          <a:effectLst>
            <a:outerShdw sx="100000" sy="100000" kx="0" ky="0" algn="bl" rotWithShape="0" blurRad="114300" dist="38100" dir="5400000">
              <a:srgbClr val="20232A">
                <a:alpha val="10000"/>
              </a:srgbClr>
            </a:outerShdw>
          </a:effectLst>
        </p:spPr>
      </p:sp>
      <p:sp>
        <p:nvSpPr>
          <p:cNvPr id="51" name="Shape 49"/>
          <p:cNvSpPr/>
          <p:nvPr/>
        </p:nvSpPr>
        <p:spPr>
          <a:xfrm>
            <a:off x="6236208" y="4626864"/>
            <a:ext cx="5178247" cy="384048"/>
          </a:xfrm>
          <a:prstGeom prst="roundRect">
            <a:avLst>
              <a:gd name="adj" fmla="val 28571"/>
            </a:avLst>
          </a:prstGeom>
          <a:solidFill>
            <a:srgbClr val="5A6CE6"/>
          </a:solidFill>
          <a:ln/>
        </p:spPr>
      </p:sp>
      <p:sp>
        <p:nvSpPr>
          <p:cNvPr id="52" name="Shape 50"/>
          <p:cNvSpPr/>
          <p:nvPr/>
        </p:nvSpPr>
        <p:spPr>
          <a:xfrm>
            <a:off x="6236208" y="4846320"/>
            <a:ext cx="5178247" cy="164592"/>
          </a:xfrm>
          <a:prstGeom prst="rect">
            <a:avLst/>
          </a:prstGeom>
          <a:solidFill>
            <a:srgbClr val="5A6CE6"/>
          </a:solidFill>
          <a:ln/>
        </p:spPr>
      </p:sp>
      <p:sp>
        <p:nvSpPr>
          <p:cNvPr id="53" name="Text 51"/>
          <p:cNvSpPr/>
          <p:nvPr/>
        </p:nvSpPr>
        <p:spPr>
          <a:xfrm>
            <a:off x="6510528" y="4626864"/>
            <a:ext cx="4629607" cy="384048"/>
          </a:xfrm>
          <a:prstGeom prst="rect">
            <a:avLst/>
          </a:prstGeom>
          <a:noFill/>
          <a:ln/>
        </p:spPr>
        <p:txBody>
          <a:bodyPr wrap="square" lIns="0" tIns="0" rIns="0" bIns="0"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The decline that matters is undocumented</a:t>
            </a:r>
            <a:endParaRPr lang="en-US" sz="1150" dirty="0"/>
          </a:p>
        </p:txBody>
      </p:sp>
      <p:sp>
        <p:nvSpPr>
          <p:cNvPr id="54" name="Text 52"/>
          <p:cNvSpPr/>
          <p:nvPr/>
        </p:nvSpPr>
        <p:spPr>
          <a:xfrm>
            <a:off x="6510528" y="5120640"/>
            <a:ext cx="4629607" cy="914400"/>
          </a:xfrm>
          <a:prstGeom prst="rect">
            <a:avLst/>
          </a:prstGeom>
          <a:noFill/>
          <a:ln/>
        </p:spPr>
        <p:txBody>
          <a:bodyPr wrap="square" lIns="0" tIns="0" rIns="0" bIns="0" rtlCol="0" anchor="t"/>
          <a:lstStyle/>
          <a:p>
            <a:pPr algn="l" marL="203200" indent="-203200">
              <a:lnSpc>
                <a:spcPct val="108000"/>
              </a:lnSpc>
              <a:spcAft>
                <a:spcPts val="300"/>
              </a:spcAft>
              <a:buSzPct val="100000"/>
              <a:buChar char="•"/>
            </a:pPr>
            <a:r>
              <a:rPr lang="en-US" sz="960" dirty="0">
                <a:solidFill>
                  <a:srgbClr val="3A3A3A"/>
                </a:solidFill>
                <a:latin typeface="Calibri" pitchFamily="34" charset="0"/>
                <a:ea typeface="Calibri" pitchFamily="34" charset="-122"/>
                <a:cs typeface="Calibri" pitchFamily="34" charset="-120"/>
              </a:rPr>
              <a:t>EHR flags (incl. August's Resident Watchlist) read only what staff chart</a:t>
            </a:r>
            <a:endParaRPr lang="en-US" sz="960" dirty="0"/>
          </a:p>
          <a:p>
            <a:pPr algn="l" marL="203200" indent="-203200">
              <a:lnSpc>
                <a:spcPct val="108000"/>
              </a:lnSpc>
              <a:spcAft>
                <a:spcPts val="300"/>
              </a:spcAft>
              <a:buSzPct val="100000"/>
              <a:buChar char="•"/>
            </a:pPr>
            <a:r>
              <a:rPr lang="en-US" sz="960" dirty="0">
                <a:solidFill>
                  <a:srgbClr val="3A3A3A"/>
                </a:solidFill>
                <a:latin typeface="Calibri" pitchFamily="34" charset="0"/>
                <a:ea typeface="Calibri" pitchFamily="34" charset="-122"/>
                <a:cs typeface="Calibri" pitchFamily="34" charset="-120"/>
              </a:rPr>
              <a:t>~2/3 of clinical leaders say acuity is underreported; 75% report higher acuity than 5 yrs ago (ASHA / August, 2025)</a:t>
            </a:r>
            <a:endParaRPr lang="en-US" sz="960" dirty="0"/>
          </a:p>
          <a:p>
            <a:pPr algn="l" marL="203200" indent="-203200">
              <a:lnSpc>
                <a:spcPct val="108000"/>
              </a:lnSpc>
              <a:spcAft>
                <a:spcPts val="300"/>
              </a:spcAft>
              <a:buSzPct val="100000"/>
              <a:buChar char="•"/>
            </a:pPr>
            <a:r>
              <a:rPr lang="en-US" sz="960" dirty="0">
                <a:solidFill>
                  <a:srgbClr val="3A3A3A"/>
                </a:solidFill>
                <a:latin typeface="Calibri" pitchFamily="34" charset="0"/>
                <a:ea typeface="Calibri" pitchFamily="34" charset="-122"/>
                <a:cs typeface="Calibri" pitchFamily="34" charset="-120"/>
              </a:rPr>
              <a:t>Teton is the objective observer of the unwitnessed nights</a:t>
            </a:r>
            <a:endParaRPr lang="en-US" sz="960" dirty="0"/>
          </a:p>
        </p:txBody>
      </p:sp>
      <p:sp>
        <p:nvSpPr>
          <p:cNvPr id="55" name="Text 53"/>
          <p:cNvSpPr/>
          <p:nvPr/>
        </p:nvSpPr>
        <p:spPr>
          <a:xfrm>
            <a:off x="6510528" y="5870448"/>
            <a:ext cx="4629607" cy="219456"/>
          </a:xfrm>
          <a:prstGeom prst="rect">
            <a:avLst/>
          </a:prstGeom>
          <a:noFill/>
          <a:ln/>
        </p:spPr>
        <p:txBody>
          <a:bodyPr wrap="square" lIns="0" tIns="0" rIns="0" bIns="0" rtlCol="0" anchor="t"/>
          <a:lstStyle/>
          <a:p>
            <a:pPr algn="l" indent="0" marL="0">
              <a:buNone/>
            </a:pPr>
            <a:r>
              <a:rPr lang="en-US" sz="900" b="1" i="1" dirty="0">
                <a:solidFill>
                  <a:srgbClr val="5A6CE6"/>
                </a:solidFill>
                <a:latin typeface="Calibri" pitchFamily="34" charset="0"/>
                <a:ea typeface="Calibri" pitchFamily="34" charset="-122"/>
                <a:cs typeface="Calibri" pitchFamily="34" charset="-120"/>
              </a:rPr>
              <a:t>Illustrative: ~10 under-leveled residents × ~$750/mo ≈ ~$90K/yr per building</a:t>
            </a:r>
            <a:endParaRPr lang="en-US" sz="900" dirty="0"/>
          </a:p>
        </p:txBody>
      </p:sp>
      <p:sp>
        <p:nvSpPr>
          <p:cNvPr id="56" name="Text 54"/>
          <p:cNvSpPr/>
          <p:nvPr/>
        </p:nvSpPr>
        <p:spPr>
          <a:xfrm>
            <a:off x="777240" y="6473952"/>
            <a:ext cx="4937760" cy="237744"/>
          </a:xfrm>
          <a:prstGeom prst="rect">
            <a:avLst/>
          </a:prstGeom>
          <a:noFill/>
          <a:ln/>
        </p:spPr>
        <p:txBody>
          <a:bodyPr wrap="square" lIns="0" tIns="0" rIns="0" bIns="0" rtlCol="0" anchor="ctr"/>
          <a:lstStyle/>
          <a:p>
            <a:pPr algn="l" indent="0" marL="0">
              <a:buNone/>
            </a:pPr>
            <a:r>
              <a:rPr lang="en-US" sz="850" dirty="0">
                <a:solidFill>
                  <a:srgbClr val="8E8E8E"/>
                </a:solidFill>
                <a:latin typeface="Calibri" pitchFamily="34" charset="0"/>
                <a:ea typeface="Calibri" pitchFamily="34" charset="-122"/>
                <a:cs typeface="Calibri" pitchFamily="34" charset="-120"/>
              </a:rPr>
              <a:t>Week 2, Not Week 12  ·  Teton PM Challenge</a:t>
            </a:r>
            <a:endParaRPr lang="en-US" sz="850" dirty="0"/>
          </a:p>
        </p:txBody>
      </p:sp>
      <p:sp>
        <p:nvSpPr>
          <p:cNvPr id="57" name="Shape 55"/>
          <p:cNvSpPr/>
          <p:nvPr/>
        </p:nvSpPr>
        <p:spPr>
          <a:xfrm>
            <a:off x="8688629" y="6400800"/>
            <a:ext cx="1689811" cy="274320"/>
          </a:xfrm>
          <a:prstGeom prst="roundRect">
            <a:avLst>
              <a:gd name="adj" fmla="val 50000"/>
            </a:avLst>
          </a:prstGeom>
          <a:solidFill>
            <a:srgbClr val="F4F4F4"/>
          </a:solidFill>
          <a:ln/>
        </p:spPr>
      </p:sp>
      <p:sp>
        <p:nvSpPr>
          <p:cNvPr id="58" name="Text 56"/>
          <p:cNvSpPr/>
          <p:nvPr/>
        </p:nvSpPr>
        <p:spPr>
          <a:xfrm>
            <a:off x="8688629" y="6400800"/>
            <a:ext cx="1689811" cy="274320"/>
          </a:xfrm>
          <a:prstGeom prst="rect">
            <a:avLst/>
          </a:prstGeom>
          <a:noFill/>
          <a:ln/>
        </p:spPr>
        <p:txBody>
          <a:bodyPr wrap="square" lIns="0" tIns="0" rIns="0" bIns="0" rtlCol="0" anchor="ctr"/>
          <a:lstStyle/>
          <a:p>
            <a:pPr algn="ctr" indent="0" marL="0">
              <a:buNone/>
            </a:pPr>
            <a:r>
              <a:rPr lang="en-US" sz="850" b="1" dirty="0">
                <a:solidFill>
                  <a:srgbClr val="5A6CE6"/>
                </a:solidFill>
                <a:latin typeface="Calibri" pitchFamily="34" charset="0"/>
                <a:ea typeface="Calibri" pitchFamily="34" charset="-122"/>
                <a:cs typeface="Calibri" pitchFamily="34" charset="-120"/>
              </a:rPr>
              <a:t>Prompt: Problem / opportunity</a:t>
            </a:r>
            <a:endParaRPr lang="en-US" sz="850" dirty="0"/>
          </a:p>
        </p:txBody>
      </p:sp>
      <p:sp>
        <p:nvSpPr>
          <p:cNvPr id="59" name="Text 57"/>
          <p:cNvSpPr/>
          <p:nvPr/>
        </p:nvSpPr>
        <p:spPr>
          <a:xfrm>
            <a:off x="10515600" y="6473952"/>
            <a:ext cx="896112" cy="237744"/>
          </a:xfrm>
          <a:prstGeom prst="rect">
            <a:avLst/>
          </a:prstGeom>
          <a:noFill/>
          <a:ln/>
        </p:spPr>
        <p:txBody>
          <a:bodyPr wrap="square" lIns="0" tIns="0" rIns="0" bIns="0" rtlCol="0" anchor="ctr"/>
          <a:lstStyle/>
          <a:p>
            <a:pPr algn="r" indent="0" marL="0">
              <a:buNone/>
            </a:pPr>
            <a:r>
              <a:rPr lang="en-US" sz="850" dirty="0">
                <a:solidFill>
                  <a:srgbClr val="8E8E8E"/>
                </a:solidFill>
                <a:latin typeface="Calibri" pitchFamily="34" charset="0"/>
                <a:ea typeface="Calibri" pitchFamily="34" charset="-122"/>
                <a:cs typeface="Calibri" pitchFamily="34" charset="-120"/>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77240" y="338328"/>
            <a:ext cx="109728" cy="109728"/>
          </a:xfrm>
          <a:prstGeom prst="ellipse">
            <a:avLst/>
          </a:prstGeom>
          <a:solidFill>
            <a:srgbClr val="5A6CE6"/>
          </a:solidFill>
          <a:ln/>
        </p:spPr>
      </p:sp>
      <p:sp>
        <p:nvSpPr>
          <p:cNvPr id="3" name="Text 1"/>
          <p:cNvSpPr/>
          <p:nvPr/>
        </p:nvSpPr>
        <p:spPr>
          <a:xfrm>
            <a:off x="978408" y="246888"/>
            <a:ext cx="7315200" cy="292608"/>
          </a:xfrm>
          <a:prstGeom prst="rect">
            <a:avLst/>
          </a:prstGeom>
          <a:noFill/>
          <a:ln/>
        </p:spPr>
        <p:txBody>
          <a:bodyPr wrap="square" lIns="0" tIns="0" rIns="0" bIns="0" rtlCol="0" anchor="ctr"/>
          <a:lstStyle/>
          <a:p>
            <a:pPr algn="l" indent="0" marL="0">
              <a:buNone/>
            </a:pPr>
            <a:r>
              <a:rPr lang="en-US" sz="1100" b="1" spc="200" kern="0" dirty="0">
                <a:solidFill>
                  <a:srgbClr val="8E8E8E"/>
                </a:solidFill>
                <a:latin typeface="Calibri" pitchFamily="34" charset="0"/>
                <a:ea typeface="Calibri" pitchFamily="34" charset="-122"/>
                <a:cs typeface="Calibri" pitchFamily="34" charset="-120"/>
              </a:rPr>
              <a:t>TETON INTERVIEW READOUT   ·   PRIORITIZATION</a:t>
            </a:r>
            <a:endParaRPr lang="en-US" sz="1100" dirty="0"/>
          </a:p>
        </p:txBody>
      </p:sp>
      <p:sp>
        <p:nvSpPr>
          <p:cNvPr id="4" name="Text 2"/>
          <p:cNvSpPr/>
          <p:nvPr/>
        </p:nvSpPr>
        <p:spPr>
          <a:xfrm>
            <a:off x="777240" y="640080"/>
            <a:ext cx="10637215" cy="822960"/>
          </a:xfrm>
          <a:prstGeom prst="rect">
            <a:avLst/>
          </a:prstGeom>
          <a:noFill/>
          <a:ln/>
        </p:spPr>
        <p:txBody>
          <a:bodyPr wrap="square" lIns="0" tIns="0" rIns="0" bIns="0" rtlCol="0" anchor="t"/>
          <a:lstStyle/>
          <a:p>
            <a:pPr algn="l" indent="0" marL="0">
              <a:lnSpc>
                <a:spcPct val="102000"/>
              </a:lnSpc>
              <a:buNone/>
            </a:pPr>
            <a:r>
              <a:rPr lang="en-US" sz="2250" b="1" dirty="0">
                <a:solidFill>
                  <a:srgbClr val="181818"/>
                </a:solidFill>
                <a:latin typeface="Calibri" pitchFamily="34" charset="0"/>
                <a:ea typeface="Calibri" pitchFamily="34" charset="-122"/>
                <a:cs typeface="Calibri" pitchFamily="34" charset="-120"/>
              </a:rPr>
              <a:t>The six-month bet: a nurse-owned review loop — not more alerts, portals, or auto-leveling</a:t>
            </a:r>
            <a:endParaRPr lang="en-US" sz="2250" dirty="0"/>
          </a:p>
        </p:txBody>
      </p:sp>
      <p:sp>
        <p:nvSpPr>
          <p:cNvPr id="5" name="Text 3"/>
          <p:cNvSpPr/>
          <p:nvPr/>
        </p:nvSpPr>
        <p:spPr>
          <a:xfrm>
            <a:off x="777240" y="1426464"/>
            <a:ext cx="10637215" cy="320040"/>
          </a:xfrm>
          <a:prstGeom prst="rect">
            <a:avLst/>
          </a:prstGeom>
          <a:noFill/>
          <a:ln/>
        </p:spPr>
        <p:txBody>
          <a:bodyPr wrap="square" lIns="0" tIns="0" rIns="0" bIns="0" rtlCol="0" anchor="t"/>
          <a:lstStyle/>
          <a:p>
            <a:pPr algn="l" indent="0" marL="0">
              <a:buNone/>
            </a:pPr>
            <a:r>
              <a:rPr lang="en-US" sz="1350" dirty="0">
                <a:solidFill>
                  <a:srgbClr val="8E8E8E"/>
                </a:solidFill>
                <a:latin typeface="Calibri" pitchFamily="34" charset="0"/>
                <a:ea typeface="Calibri" pitchFamily="34" charset="-122"/>
                <a:cs typeface="Calibri" pitchFamily="34" charset="-120"/>
              </a:rPr>
              <a:t>One initiative fits the constraint. Five tempting options don't.</a:t>
            </a:r>
            <a:endParaRPr lang="en-US" sz="1350" dirty="0"/>
          </a:p>
        </p:txBody>
      </p:sp>
      <p:sp>
        <p:nvSpPr>
          <p:cNvPr id="6" name="Shape 4"/>
          <p:cNvSpPr/>
          <p:nvPr/>
        </p:nvSpPr>
        <p:spPr>
          <a:xfrm>
            <a:off x="777240" y="1810512"/>
            <a:ext cx="10637215" cy="420624"/>
          </a:xfrm>
          <a:prstGeom prst="roundRect">
            <a:avLst>
              <a:gd name="adj" fmla="val 21739"/>
            </a:avLst>
          </a:prstGeom>
          <a:solidFill>
            <a:srgbClr val="16181C"/>
          </a:solidFill>
          <a:ln/>
        </p:spPr>
      </p:sp>
      <p:sp>
        <p:nvSpPr>
          <p:cNvPr id="7" name="Text 5"/>
          <p:cNvSpPr/>
          <p:nvPr/>
        </p:nvSpPr>
        <p:spPr>
          <a:xfrm>
            <a:off x="960120" y="1810512"/>
            <a:ext cx="2907792" cy="420624"/>
          </a:xfrm>
          <a:prstGeom prst="rect">
            <a:avLst/>
          </a:prstGeom>
          <a:noFill/>
          <a:ln/>
        </p:spPr>
        <p:txBody>
          <a:bodyPr wrap="square" lIns="0" tIns="0" rIns="0" bIns="0" rtlCol="0" anchor="ctr"/>
          <a:lstStyle/>
          <a:p>
            <a:pPr algn="l" indent="0" marL="0">
              <a:buNone/>
            </a:pPr>
            <a:r>
              <a:rPr lang="en-US" sz="1000" b="1" spc="80" kern="0" dirty="0">
                <a:solidFill>
                  <a:srgbClr val="FFFFFF"/>
                </a:solidFill>
                <a:latin typeface="Calibri" pitchFamily="34" charset="0"/>
                <a:ea typeface="Calibri" pitchFamily="34" charset="-122"/>
                <a:cs typeface="Calibri" pitchFamily="34" charset="-120"/>
              </a:rPr>
              <a:t>OPTION</a:t>
            </a:r>
            <a:endParaRPr lang="en-US" sz="1000" dirty="0"/>
          </a:p>
        </p:txBody>
      </p:sp>
      <p:sp>
        <p:nvSpPr>
          <p:cNvPr id="8" name="Text 6"/>
          <p:cNvSpPr/>
          <p:nvPr/>
        </p:nvSpPr>
        <p:spPr>
          <a:xfrm>
            <a:off x="4160520" y="1810512"/>
            <a:ext cx="2999232" cy="420624"/>
          </a:xfrm>
          <a:prstGeom prst="rect">
            <a:avLst/>
          </a:prstGeom>
          <a:noFill/>
          <a:ln/>
        </p:spPr>
        <p:txBody>
          <a:bodyPr wrap="square" lIns="0" tIns="0" rIns="0" bIns="0" rtlCol="0" anchor="ctr"/>
          <a:lstStyle/>
          <a:p>
            <a:pPr algn="l" indent="0" marL="0">
              <a:buNone/>
            </a:pPr>
            <a:r>
              <a:rPr lang="en-US" sz="1000" b="1" spc="80" kern="0" dirty="0">
                <a:solidFill>
                  <a:srgbClr val="FFFFFF"/>
                </a:solidFill>
                <a:latin typeface="Calibri" pitchFamily="34" charset="0"/>
                <a:ea typeface="Calibri" pitchFamily="34" charset="-122"/>
                <a:cs typeface="Calibri" pitchFamily="34" charset="-120"/>
              </a:rPr>
              <a:t>THE PULL</a:t>
            </a:r>
            <a:endParaRPr lang="en-US" sz="1000" dirty="0"/>
          </a:p>
        </p:txBody>
      </p:sp>
      <p:sp>
        <p:nvSpPr>
          <p:cNvPr id="9" name="Text 7"/>
          <p:cNvSpPr/>
          <p:nvPr/>
        </p:nvSpPr>
        <p:spPr>
          <a:xfrm>
            <a:off x="7452360" y="1810512"/>
            <a:ext cx="3849624" cy="420624"/>
          </a:xfrm>
          <a:prstGeom prst="rect">
            <a:avLst/>
          </a:prstGeom>
          <a:noFill/>
          <a:ln/>
        </p:spPr>
        <p:txBody>
          <a:bodyPr wrap="square" lIns="0" tIns="0" rIns="0" bIns="0" rtlCol="0" anchor="ctr"/>
          <a:lstStyle/>
          <a:p>
            <a:pPr algn="l" indent="0" marL="0">
              <a:buNone/>
            </a:pPr>
            <a:r>
              <a:rPr lang="en-US" sz="1000" b="1" spc="80" kern="0" dirty="0">
                <a:solidFill>
                  <a:srgbClr val="FFFFFF"/>
                </a:solidFill>
                <a:latin typeface="Calibri" pitchFamily="34" charset="0"/>
                <a:ea typeface="Calibri" pitchFamily="34" charset="-122"/>
                <a:cs typeface="Calibri" pitchFamily="34" charset="-120"/>
              </a:rPr>
              <a:t>WHY NOT THE BET</a:t>
            </a:r>
            <a:endParaRPr lang="en-US" sz="1000" dirty="0"/>
          </a:p>
        </p:txBody>
      </p:sp>
      <p:sp>
        <p:nvSpPr>
          <p:cNvPr id="10" name="Shape 8"/>
          <p:cNvSpPr/>
          <p:nvPr/>
        </p:nvSpPr>
        <p:spPr>
          <a:xfrm>
            <a:off x="777240" y="2231136"/>
            <a:ext cx="10637215" cy="475488"/>
          </a:xfrm>
          <a:prstGeom prst="rect">
            <a:avLst/>
          </a:prstGeom>
          <a:solidFill>
            <a:srgbClr val="F4F4F4"/>
          </a:solidFill>
          <a:ln/>
        </p:spPr>
      </p:sp>
      <p:sp>
        <p:nvSpPr>
          <p:cNvPr id="11" name="Text 9"/>
          <p:cNvSpPr/>
          <p:nvPr/>
        </p:nvSpPr>
        <p:spPr>
          <a:xfrm>
            <a:off x="960120" y="2258568"/>
            <a:ext cx="2889504" cy="420624"/>
          </a:xfrm>
          <a:prstGeom prst="rect">
            <a:avLst/>
          </a:prstGeom>
          <a:noFill/>
          <a:ln/>
        </p:spPr>
        <p:txBody>
          <a:bodyPr wrap="square" lIns="0" tIns="0" rIns="0" bIns="0" rtlCol="0" anchor="ctr"/>
          <a:lstStyle/>
          <a:p>
            <a:pPr algn="l" indent="0" marL="0">
              <a:lnSpc>
                <a:spcPct val="102000"/>
              </a:lnSpc>
              <a:buNone/>
            </a:pPr>
            <a:r>
              <a:rPr lang="en-US" sz="1050" b="1" dirty="0">
                <a:solidFill>
                  <a:srgbClr val="181818"/>
                </a:solidFill>
                <a:latin typeface="Calibri" pitchFamily="34" charset="0"/>
                <a:ea typeface="Calibri" pitchFamily="34" charset="-122"/>
                <a:cs typeface="Calibri" pitchFamily="34" charset="-120"/>
              </a:rPr>
              <a:t>Sharpen fall accuracy</a:t>
            </a:r>
            <a:endParaRPr lang="en-US" sz="1050" dirty="0"/>
          </a:p>
        </p:txBody>
      </p:sp>
      <p:sp>
        <p:nvSpPr>
          <p:cNvPr id="12" name="Text 10"/>
          <p:cNvSpPr/>
          <p:nvPr/>
        </p:nvSpPr>
        <p:spPr>
          <a:xfrm>
            <a:off x="4160520" y="2258568"/>
            <a:ext cx="2980944" cy="420624"/>
          </a:xfrm>
          <a:prstGeom prst="rect">
            <a:avLst/>
          </a:prstGeom>
          <a:noFill/>
          <a:ln/>
        </p:spPr>
        <p:txBody>
          <a:bodyPr wrap="square" lIns="0" tIns="0" rIns="0" bIns="0" rtlCol="0" anchor="ctr"/>
          <a:lstStyle/>
          <a:p>
            <a:pPr algn="l" indent="0" marL="0">
              <a:lnSpc>
                <a:spcPct val="102000"/>
              </a:lnSpc>
              <a:buNone/>
            </a:pPr>
            <a:r>
              <a:rPr lang="en-US" sz="1050" dirty="0">
                <a:solidFill>
                  <a:srgbClr val="181818"/>
                </a:solidFill>
                <a:latin typeface="Calibri" pitchFamily="34" charset="0"/>
                <a:ea typeface="Calibri" pitchFamily="34" charset="-122"/>
                <a:cs typeface="Calibri" pitchFamily="34" charset="-120"/>
              </a:rPr>
              <a:t>Rebuild floor-staff trust</a:t>
            </a:r>
            <a:endParaRPr lang="en-US" sz="1050" dirty="0"/>
          </a:p>
        </p:txBody>
      </p:sp>
      <p:sp>
        <p:nvSpPr>
          <p:cNvPr id="13" name="Text 11"/>
          <p:cNvSpPr/>
          <p:nvPr/>
        </p:nvSpPr>
        <p:spPr>
          <a:xfrm>
            <a:off x="7452360" y="2258568"/>
            <a:ext cx="3831336" cy="420624"/>
          </a:xfrm>
          <a:prstGeom prst="rect">
            <a:avLst/>
          </a:prstGeom>
          <a:noFill/>
          <a:ln/>
        </p:spPr>
        <p:txBody>
          <a:bodyPr wrap="square" lIns="0" tIns="0" rIns="0" bIns="0" rtlCol="0" anchor="ctr"/>
          <a:lstStyle/>
          <a:p>
            <a:pPr algn="l" indent="0" marL="0">
              <a:lnSpc>
                <a:spcPct val="102000"/>
              </a:lnSpc>
              <a:buNone/>
            </a:pPr>
            <a:r>
              <a:rPr lang="en-US" sz="1050" dirty="0">
                <a:solidFill>
                  <a:srgbClr val="181818"/>
                </a:solidFill>
                <a:latin typeface="Calibri" pitchFamily="34" charset="0"/>
                <a:ea typeface="Calibri" pitchFamily="34" charset="-122"/>
                <a:cs typeface="Calibri" pitchFamily="34" charset="-120"/>
              </a:rPr>
              <a:t>Incremental; never reaches decision hours</a:t>
            </a:r>
            <a:endParaRPr lang="en-US" sz="1050" dirty="0"/>
          </a:p>
        </p:txBody>
      </p:sp>
      <p:sp>
        <p:nvSpPr>
          <p:cNvPr id="14" name="Shape 12"/>
          <p:cNvSpPr/>
          <p:nvPr/>
        </p:nvSpPr>
        <p:spPr>
          <a:xfrm>
            <a:off x="777240" y="2706624"/>
            <a:ext cx="10637215" cy="0"/>
          </a:xfrm>
          <a:prstGeom prst="line">
            <a:avLst/>
          </a:prstGeom>
          <a:noFill/>
          <a:ln w="9525">
            <a:solidFill>
              <a:srgbClr val="E6E6E6"/>
            </a:solidFill>
            <a:prstDash val="solid"/>
          </a:ln>
        </p:spPr>
      </p:sp>
      <p:sp>
        <p:nvSpPr>
          <p:cNvPr id="15" name="Text 13"/>
          <p:cNvSpPr/>
          <p:nvPr/>
        </p:nvSpPr>
        <p:spPr>
          <a:xfrm>
            <a:off x="960120" y="2734056"/>
            <a:ext cx="2889504" cy="420624"/>
          </a:xfrm>
          <a:prstGeom prst="rect">
            <a:avLst/>
          </a:prstGeom>
          <a:noFill/>
          <a:ln/>
        </p:spPr>
        <p:txBody>
          <a:bodyPr wrap="square" lIns="0" tIns="0" rIns="0" bIns="0" rtlCol="0" anchor="ctr"/>
          <a:lstStyle/>
          <a:p>
            <a:pPr algn="l" indent="0" marL="0">
              <a:lnSpc>
                <a:spcPct val="102000"/>
              </a:lnSpc>
              <a:buNone/>
            </a:pPr>
            <a:r>
              <a:rPr lang="en-US" sz="1050" b="1" dirty="0">
                <a:solidFill>
                  <a:srgbClr val="181818"/>
                </a:solidFill>
                <a:latin typeface="Calibri" pitchFamily="34" charset="0"/>
                <a:ea typeface="Calibri" pitchFamily="34" charset="-122"/>
                <a:cs typeface="Calibri" pitchFamily="34" charset="-120"/>
              </a:rPr>
              <a:t>Day-shift adoption push</a:t>
            </a:r>
            <a:endParaRPr lang="en-US" sz="1050" dirty="0"/>
          </a:p>
        </p:txBody>
      </p:sp>
      <p:sp>
        <p:nvSpPr>
          <p:cNvPr id="16" name="Text 14"/>
          <p:cNvSpPr/>
          <p:nvPr/>
        </p:nvSpPr>
        <p:spPr>
          <a:xfrm>
            <a:off x="4160520" y="2734056"/>
            <a:ext cx="2980944" cy="420624"/>
          </a:xfrm>
          <a:prstGeom prst="rect">
            <a:avLst/>
          </a:prstGeom>
          <a:noFill/>
          <a:ln/>
        </p:spPr>
        <p:txBody>
          <a:bodyPr wrap="square" lIns="0" tIns="0" rIns="0" bIns="0" rtlCol="0" anchor="ctr"/>
          <a:lstStyle/>
          <a:p>
            <a:pPr algn="l" indent="0" marL="0">
              <a:lnSpc>
                <a:spcPct val="102000"/>
              </a:lnSpc>
              <a:buNone/>
            </a:pPr>
            <a:r>
              <a:rPr lang="en-US" sz="1050" dirty="0">
                <a:solidFill>
                  <a:srgbClr val="181818"/>
                </a:solidFill>
                <a:latin typeface="Calibri" pitchFamily="34" charset="0"/>
                <a:ea typeface="Calibri" pitchFamily="34" charset="-122"/>
                <a:cs typeface="Calibri" pitchFamily="34" charset="-120"/>
              </a:rPr>
              <a:t>Marcus asks for exactly this</a:t>
            </a:r>
            <a:endParaRPr lang="en-US" sz="1050" dirty="0"/>
          </a:p>
        </p:txBody>
      </p:sp>
      <p:sp>
        <p:nvSpPr>
          <p:cNvPr id="17" name="Text 15"/>
          <p:cNvSpPr/>
          <p:nvPr/>
        </p:nvSpPr>
        <p:spPr>
          <a:xfrm>
            <a:off x="7452360" y="2734056"/>
            <a:ext cx="3831336" cy="420624"/>
          </a:xfrm>
          <a:prstGeom prst="rect">
            <a:avLst/>
          </a:prstGeom>
          <a:noFill/>
          <a:ln/>
        </p:spPr>
        <p:txBody>
          <a:bodyPr wrap="square" lIns="0" tIns="0" rIns="0" bIns="0" rtlCol="0" anchor="ctr"/>
          <a:lstStyle/>
          <a:p>
            <a:pPr algn="l" indent="0" marL="0">
              <a:lnSpc>
                <a:spcPct val="102000"/>
              </a:lnSpc>
              <a:buNone/>
            </a:pPr>
            <a:r>
              <a:rPr lang="en-US" sz="1050" dirty="0">
                <a:solidFill>
                  <a:srgbClr val="181818"/>
                </a:solidFill>
                <a:latin typeface="Calibri" pitchFamily="34" charset="0"/>
                <a:ea typeface="Calibri" pitchFamily="34" charset="-122"/>
                <a:cs typeface="Calibri" pitchFamily="34" charset="-120"/>
              </a:rPr>
              <a:t>Nothing in the app for day shift yet; logins ≠ decisions</a:t>
            </a:r>
            <a:endParaRPr lang="en-US" sz="1050" dirty="0"/>
          </a:p>
        </p:txBody>
      </p:sp>
      <p:sp>
        <p:nvSpPr>
          <p:cNvPr id="18" name="Shape 16"/>
          <p:cNvSpPr/>
          <p:nvPr/>
        </p:nvSpPr>
        <p:spPr>
          <a:xfrm>
            <a:off x="777240" y="3182112"/>
            <a:ext cx="10637215" cy="475488"/>
          </a:xfrm>
          <a:prstGeom prst="rect">
            <a:avLst/>
          </a:prstGeom>
          <a:solidFill>
            <a:srgbClr val="F4F4F4"/>
          </a:solidFill>
          <a:ln/>
        </p:spPr>
      </p:sp>
      <p:sp>
        <p:nvSpPr>
          <p:cNvPr id="19" name="Shape 17"/>
          <p:cNvSpPr/>
          <p:nvPr/>
        </p:nvSpPr>
        <p:spPr>
          <a:xfrm>
            <a:off x="777240" y="3182112"/>
            <a:ext cx="10637215" cy="0"/>
          </a:xfrm>
          <a:prstGeom prst="line">
            <a:avLst/>
          </a:prstGeom>
          <a:noFill/>
          <a:ln w="9525">
            <a:solidFill>
              <a:srgbClr val="E6E6E6"/>
            </a:solidFill>
            <a:prstDash val="solid"/>
          </a:ln>
        </p:spPr>
      </p:sp>
      <p:sp>
        <p:nvSpPr>
          <p:cNvPr id="20" name="Text 18"/>
          <p:cNvSpPr/>
          <p:nvPr/>
        </p:nvSpPr>
        <p:spPr>
          <a:xfrm>
            <a:off x="960120" y="3209544"/>
            <a:ext cx="2889504" cy="420624"/>
          </a:xfrm>
          <a:prstGeom prst="rect">
            <a:avLst/>
          </a:prstGeom>
          <a:noFill/>
          <a:ln/>
        </p:spPr>
        <p:txBody>
          <a:bodyPr wrap="square" lIns="0" tIns="0" rIns="0" bIns="0" rtlCol="0" anchor="ctr"/>
          <a:lstStyle/>
          <a:p>
            <a:pPr algn="l" indent="0" marL="0">
              <a:lnSpc>
                <a:spcPct val="102000"/>
              </a:lnSpc>
              <a:buNone/>
            </a:pPr>
            <a:r>
              <a:rPr lang="en-US" sz="1050" b="1" dirty="0">
                <a:solidFill>
                  <a:srgbClr val="181818"/>
                </a:solidFill>
                <a:latin typeface="Calibri" pitchFamily="34" charset="0"/>
                <a:ea typeface="Calibri" pitchFamily="34" charset="-122"/>
                <a:cs typeface="Calibri" pitchFamily="34" charset="-120"/>
              </a:rPr>
              <a:t>Family live-view portal</a:t>
            </a:r>
            <a:endParaRPr lang="en-US" sz="1050" dirty="0"/>
          </a:p>
        </p:txBody>
      </p:sp>
      <p:sp>
        <p:nvSpPr>
          <p:cNvPr id="21" name="Text 19"/>
          <p:cNvSpPr/>
          <p:nvPr/>
        </p:nvSpPr>
        <p:spPr>
          <a:xfrm>
            <a:off x="4160520" y="3209544"/>
            <a:ext cx="2980944" cy="420624"/>
          </a:xfrm>
          <a:prstGeom prst="rect">
            <a:avLst/>
          </a:prstGeom>
          <a:noFill/>
          <a:ln/>
        </p:spPr>
        <p:txBody>
          <a:bodyPr wrap="square" lIns="0" tIns="0" rIns="0" bIns="0" rtlCol="0" anchor="ctr"/>
          <a:lstStyle/>
          <a:p>
            <a:pPr algn="l" indent="0" marL="0">
              <a:lnSpc>
                <a:spcPct val="102000"/>
              </a:lnSpc>
              <a:buNone/>
            </a:pPr>
            <a:r>
              <a:rPr lang="en-US" sz="1050" dirty="0">
                <a:solidFill>
                  <a:srgbClr val="181818"/>
                </a:solidFill>
                <a:latin typeface="Calibri" pitchFamily="34" charset="0"/>
                <a:ea typeface="Calibri" pitchFamily="34" charset="-122"/>
                <a:cs typeface="Calibri" pitchFamily="34" charset="-120"/>
              </a:rPr>
              <a:t>Adult kids keep asking</a:t>
            </a:r>
            <a:endParaRPr lang="en-US" sz="1050" dirty="0"/>
          </a:p>
        </p:txBody>
      </p:sp>
      <p:sp>
        <p:nvSpPr>
          <p:cNvPr id="22" name="Text 20"/>
          <p:cNvSpPr/>
          <p:nvPr/>
        </p:nvSpPr>
        <p:spPr>
          <a:xfrm>
            <a:off x="7452360" y="3209544"/>
            <a:ext cx="3831336" cy="420624"/>
          </a:xfrm>
          <a:prstGeom prst="rect">
            <a:avLst/>
          </a:prstGeom>
          <a:noFill/>
          <a:ln/>
        </p:spPr>
        <p:txBody>
          <a:bodyPr wrap="square" lIns="0" tIns="0" rIns="0" bIns="0" rtlCol="0" anchor="ctr"/>
          <a:lstStyle/>
          <a:p>
            <a:pPr algn="l" indent="0" marL="0">
              <a:lnSpc>
                <a:spcPct val="102000"/>
              </a:lnSpc>
              <a:buNone/>
            </a:pPr>
            <a:r>
              <a:rPr lang="en-US" sz="1050" dirty="0">
                <a:solidFill>
                  <a:srgbClr val="181818"/>
                </a:solidFill>
                <a:latin typeface="Calibri" pitchFamily="34" charset="0"/>
                <a:ea typeface="Calibri" pitchFamily="34" charset="-122"/>
                <a:cs typeface="Calibri" pitchFamily="34" charset="-120"/>
              </a:rPr>
              <a:t>Surveillance backlash, consent burden; off-brand for privacy-first</a:t>
            </a:r>
            <a:endParaRPr lang="en-US" sz="1050" dirty="0"/>
          </a:p>
        </p:txBody>
      </p:sp>
      <p:sp>
        <p:nvSpPr>
          <p:cNvPr id="23" name="Shape 21"/>
          <p:cNvSpPr/>
          <p:nvPr/>
        </p:nvSpPr>
        <p:spPr>
          <a:xfrm>
            <a:off x="777240" y="3657600"/>
            <a:ext cx="10637215" cy="0"/>
          </a:xfrm>
          <a:prstGeom prst="line">
            <a:avLst/>
          </a:prstGeom>
          <a:noFill/>
          <a:ln w="9525">
            <a:solidFill>
              <a:srgbClr val="E6E6E6"/>
            </a:solidFill>
            <a:prstDash val="solid"/>
          </a:ln>
        </p:spPr>
      </p:sp>
      <p:sp>
        <p:nvSpPr>
          <p:cNvPr id="24" name="Text 22"/>
          <p:cNvSpPr/>
          <p:nvPr/>
        </p:nvSpPr>
        <p:spPr>
          <a:xfrm>
            <a:off x="960120" y="3685032"/>
            <a:ext cx="2889504" cy="420624"/>
          </a:xfrm>
          <a:prstGeom prst="rect">
            <a:avLst/>
          </a:prstGeom>
          <a:noFill/>
          <a:ln/>
        </p:spPr>
        <p:txBody>
          <a:bodyPr wrap="square" lIns="0" tIns="0" rIns="0" bIns="0" rtlCol="0" anchor="ctr"/>
          <a:lstStyle/>
          <a:p>
            <a:pPr algn="l" indent="0" marL="0">
              <a:lnSpc>
                <a:spcPct val="102000"/>
              </a:lnSpc>
              <a:buNone/>
            </a:pPr>
            <a:r>
              <a:rPr lang="en-US" sz="1050" b="1" dirty="0">
                <a:solidFill>
                  <a:srgbClr val="181818"/>
                </a:solidFill>
                <a:latin typeface="Calibri" pitchFamily="34" charset="0"/>
                <a:ea typeface="Calibri" pitchFamily="34" charset="-122"/>
                <a:cs typeface="Calibri" pitchFamily="34" charset="-120"/>
              </a:rPr>
              <a:t>Full multi-EHR integration</a:t>
            </a:r>
            <a:endParaRPr lang="en-US" sz="1050" dirty="0"/>
          </a:p>
        </p:txBody>
      </p:sp>
      <p:sp>
        <p:nvSpPr>
          <p:cNvPr id="25" name="Text 23"/>
          <p:cNvSpPr/>
          <p:nvPr/>
        </p:nvSpPr>
        <p:spPr>
          <a:xfrm>
            <a:off x="4160520" y="3685032"/>
            <a:ext cx="2980944" cy="420624"/>
          </a:xfrm>
          <a:prstGeom prst="rect">
            <a:avLst/>
          </a:prstGeom>
          <a:noFill/>
          <a:ln/>
        </p:spPr>
        <p:txBody>
          <a:bodyPr wrap="square" lIns="0" tIns="0" rIns="0" bIns="0" rtlCol="0" anchor="ctr"/>
          <a:lstStyle/>
          <a:p>
            <a:pPr algn="l" indent="0" marL="0">
              <a:lnSpc>
                <a:spcPct val="102000"/>
              </a:lnSpc>
              <a:buNone/>
            </a:pPr>
            <a:r>
              <a:rPr lang="en-US" sz="1050" dirty="0">
                <a:solidFill>
                  <a:srgbClr val="181818"/>
                </a:solidFill>
                <a:latin typeface="Calibri" pitchFamily="34" charset="0"/>
                <a:ea typeface="Calibri" pitchFamily="34" charset="-122"/>
                <a:cs typeface="Calibri" pitchFamily="34" charset="-120"/>
              </a:rPr>
              <a:t>The EHR is the record</a:t>
            </a:r>
            <a:endParaRPr lang="en-US" sz="1050" dirty="0"/>
          </a:p>
        </p:txBody>
      </p:sp>
      <p:sp>
        <p:nvSpPr>
          <p:cNvPr id="26" name="Text 24"/>
          <p:cNvSpPr/>
          <p:nvPr/>
        </p:nvSpPr>
        <p:spPr>
          <a:xfrm>
            <a:off x="7452360" y="3685032"/>
            <a:ext cx="3831336" cy="420624"/>
          </a:xfrm>
          <a:prstGeom prst="rect">
            <a:avLst/>
          </a:prstGeom>
          <a:noFill/>
          <a:ln/>
        </p:spPr>
        <p:txBody>
          <a:bodyPr wrap="square" lIns="0" tIns="0" rIns="0" bIns="0" rtlCol="0" anchor="ctr"/>
          <a:lstStyle/>
          <a:p>
            <a:pPr algn="l" indent="0" marL="0">
              <a:lnSpc>
                <a:spcPct val="102000"/>
              </a:lnSpc>
              <a:buNone/>
            </a:pPr>
            <a:r>
              <a:rPr lang="en-US" sz="1050" dirty="0">
                <a:solidFill>
                  <a:srgbClr val="181818"/>
                </a:solidFill>
                <a:latin typeface="Calibri" pitchFamily="34" charset="0"/>
                <a:ea typeface="Calibri" pitchFamily="34" charset="-122"/>
                <a:cs typeface="Calibri" pitchFamily="34" charset="-120"/>
              </a:rPr>
              <a:t>A dozen EHRs — a platform program, not a 6-month bet</a:t>
            </a:r>
            <a:endParaRPr lang="en-US" sz="1050" dirty="0"/>
          </a:p>
        </p:txBody>
      </p:sp>
      <p:sp>
        <p:nvSpPr>
          <p:cNvPr id="27" name="Shape 25"/>
          <p:cNvSpPr/>
          <p:nvPr/>
        </p:nvSpPr>
        <p:spPr>
          <a:xfrm>
            <a:off x="777240" y="4133088"/>
            <a:ext cx="10637215" cy="475488"/>
          </a:xfrm>
          <a:prstGeom prst="rect">
            <a:avLst/>
          </a:prstGeom>
          <a:solidFill>
            <a:srgbClr val="F4F4F4"/>
          </a:solidFill>
          <a:ln/>
        </p:spPr>
      </p:sp>
      <p:sp>
        <p:nvSpPr>
          <p:cNvPr id="28" name="Shape 26"/>
          <p:cNvSpPr/>
          <p:nvPr/>
        </p:nvSpPr>
        <p:spPr>
          <a:xfrm>
            <a:off x="777240" y="4133088"/>
            <a:ext cx="10637215" cy="0"/>
          </a:xfrm>
          <a:prstGeom prst="line">
            <a:avLst/>
          </a:prstGeom>
          <a:noFill/>
          <a:ln w="9525">
            <a:solidFill>
              <a:srgbClr val="E6E6E6"/>
            </a:solidFill>
            <a:prstDash val="solid"/>
          </a:ln>
        </p:spPr>
      </p:sp>
      <p:sp>
        <p:nvSpPr>
          <p:cNvPr id="29" name="Text 27"/>
          <p:cNvSpPr/>
          <p:nvPr/>
        </p:nvSpPr>
        <p:spPr>
          <a:xfrm>
            <a:off x="960120" y="4160520"/>
            <a:ext cx="2889504" cy="420624"/>
          </a:xfrm>
          <a:prstGeom prst="rect">
            <a:avLst/>
          </a:prstGeom>
          <a:noFill/>
          <a:ln/>
        </p:spPr>
        <p:txBody>
          <a:bodyPr wrap="square" lIns="0" tIns="0" rIns="0" bIns="0" rtlCol="0" anchor="ctr"/>
          <a:lstStyle/>
          <a:p>
            <a:pPr algn="l" indent="0" marL="0">
              <a:lnSpc>
                <a:spcPct val="102000"/>
              </a:lnSpc>
              <a:buNone/>
            </a:pPr>
            <a:r>
              <a:rPr lang="en-US" sz="1050" b="1" dirty="0">
                <a:solidFill>
                  <a:srgbClr val="181818"/>
                </a:solidFill>
                <a:latin typeface="Calibri" pitchFamily="34" charset="0"/>
                <a:ea typeface="Calibri" pitchFamily="34" charset="-122"/>
                <a:cs typeface="Calibri" pitchFamily="34" charset="-120"/>
              </a:rPr>
              <a:t>Auto care-level recommendation</a:t>
            </a:r>
            <a:endParaRPr lang="en-US" sz="1050" dirty="0"/>
          </a:p>
        </p:txBody>
      </p:sp>
      <p:sp>
        <p:nvSpPr>
          <p:cNvPr id="30" name="Text 28"/>
          <p:cNvSpPr/>
          <p:nvPr/>
        </p:nvSpPr>
        <p:spPr>
          <a:xfrm>
            <a:off x="4160520" y="4160520"/>
            <a:ext cx="2980944" cy="420624"/>
          </a:xfrm>
          <a:prstGeom prst="rect">
            <a:avLst/>
          </a:prstGeom>
          <a:noFill/>
          <a:ln/>
        </p:spPr>
        <p:txBody>
          <a:bodyPr wrap="square" lIns="0" tIns="0" rIns="0" bIns="0" rtlCol="0" anchor="ctr"/>
          <a:lstStyle/>
          <a:p>
            <a:pPr algn="l" indent="0" marL="0">
              <a:lnSpc>
                <a:spcPct val="102000"/>
              </a:lnSpc>
              <a:buNone/>
            </a:pPr>
            <a:r>
              <a:rPr lang="en-US" sz="1050" dirty="0">
                <a:solidFill>
                  <a:srgbClr val="181818"/>
                </a:solidFill>
                <a:latin typeface="Calibri" pitchFamily="34" charset="0"/>
                <a:ea typeface="Calibri" pitchFamily="34" charset="-122"/>
                <a:cs typeface="Calibri" pitchFamily="34" charset="-120"/>
              </a:rPr>
              <a:t>Maps straight to the money pain</a:t>
            </a:r>
            <a:endParaRPr lang="en-US" sz="1050" dirty="0"/>
          </a:p>
        </p:txBody>
      </p:sp>
      <p:sp>
        <p:nvSpPr>
          <p:cNvPr id="31" name="Text 29"/>
          <p:cNvSpPr/>
          <p:nvPr/>
        </p:nvSpPr>
        <p:spPr>
          <a:xfrm>
            <a:off x="7452360" y="4160520"/>
            <a:ext cx="3831336" cy="420624"/>
          </a:xfrm>
          <a:prstGeom prst="rect">
            <a:avLst/>
          </a:prstGeom>
          <a:noFill/>
          <a:ln/>
        </p:spPr>
        <p:txBody>
          <a:bodyPr wrap="square" lIns="0" tIns="0" rIns="0" bIns="0" rtlCol="0" anchor="ctr"/>
          <a:lstStyle/>
          <a:p>
            <a:pPr algn="l" indent="0" marL="0">
              <a:lnSpc>
                <a:spcPct val="102000"/>
              </a:lnSpc>
              <a:buNone/>
            </a:pPr>
            <a:r>
              <a:rPr lang="en-US" sz="1050" dirty="0">
                <a:solidFill>
                  <a:srgbClr val="181818"/>
                </a:solidFill>
                <a:latin typeface="Calibri" pitchFamily="34" charset="0"/>
                <a:ea typeface="Calibri" pitchFamily="34" charset="-122"/>
                <a:cs typeface="Calibri" pitchFamily="34" charset="-120"/>
              </a:rPr>
              <a:t>“The algorithm raised mom's bill” — kills family &amp; clinical trust</a:t>
            </a:r>
            <a:endParaRPr lang="en-US" sz="1050" dirty="0"/>
          </a:p>
        </p:txBody>
      </p:sp>
      <p:sp>
        <p:nvSpPr>
          <p:cNvPr id="32" name="Shape 30"/>
          <p:cNvSpPr/>
          <p:nvPr/>
        </p:nvSpPr>
        <p:spPr>
          <a:xfrm>
            <a:off x="777240" y="4636008"/>
            <a:ext cx="10637215" cy="420624"/>
          </a:xfrm>
          <a:prstGeom prst="roundRect">
            <a:avLst>
              <a:gd name="adj" fmla="val 21739"/>
            </a:avLst>
          </a:prstGeom>
          <a:solidFill>
            <a:srgbClr val="BCEFCB"/>
          </a:solidFill>
          <a:ln w="19050">
            <a:solidFill>
              <a:srgbClr val="5A6CE6"/>
            </a:solidFill>
            <a:prstDash val="solid"/>
          </a:ln>
          <a:effectLst>
            <a:outerShdw sx="100000" sy="100000" kx="0" ky="0" algn="bl" rotWithShape="0" blurRad="114300" dist="38100" dir="5400000">
              <a:srgbClr val="20232A">
                <a:alpha val="10000"/>
              </a:srgbClr>
            </a:outerShdw>
          </a:effectLst>
        </p:spPr>
      </p:sp>
      <p:sp>
        <p:nvSpPr>
          <p:cNvPr id="33" name="Text 31"/>
          <p:cNvSpPr/>
          <p:nvPr/>
        </p:nvSpPr>
        <p:spPr>
          <a:xfrm>
            <a:off x="960120" y="4636008"/>
            <a:ext cx="2889504" cy="420624"/>
          </a:xfrm>
          <a:prstGeom prst="rect">
            <a:avLst/>
          </a:prstGeom>
          <a:noFill/>
          <a:ln/>
        </p:spPr>
        <p:txBody>
          <a:bodyPr wrap="square" lIns="0" tIns="0" rIns="0" bIns="0" rtlCol="0" anchor="ctr"/>
          <a:lstStyle/>
          <a:p>
            <a:pPr algn="l" indent="0" marL="0">
              <a:lnSpc>
                <a:spcPct val="102000"/>
              </a:lnSpc>
              <a:buNone/>
            </a:pPr>
            <a:r>
              <a:rPr lang="en-US" sz="1050" b="1" dirty="0">
                <a:solidFill>
                  <a:srgbClr val="181818"/>
                </a:solidFill>
                <a:latin typeface="Calibri" pitchFamily="34" charset="0"/>
                <a:ea typeface="Calibri" pitchFamily="34" charset="-122"/>
                <a:cs typeface="Calibri" pitchFamily="34" charset="-120"/>
              </a:rPr>
              <a:t>Change-of-Condition Review Loop  ✓</a:t>
            </a:r>
            <a:endParaRPr lang="en-US" sz="1050" dirty="0"/>
          </a:p>
        </p:txBody>
      </p:sp>
      <p:sp>
        <p:nvSpPr>
          <p:cNvPr id="34" name="Text 32"/>
          <p:cNvSpPr/>
          <p:nvPr/>
        </p:nvSpPr>
        <p:spPr>
          <a:xfrm>
            <a:off x="4160520" y="4636008"/>
            <a:ext cx="2980944" cy="420624"/>
          </a:xfrm>
          <a:prstGeom prst="rect">
            <a:avLst/>
          </a:prstGeom>
          <a:noFill/>
          <a:ln/>
        </p:spPr>
        <p:txBody>
          <a:bodyPr wrap="square" lIns="0" tIns="0" rIns="0" bIns="0" rtlCol="0" anchor="ctr"/>
          <a:lstStyle/>
          <a:p>
            <a:pPr algn="l" indent="0" marL="0">
              <a:lnSpc>
                <a:spcPct val="102000"/>
              </a:lnSpc>
              <a:buNone/>
            </a:pPr>
            <a:r>
              <a:rPr lang="en-US" sz="1050" b="1" dirty="0">
                <a:solidFill>
                  <a:srgbClr val="181818"/>
                </a:solidFill>
                <a:latin typeface="Calibri" pitchFamily="34" charset="0"/>
                <a:ea typeface="Calibri" pitchFamily="34" charset="-122"/>
                <a:cs typeface="Calibri" pitchFamily="34" charset="-120"/>
              </a:rPr>
              <a:t>Turns signals Teton already has into owned, documented decisions</a:t>
            </a:r>
            <a:endParaRPr lang="en-US" sz="1050" dirty="0"/>
          </a:p>
        </p:txBody>
      </p:sp>
      <p:sp>
        <p:nvSpPr>
          <p:cNvPr id="35" name="Text 33"/>
          <p:cNvSpPr/>
          <p:nvPr/>
        </p:nvSpPr>
        <p:spPr>
          <a:xfrm>
            <a:off x="7452360" y="4636008"/>
            <a:ext cx="3831336" cy="420624"/>
          </a:xfrm>
          <a:prstGeom prst="rect">
            <a:avLst/>
          </a:prstGeom>
          <a:noFill/>
          <a:ln/>
        </p:spPr>
        <p:txBody>
          <a:bodyPr wrap="square" lIns="0" tIns="0" rIns="0" bIns="0" rtlCol="0" anchor="ctr"/>
          <a:lstStyle/>
          <a:p>
            <a:pPr algn="l" indent="0" marL="0">
              <a:lnSpc>
                <a:spcPct val="102000"/>
              </a:lnSpc>
              <a:buNone/>
            </a:pPr>
            <a:r>
              <a:rPr lang="en-US" sz="1050" b="1" dirty="0">
                <a:solidFill>
                  <a:srgbClr val="181818"/>
                </a:solidFill>
                <a:latin typeface="Calibri" pitchFamily="34" charset="0"/>
                <a:ea typeface="Calibri" pitchFamily="34" charset="-122"/>
                <a:cs typeface="Calibri" pitchFamily="34" charset="-120"/>
              </a:rPr>
              <a:t>Bounded, testable; rides the live August integration</a:t>
            </a:r>
            <a:endParaRPr lang="en-US" sz="1050" dirty="0"/>
          </a:p>
        </p:txBody>
      </p:sp>
      <p:sp>
        <p:nvSpPr>
          <p:cNvPr id="36" name="Shape 34"/>
          <p:cNvSpPr/>
          <p:nvPr/>
        </p:nvSpPr>
        <p:spPr>
          <a:xfrm>
            <a:off x="777240" y="5175504"/>
            <a:ext cx="10637215" cy="566928"/>
          </a:xfrm>
          <a:prstGeom prst="roundRect">
            <a:avLst>
              <a:gd name="adj" fmla="val 19355"/>
            </a:avLst>
          </a:prstGeom>
          <a:solidFill>
            <a:srgbClr val="000000"/>
          </a:solidFill>
          <a:ln/>
        </p:spPr>
      </p:sp>
      <p:sp>
        <p:nvSpPr>
          <p:cNvPr id="37" name="Text 35"/>
          <p:cNvSpPr/>
          <p:nvPr/>
        </p:nvSpPr>
        <p:spPr>
          <a:xfrm>
            <a:off x="1097280" y="5175504"/>
            <a:ext cx="9997135" cy="566928"/>
          </a:xfrm>
          <a:prstGeom prst="rect">
            <a:avLst/>
          </a:prstGeom>
          <a:noFill/>
          <a:ln/>
        </p:spPr>
        <p:txBody>
          <a:bodyPr wrap="square" lIns="0" tIns="0" rIns="0" bIns="0" rtlCol="0" anchor="ctr"/>
          <a:lstStyle/>
          <a:p>
            <a:pPr algn="l" indent="0" marL="0">
              <a:lnSpc>
                <a:spcPct val="102000"/>
              </a:lnSpc>
              <a:buNone/>
            </a:pPr>
            <a:r>
              <a:rPr lang="en-US" sz="1250" b="1" dirty="0">
                <a:solidFill>
                  <a:srgbClr val="FFFFFF"/>
                </a:solidFill>
                <a:latin typeface="Calibri" pitchFamily="34" charset="0"/>
                <a:ea typeface="Calibri" pitchFamily="34" charset="-122"/>
                <a:cs typeface="Calibri" pitchFamily="34" charset="-120"/>
              </a:rPr>
              <a:t>Teton surfaces evidence that a resident may need review. A nurse decides. Never a care-level or billing recommendation.</a:t>
            </a:r>
            <a:endParaRPr lang="en-US" sz="1250" dirty="0"/>
          </a:p>
        </p:txBody>
      </p:sp>
      <p:sp>
        <p:nvSpPr>
          <p:cNvPr id="38" name="Text 36"/>
          <p:cNvSpPr/>
          <p:nvPr/>
        </p:nvSpPr>
        <p:spPr>
          <a:xfrm>
            <a:off x="777240" y="5888736"/>
            <a:ext cx="10637215" cy="457200"/>
          </a:xfrm>
          <a:prstGeom prst="rect">
            <a:avLst/>
          </a:prstGeom>
          <a:noFill/>
          <a:ln/>
        </p:spPr>
        <p:txBody>
          <a:bodyPr wrap="square" lIns="0" tIns="0" rIns="0" bIns="0" rtlCol="0" anchor="t"/>
          <a:lstStyle/>
          <a:p>
            <a:pPr algn="l" indent="0" marL="0">
              <a:lnSpc>
                <a:spcPct val="110000"/>
              </a:lnSpc>
              <a:buNone/>
            </a:pPr>
            <a:r>
              <a:rPr lang="en-US" sz="1050" b="1" dirty="0">
                <a:solidFill>
                  <a:srgbClr val="181818"/>
                </a:solidFill>
                <a:latin typeface="Calibri" pitchFamily="34" charset="0"/>
                <a:ea typeface="Calibri" pitchFamily="34" charset="-122"/>
                <a:cs typeface="Calibri" pitchFamily="34" charset="-120"/>
              </a:rPr>
              <a:t>Marcus: </a:t>
            </a:r>
            <a:pPr algn="l" indent="0" marL="0">
              <a:lnSpc>
                <a:spcPct val="110000"/>
              </a:lnSpc>
              <a:buNone/>
            </a:pPr>
            <a:r>
              <a:rPr lang="en-US" sz="1050" i="1" dirty="0">
                <a:solidFill>
                  <a:srgbClr val="8E8E8E"/>
                </a:solidFill>
                <a:latin typeface="Calibri" pitchFamily="34" charset="0"/>
                <a:ea typeface="Calibri" pitchFamily="34" charset="-122"/>
                <a:cs typeface="Calibri" pitchFamily="34" charset="-120"/>
              </a:rPr>
              <a:t>“You can't build the fancy thing if half my staff don't log in.”   </a:t>
            </a:r>
            <a:pPr algn="l" indent="0" marL="0">
              <a:lnSpc>
                <a:spcPct val="110000"/>
              </a:lnSpc>
              <a:buNone/>
            </a:pPr>
            <a:r>
              <a:rPr lang="en-US" sz="1050" b="1" dirty="0">
                <a:solidFill>
                  <a:srgbClr val="181818"/>
                </a:solidFill>
                <a:latin typeface="Calibri" pitchFamily="34" charset="0"/>
                <a:ea typeface="Calibri" pitchFamily="34" charset="-122"/>
                <a:cs typeface="Calibri" pitchFamily="34" charset="-120"/>
              </a:rPr>
              <a:t>Dana: </a:t>
            </a:r>
            <a:pPr algn="l" indent="0" marL="0">
              <a:lnSpc>
                <a:spcPct val="110000"/>
              </a:lnSpc>
              <a:buNone/>
            </a:pPr>
            <a:r>
              <a:rPr lang="en-US" sz="1050" i="1" dirty="0">
                <a:solidFill>
                  <a:srgbClr val="8E8E8E"/>
                </a:solidFill>
                <a:latin typeface="Calibri" pitchFamily="34" charset="0"/>
                <a:ea typeface="Calibri" pitchFamily="34" charset="-122"/>
                <a:cs typeface="Calibri" pitchFamily="34" charset="-120"/>
              </a:rPr>
              <a:t>“Maybe the valuable thing is what gets them to log in.”</a:t>
            </a:r>
            <a:pPr algn="l" indent="0" marL="0">
              <a:lnSpc>
                <a:spcPct val="110000"/>
              </a:lnSpc>
              <a:buNone/>
            </a:pPr>
            <a:r>
              <a:rPr lang="en-US" sz="1050" dirty="0">
                <a:solidFill>
                  <a:srgbClr val="8E8E8E"/>
                </a:solidFill>
                <a:latin typeface="Calibri" pitchFamily="34" charset="0"/>
                <a:ea typeface="Calibri" pitchFamily="34" charset="-122"/>
                <a:cs typeface="Calibri" pitchFamily="34" charset="-120"/>
              </a:rPr>
              <a:t>  The bet honors both — the adoption surface is one nurse, not a shift.</a:t>
            </a:r>
            <a:endParaRPr lang="en-US" sz="1050" dirty="0"/>
          </a:p>
        </p:txBody>
      </p:sp>
      <p:sp>
        <p:nvSpPr>
          <p:cNvPr id="39" name="Text 37"/>
          <p:cNvSpPr/>
          <p:nvPr/>
        </p:nvSpPr>
        <p:spPr>
          <a:xfrm>
            <a:off x="777240" y="6473952"/>
            <a:ext cx="4937760" cy="237744"/>
          </a:xfrm>
          <a:prstGeom prst="rect">
            <a:avLst/>
          </a:prstGeom>
          <a:noFill/>
          <a:ln/>
        </p:spPr>
        <p:txBody>
          <a:bodyPr wrap="square" lIns="0" tIns="0" rIns="0" bIns="0" rtlCol="0" anchor="ctr"/>
          <a:lstStyle/>
          <a:p>
            <a:pPr algn="l" indent="0" marL="0">
              <a:buNone/>
            </a:pPr>
            <a:r>
              <a:rPr lang="en-US" sz="850" dirty="0">
                <a:solidFill>
                  <a:srgbClr val="8E8E8E"/>
                </a:solidFill>
                <a:latin typeface="Calibri" pitchFamily="34" charset="0"/>
                <a:ea typeface="Calibri" pitchFamily="34" charset="-122"/>
                <a:cs typeface="Calibri" pitchFamily="34" charset="-120"/>
              </a:rPr>
              <a:t>Week 2, Not Week 12  ·  Teton PM Challenge</a:t>
            </a:r>
            <a:endParaRPr lang="en-US" sz="850" dirty="0"/>
          </a:p>
        </p:txBody>
      </p:sp>
      <p:sp>
        <p:nvSpPr>
          <p:cNvPr id="40" name="Shape 38"/>
          <p:cNvSpPr/>
          <p:nvPr/>
        </p:nvSpPr>
        <p:spPr>
          <a:xfrm>
            <a:off x="7602322" y="6400800"/>
            <a:ext cx="1166774" cy="274320"/>
          </a:xfrm>
          <a:prstGeom prst="roundRect">
            <a:avLst>
              <a:gd name="adj" fmla="val 50000"/>
            </a:avLst>
          </a:prstGeom>
          <a:solidFill>
            <a:srgbClr val="F4F4F4"/>
          </a:solidFill>
          <a:ln/>
        </p:spPr>
      </p:sp>
      <p:sp>
        <p:nvSpPr>
          <p:cNvPr id="41" name="Text 39"/>
          <p:cNvSpPr/>
          <p:nvPr/>
        </p:nvSpPr>
        <p:spPr>
          <a:xfrm>
            <a:off x="7602322" y="6400800"/>
            <a:ext cx="1166774" cy="274320"/>
          </a:xfrm>
          <a:prstGeom prst="rect">
            <a:avLst/>
          </a:prstGeom>
          <a:noFill/>
          <a:ln/>
        </p:spPr>
        <p:txBody>
          <a:bodyPr wrap="square" lIns="0" tIns="0" rIns="0" bIns="0" rtlCol="0" anchor="ctr"/>
          <a:lstStyle/>
          <a:p>
            <a:pPr algn="ctr" indent="0" marL="0">
              <a:buNone/>
            </a:pPr>
            <a:r>
              <a:rPr lang="en-US" sz="850" b="1" dirty="0">
                <a:solidFill>
                  <a:srgbClr val="5A6CE6"/>
                </a:solidFill>
                <a:latin typeface="Calibri" pitchFamily="34" charset="0"/>
                <a:ea typeface="Calibri" pitchFamily="34" charset="-122"/>
                <a:cs typeface="Calibri" pitchFamily="34" charset="-120"/>
              </a:rPr>
              <a:t>Prompt: Focus area</a:t>
            </a:r>
            <a:endParaRPr lang="en-US" sz="850" dirty="0"/>
          </a:p>
        </p:txBody>
      </p:sp>
      <p:sp>
        <p:nvSpPr>
          <p:cNvPr id="42" name="Shape 40"/>
          <p:cNvSpPr/>
          <p:nvPr/>
        </p:nvSpPr>
        <p:spPr>
          <a:xfrm>
            <a:off x="8878824" y="6400800"/>
            <a:ext cx="1499616" cy="274320"/>
          </a:xfrm>
          <a:prstGeom prst="roundRect">
            <a:avLst>
              <a:gd name="adj" fmla="val 50000"/>
            </a:avLst>
          </a:prstGeom>
          <a:solidFill>
            <a:srgbClr val="F4F4F4"/>
          </a:solidFill>
          <a:ln/>
        </p:spPr>
      </p:sp>
      <p:sp>
        <p:nvSpPr>
          <p:cNvPr id="43" name="Text 41"/>
          <p:cNvSpPr/>
          <p:nvPr/>
        </p:nvSpPr>
        <p:spPr>
          <a:xfrm>
            <a:off x="8878824" y="6400800"/>
            <a:ext cx="1499616" cy="274320"/>
          </a:xfrm>
          <a:prstGeom prst="rect">
            <a:avLst/>
          </a:prstGeom>
          <a:noFill/>
          <a:ln/>
        </p:spPr>
        <p:txBody>
          <a:bodyPr wrap="square" lIns="0" tIns="0" rIns="0" bIns="0" rtlCol="0" anchor="ctr"/>
          <a:lstStyle/>
          <a:p>
            <a:pPr algn="ctr" indent="0" marL="0">
              <a:buNone/>
            </a:pPr>
            <a:r>
              <a:rPr lang="en-US" sz="850" b="1" dirty="0">
                <a:solidFill>
                  <a:srgbClr val="5A6CE6"/>
                </a:solidFill>
                <a:latin typeface="Calibri" pitchFamily="34" charset="0"/>
                <a:ea typeface="Calibri" pitchFamily="34" charset="-122"/>
                <a:cs typeface="Calibri" pitchFamily="34" charset="-120"/>
              </a:rPr>
              <a:t>Prompt: Product direction</a:t>
            </a:r>
            <a:endParaRPr lang="en-US" sz="850" dirty="0"/>
          </a:p>
        </p:txBody>
      </p:sp>
      <p:sp>
        <p:nvSpPr>
          <p:cNvPr id="44" name="Text 42"/>
          <p:cNvSpPr/>
          <p:nvPr/>
        </p:nvSpPr>
        <p:spPr>
          <a:xfrm>
            <a:off x="10515600" y="6473952"/>
            <a:ext cx="896112" cy="237744"/>
          </a:xfrm>
          <a:prstGeom prst="rect">
            <a:avLst/>
          </a:prstGeom>
          <a:noFill/>
          <a:ln/>
        </p:spPr>
        <p:txBody>
          <a:bodyPr wrap="square" lIns="0" tIns="0" rIns="0" bIns="0" rtlCol="0" anchor="ctr"/>
          <a:lstStyle/>
          <a:p>
            <a:pPr algn="r" indent="0" marL="0">
              <a:buNone/>
            </a:pPr>
            <a:r>
              <a:rPr lang="en-US" sz="850" dirty="0">
                <a:solidFill>
                  <a:srgbClr val="8E8E8E"/>
                </a:solidFill>
                <a:latin typeface="Calibri" pitchFamily="34" charset="0"/>
                <a:ea typeface="Calibri" pitchFamily="34" charset="-122"/>
                <a:cs typeface="Calibri" pitchFamily="34" charset="-120"/>
              </a:rPr>
              <a:t>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77240" y="338328"/>
            <a:ext cx="109728" cy="109728"/>
          </a:xfrm>
          <a:prstGeom prst="ellipse">
            <a:avLst/>
          </a:prstGeom>
          <a:solidFill>
            <a:srgbClr val="5A6CE6"/>
          </a:solidFill>
          <a:ln/>
        </p:spPr>
      </p:sp>
      <p:sp>
        <p:nvSpPr>
          <p:cNvPr id="3" name="Text 1"/>
          <p:cNvSpPr/>
          <p:nvPr/>
        </p:nvSpPr>
        <p:spPr>
          <a:xfrm>
            <a:off x="978408" y="246888"/>
            <a:ext cx="7315200" cy="292608"/>
          </a:xfrm>
          <a:prstGeom prst="rect">
            <a:avLst/>
          </a:prstGeom>
          <a:noFill/>
          <a:ln/>
        </p:spPr>
        <p:txBody>
          <a:bodyPr wrap="square" lIns="0" tIns="0" rIns="0" bIns="0" rtlCol="0" anchor="ctr"/>
          <a:lstStyle/>
          <a:p>
            <a:pPr algn="l" indent="0" marL="0">
              <a:buNone/>
            </a:pPr>
            <a:r>
              <a:rPr lang="en-US" sz="1100" b="1" spc="200" kern="0" dirty="0">
                <a:solidFill>
                  <a:srgbClr val="8E8E8E"/>
                </a:solidFill>
                <a:latin typeface="Calibri" pitchFamily="34" charset="0"/>
                <a:ea typeface="Calibri" pitchFamily="34" charset="-122"/>
                <a:cs typeface="Calibri" pitchFamily="34" charset="-120"/>
              </a:rPr>
              <a:t>TETON INTERVIEW READOUT   ·   PRODUCT DIRECTION</a:t>
            </a:r>
            <a:endParaRPr lang="en-US" sz="1100" dirty="0"/>
          </a:p>
        </p:txBody>
      </p:sp>
      <p:sp>
        <p:nvSpPr>
          <p:cNvPr id="4" name="Text 2"/>
          <p:cNvSpPr/>
          <p:nvPr/>
        </p:nvSpPr>
        <p:spPr>
          <a:xfrm>
            <a:off x="777240" y="640080"/>
            <a:ext cx="10637215" cy="822960"/>
          </a:xfrm>
          <a:prstGeom prst="rect">
            <a:avLst/>
          </a:prstGeom>
          <a:noFill/>
          <a:ln/>
        </p:spPr>
        <p:txBody>
          <a:bodyPr wrap="square" lIns="0" tIns="0" rIns="0" bIns="0" rtlCol="0" anchor="t"/>
          <a:lstStyle/>
          <a:p>
            <a:pPr algn="l" indent="0" marL="0">
              <a:lnSpc>
                <a:spcPct val="102000"/>
              </a:lnSpc>
              <a:buNone/>
            </a:pPr>
            <a:r>
              <a:rPr lang="en-US" sz="2250" b="1" dirty="0">
                <a:solidFill>
                  <a:srgbClr val="181818"/>
                </a:solidFill>
                <a:latin typeface="Calibri" pitchFamily="34" charset="0"/>
                <a:ea typeface="Calibri" pitchFamily="34" charset="-122"/>
                <a:cs typeface="Calibri" pitchFamily="34" charset="-120"/>
              </a:rPr>
              <a:t>The Change-of-Condition Review Loop, inside workflows that already exist</a:t>
            </a:r>
            <a:endParaRPr lang="en-US" sz="2250" dirty="0"/>
          </a:p>
        </p:txBody>
      </p:sp>
      <p:sp>
        <p:nvSpPr>
          <p:cNvPr id="5" name="Text 3"/>
          <p:cNvSpPr/>
          <p:nvPr/>
        </p:nvSpPr>
        <p:spPr>
          <a:xfrm>
            <a:off x="777240" y="1426464"/>
            <a:ext cx="10637215" cy="320040"/>
          </a:xfrm>
          <a:prstGeom prst="rect">
            <a:avLst/>
          </a:prstGeom>
          <a:noFill/>
          <a:ln/>
        </p:spPr>
        <p:txBody>
          <a:bodyPr wrap="square" lIns="0" tIns="0" rIns="0" bIns="0" rtlCol="0" anchor="t"/>
          <a:lstStyle/>
          <a:p>
            <a:pPr algn="l" indent="0" marL="0">
              <a:buNone/>
            </a:pPr>
            <a:r>
              <a:rPr lang="en-US" sz="1350" dirty="0">
                <a:solidFill>
                  <a:srgbClr val="8E8E8E"/>
                </a:solidFill>
                <a:latin typeface="Calibri" pitchFamily="34" charset="0"/>
                <a:ea typeface="Calibri" pitchFamily="34" charset="-122"/>
                <a:cs typeface="Calibri" pitchFamily="34" charset="-120"/>
              </a:rPr>
              <a:t>Detect the trend, curate a shortlist, let a nurse decide, document where documentation already lives.</a:t>
            </a:r>
            <a:endParaRPr lang="en-US" sz="1350" dirty="0"/>
          </a:p>
        </p:txBody>
      </p:sp>
      <p:sp>
        <p:nvSpPr>
          <p:cNvPr id="6" name="Shape 4"/>
          <p:cNvSpPr/>
          <p:nvPr/>
        </p:nvSpPr>
        <p:spPr>
          <a:xfrm>
            <a:off x="1143000" y="2286000"/>
            <a:ext cx="8509772" cy="0"/>
          </a:xfrm>
          <a:prstGeom prst="line">
            <a:avLst/>
          </a:prstGeom>
          <a:noFill/>
          <a:ln w="19050">
            <a:solidFill>
              <a:srgbClr val="D9DCEA"/>
            </a:solidFill>
            <a:prstDash val="solid"/>
          </a:ln>
        </p:spPr>
      </p:sp>
      <p:sp>
        <p:nvSpPr>
          <p:cNvPr id="7" name="Shape 5"/>
          <p:cNvSpPr/>
          <p:nvPr/>
        </p:nvSpPr>
        <p:spPr>
          <a:xfrm>
            <a:off x="795528" y="2084832"/>
            <a:ext cx="402336" cy="402336"/>
          </a:xfrm>
          <a:prstGeom prst="ellipse">
            <a:avLst/>
          </a:prstGeom>
          <a:solidFill>
            <a:srgbClr val="5A6CE6"/>
          </a:solidFill>
          <a:ln/>
        </p:spPr>
      </p:sp>
      <p:sp>
        <p:nvSpPr>
          <p:cNvPr id="8" name="Text 6"/>
          <p:cNvSpPr/>
          <p:nvPr/>
        </p:nvSpPr>
        <p:spPr>
          <a:xfrm>
            <a:off x="795528" y="208483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1289304" y="2066544"/>
            <a:ext cx="1578803" cy="219456"/>
          </a:xfrm>
          <a:prstGeom prst="rect">
            <a:avLst/>
          </a:prstGeom>
          <a:noFill/>
          <a:ln/>
        </p:spPr>
        <p:txBody>
          <a:bodyPr wrap="square" lIns="0" tIns="0" rIns="0" bIns="0" rtlCol="0" anchor="t"/>
          <a:lstStyle/>
          <a:p>
            <a:pPr algn="l" indent="0" marL="0">
              <a:buNone/>
            </a:pPr>
            <a:r>
              <a:rPr lang="en-US" sz="800" b="1" spc="100" kern="0" dirty="0">
                <a:solidFill>
                  <a:srgbClr val="5A6CE6"/>
                </a:solidFill>
                <a:latin typeface="Calibri" pitchFamily="34" charset="0"/>
                <a:ea typeface="Calibri" pitchFamily="34" charset="-122"/>
                <a:cs typeface="Calibri" pitchFamily="34" charset="-120"/>
              </a:rPr>
              <a:t>STEP 01</a:t>
            </a:r>
            <a:endParaRPr lang="en-US" sz="800" dirty="0"/>
          </a:p>
        </p:txBody>
      </p:sp>
      <p:sp>
        <p:nvSpPr>
          <p:cNvPr id="10" name="Text 8"/>
          <p:cNvSpPr/>
          <p:nvPr/>
        </p:nvSpPr>
        <p:spPr>
          <a:xfrm>
            <a:off x="1289304" y="2258568"/>
            <a:ext cx="1578803" cy="219456"/>
          </a:xfrm>
          <a:prstGeom prst="rect">
            <a:avLst/>
          </a:prstGeom>
          <a:noFill/>
          <a:ln/>
        </p:spPr>
        <p:txBody>
          <a:bodyPr wrap="square" lIns="0" tIns="0" rIns="0" bIns="0" rtlCol="0" anchor="t"/>
          <a:lstStyle/>
          <a:p>
            <a:pPr algn="l" indent="0" marL="0">
              <a:buNone/>
            </a:pPr>
            <a:r>
              <a:rPr lang="en-US" sz="1150" b="1" dirty="0">
                <a:solidFill>
                  <a:srgbClr val="181818"/>
                </a:solidFill>
                <a:latin typeface="Calibri" pitchFamily="34" charset="0"/>
                <a:ea typeface="Calibri" pitchFamily="34" charset="-122"/>
                <a:cs typeface="Calibri" pitchFamily="34" charset="-120"/>
              </a:rPr>
              <a:t>DETECT</a:t>
            </a:r>
            <a:endParaRPr lang="en-US" sz="1150" dirty="0"/>
          </a:p>
        </p:txBody>
      </p:sp>
      <p:sp>
        <p:nvSpPr>
          <p:cNvPr id="11" name="Text 9"/>
          <p:cNvSpPr/>
          <p:nvPr/>
        </p:nvSpPr>
        <p:spPr>
          <a:xfrm>
            <a:off x="795528" y="2596896"/>
            <a:ext cx="1926275" cy="731520"/>
          </a:xfrm>
          <a:prstGeom prst="rect">
            <a:avLst/>
          </a:prstGeom>
          <a:noFill/>
          <a:ln/>
        </p:spPr>
        <p:txBody>
          <a:bodyPr wrap="square" lIns="0" tIns="0" rIns="0" bIns="0" rtlCol="0" anchor="t"/>
          <a:lstStyle/>
          <a:p>
            <a:pPr algn="l" indent="0" marL="0">
              <a:lnSpc>
                <a:spcPct val="105000"/>
              </a:lnSpc>
              <a:buNone/>
            </a:pPr>
            <a:r>
              <a:rPr lang="en-US" sz="900" dirty="0">
                <a:solidFill>
                  <a:srgbClr val="8E8E8E"/>
                </a:solidFill>
                <a:latin typeface="Calibri" pitchFamily="34" charset="0"/>
                <a:ea typeface="Calibri" pitchFamily="34" charset="-122"/>
                <a:cs typeface="Calibri" pitchFamily="34" charset="-120"/>
              </a:rPr>
              <a:t>deviation from each resident's baseline over weeks — trends, not 2 AM alerts</a:t>
            </a:r>
            <a:endParaRPr lang="en-US" sz="900" dirty="0"/>
          </a:p>
        </p:txBody>
      </p:sp>
      <p:sp>
        <p:nvSpPr>
          <p:cNvPr id="12" name="Shape 10"/>
          <p:cNvSpPr/>
          <p:nvPr/>
        </p:nvSpPr>
        <p:spPr>
          <a:xfrm>
            <a:off x="2922971" y="2084832"/>
            <a:ext cx="402336" cy="402336"/>
          </a:xfrm>
          <a:prstGeom prst="ellipse">
            <a:avLst/>
          </a:prstGeom>
          <a:solidFill>
            <a:srgbClr val="5A6CE6"/>
          </a:solidFill>
          <a:ln/>
        </p:spPr>
      </p:sp>
      <p:sp>
        <p:nvSpPr>
          <p:cNvPr id="13" name="Text 11"/>
          <p:cNvSpPr/>
          <p:nvPr/>
        </p:nvSpPr>
        <p:spPr>
          <a:xfrm>
            <a:off x="2922971" y="208483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3416747" y="2066544"/>
            <a:ext cx="1578803" cy="219456"/>
          </a:xfrm>
          <a:prstGeom prst="rect">
            <a:avLst/>
          </a:prstGeom>
          <a:noFill/>
          <a:ln/>
        </p:spPr>
        <p:txBody>
          <a:bodyPr wrap="square" lIns="0" tIns="0" rIns="0" bIns="0" rtlCol="0" anchor="t"/>
          <a:lstStyle/>
          <a:p>
            <a:pPr algn="l" indent="0" marL="0">
              <a:buNone/>
            </a:pPr>
            <a:r>
              <a:rPr lang="en-US" sz="800" b="1" spc="100" kern="0" dirty="0">
                <a:solidFill>
                  <a:srgbClr val="5A6CE6"/>
                </a:solidFill>
                <a:latin typeface="Calibri" pitchFamily="34" charset="0"/>
                <a:ea typeface="Calibri" pitchFamily="34" charset="-122"/>
                <a:cs typeface="Calibri" pitchFamily="34" charset="-120"/>
              </a:rPr>
              <a:t>STEP 02</a:t>
            </a:r>
            <a:endParaRPr lang="en-US" sz="800" dirty="0"/>
          </a:p>
        </p:txBody>
      </p:sp>
      <p:sp>
        <p:nvSpPr>
          <p:cNvPr id="15" name="Text 13"/>
          <p:cNvSpPr/>
          <p:nvPr/>
        </p:nvSpPr>
        <p:spPr>
          <a:xfrm>
            <a:off x="3416747" y="2258568"/>
            <a:ext cx="1578803" cy="219456"/>
          </a:xfrm>
          <a:prstGeom prst="rect">
            <a:avLst/>
          </a:prstGeom>
          <a:noFill/>
          <a:ln/>
        </p:spPr>
        <p:txBody>
          <a:bodyPr wrap="square" lIns="0" tIns="0" rIns="0" bIns="0" rtlCol="0" anchor="t"/>
          <a:lstStyle/>
          <a:p>
            <a:pPr algn="l" indent="0" marL="0">
              <a:buNone/>
            </a:pPr>
            <a:r>
              <a:rPr lang="en-US" sz="1150" b="1" dirty="0">
                <a:solidFill>
                  <a:srgbClr val="181818"/>
                </a:solidFill>
                <a:latin typeface="Calibri" pitchFamily="34" charset="0"/>
                <a:ea typeface="Calibri" pitchFamily="34" charset="-122"/>
                <a:cs typeface="Calibri" pitchFamily="34" charset="-120"/>
              </a:rPr>
              <a:t>PRIORITIZE</a:t>
            </a:r>
            <a:endParaRPr lang="en-US" sz="1150" dirty="0"/>
          </a:p>
        </p:txBody>
      </p:sp>
      <p:sp>
        <p:nvSpPr>
          <p:cNvPr id="16" name="Text 14"/>
          <p:cNvSpPr/>
          <p:nvPr/>
        </p:nvSpPr>
        <p:spPr>
          <a:xfrm>
            <a:off x="2922971" y="2596896"/>
            <a:ext cx="1926275" cy="731520"/>
          </a:xfrm>
          <a:prstGeom prst="rect">
            <a:avLst/>
          </a:prstGeom>
          <a:noFill/>
          <a:ln/>
        </p:spPr>
        <p:txBody>
          <a:bodyPr wrap="square" lIns="0" tIns="0" rIns="0" bIns="0" rtlCol="0" anchor="t"/>
          <a:lstStyle/>
          <a:p>
            <a:pPr algn="l" indent="0" marL="0">
              <a:lnSpc>
                <a:spcPct val="105000"/>
              </a:lnSpc>
              <a:buNone/>
            </a:pPr>
            <a:r>
              <a:rPr lang="en-US" sz="900" dirty="0">
                <a:solidFill>
                  <a:srgbClr val="8E8E8E"/>
                </a:solidFill>
                <a:latin typeface="Calibri" pitchFamily="34" charset="0"/>
                <a:ea typeface="Calibri" pitchFamily="34" charset="-122"/>
                <a:cs typeface="Calibri" pitchFamily="34" charset="-120"/>
              </a:rPr>
              <a:t>≤3 candidates / building / week, ranked by confidence × clinical relevance</a:t>
            </a:r>
            <a:endParaRPr lang="en-US" sz="900" dirty="0"/>
          </a:p>
        </p:txBody>
      </p:sp>
      <p:sp>
        <p:nvSpPr>
          <p:cNvPr id="17" name="Shape 15"/>
          <p:cNvSpPr/>
          <p:nvPr/>
        </p:nvSpPr>
        <p:spPr>
          <a:xfrm>
            <a:off x="5050414" y="2084832"/>
            <a:ext cx="402336" cy="402336"/>
          </a:xfrm>
          <a:prstGeom prst="ellipse">
            <a:avLst/>
          </a:prstGeom>
          <a:solidFill>
            <a:srgbClr val="5A6CE6"/>
          </a:solidFill>
          <a:ln/>
        </p:spPr>
      </p:sp>
      <p:sp>
        <p:nvSpPr>
          <p:cNvPr id="18" name="Text 16"/>
          <p:cNvSpPr/>
          <p:nvPr/>
        </p:nvSpPr>
        <p:spPr>
          <a:xfrm>
            <a:off x="5050414" y="208483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5544190" y="2066544"/>
            <a:ext cx="1578803" cy="219456"/>
          </a:xfrm>
          <a:prstGeom prst="rect">
            <a:avLst/>
          </a:prstGeom>
          <a:noFill/>
          <a:ln/>
        </p:spPr>
        <p:txBody>
          <a:bodyPr wrap="square" lIns="0" tIns="0" rIns="0" bIns="0" rtlCol="0" anchor="t"/>
          <a:lstStyle/>
          <a:p>
            <a:pPr algn="l" indent="0" marL="0">
              <a:buNone/>
            </a:pPr>
            <a:r>
              <a:rPr lang="en-US" sz="800" b="1" spc="100" kern="0" dirty="0">
                <a:solidFill>
                  <a:srgbClr val="5A6CE6"/>
                </a:solidFill>
                <a:latin typeface="Calibri" pitchFamily="34" charset="0"/>
                <a:ea typeface="Calibri" pitchFamily="34" charset="-122"/>
                <a:cs typeface="Calibri" pitchFamily="34" charset="-120"/>
              </a:rPr>
              <a:t>STEP 03</a:t>
            </a:r>
            <a:endParaRPr lang="en-US" sz="800" dirty="0"/>
          </a:p>
        </p:txBody>
      </p:sp>
      <p:sp>
        <p:nvSpPr>
          <p:cNvPr id="20" name="Text 18"/>
          <p:cNvSpPr/>
          <p:nvPr/>
        </p:nvSpPr>
        <p:spPr>
          <a:xfrm>
            <a:off x="5544190" y="2258568"/>
            <a:ext cx="1578803" cy="219456"/>
          </a:xfrm>
          <a:prstGeom prst="rect">
            <a:avLst/>
          </a:prstGeom>
          <a:noFill/>
          <a:ln/>
        </p:spPr>
        <p:txBody>
          <a:bodyPr wrap="square" lIns="0" tIns="0" rIns="0" bIns="0" rtlCol="0" anchor="t"/>
          <a:lstStyle/>
          <a:p>
            <a:pPr algn="l" indent="0" marL="0">
              <a:buNone/>
            </a:pPr>
            <a:r>
              <a:rPr lang="en-US" sz="1150" b="1" dirty="0">
                <a:solidFill>
                  <a:srgbClr val="181818"/>
                </a:solidFill>
                <a:latin typeface="Calibri" pitchFamily="34" charset="0"/>
                <a:ea typeface="Calibri" pitchFamily="34" charset="-122"/>
                <a:cs typeface="Calibri" pitchFamily="34" charset="-120"/>
              </a:rPr>
              <a:t>REVIEW</a:t>
            </a:r>
            <a:endParaRPr lang="en-US" sz="1150" dirty="0"/>
          </a:p>
        </p:txBody>
      </p:sp>
      <p:sp>
        <p:nvSpPr>
          <p:cNvPr id="21" name="Text 19"/>
          <p:cNvSpPr/>
          <p:nvPr/>
        </p:nvSpPr>
        <p:spPr>
          <a:xfrm>
            <a:off x="5050414" y="2596896"/>
            <a:ext cx="1926275" cy="731520"/>
          </a:xfrm>
          <a:prstGeom prst="rect">
            <a:avLst/>
          </a:prstGeom>
          <a:noFill/>
          <a:ln/>
        </p:spPr>
        <p:txBody>
          <a:bodyPr wrap="square" lIns="0" tIns="0" rIns="0" bIns="0" rtlCol="0" anchor="t"/>
          <a:lstStyle/>
          <a:p>
            <a:pPr algn="l" indent="0" marL="0">
              <a:lnSpc>
                <a:spcPct val="105000"/>
              </a:lnSpc>
              <a:buNone/>
            </a:pPr>
            <a:r>
              <a:rPr lang="en-US" sz="900" dirty="0">
                <a:solidFill>
                  <a:srgbClr val="8E8E8E"/>
                </a:solidFill>
                <a:latin typeface="Calibri" pitchFamily="34" charset="0"/>
                <a:ea typeface="Calibri" pitchFamily="34" charset="-122"/>
                <a:cs typeface="Calibri" pitchFamily="34" charset="-120"/>
              </a:rPr>
              <a:t>clinical lead confirms / monitors / dismisses — ~10 min in an existing huddle</a:t>
            </a:r>
            <a:endParaRPr lang="en-US" sz="900" dirty="0"/>
          </a:p>
        </p:txBody>
      </p:sp>
      <p:sp>
        <p:nvSpPr>
          <p:cNvPr id="22" name="Shape 20"/>
          <p:cNvSpPr/>
          <p:nvPr/>
        </p:nvSpPr>
        <p:spPr>
          <a:xfrm>
            <a:off x="7177857" y="2084832"/>
            <a:ext cx="402336" cy="402336"/>
          </a:xfrm>
          <a:prstGeom prst="ellipse">
            <a:avLst/>
          </a:prstGeom>
          <a:solidFill>
            <a:srgbClr val="5A6CE6"/>
          </a:solidFill>
          <a:ln/>
        </p:spPr>
      </p:sp>
      <p:sp>
        <p:nvSpPr>
          <p:cNvPr id="23" name="Text 21"/>
          <p:cNvSpPr/>
          <p:nvPr/>
        </p:nvSpPr>
        <p:spPr>
          <a:xfrm>
            <a:off x="7177857" y="208483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2"/>
          <p:cNvSpPr/>
          <p:nvPr/>
        </p:nvSpPr>
        <p:spPr>
          <a:xfrm>
            <a:off x="7671633" y="2066544"/>
            <a:ext cx="1578803" cy="219456"/>
          </a:xfrm>
          <a:prstGeom prst="rect">
            <a:avLst/>
          </a:prstGeom>
          <a:noFill/>
          <a:ln/>
        </p:spPr>
        <p:txBody>
          <a:bodyPr wrap="square" lIns="0" tIns="0" rIns="0" bIns="0" rtlCol="0" anchor="t"/>
          <a:lstStyle/>
          <a:p>
            <a:pPr algn="l" indent="0" marL="0">
              <a:buNone/>
            </a:pPr>
            <a:r>
              <a:rPr lang="en-US" sz="800" b="1" spc="100" kern="0" dirty="0">
                <a:solidFill>
                  <a:srgbClr val="5A6CE6"/>
                </a:solidFill>
                <a:latin typeface="Calibri" pitchFamily="34" charset="0"/>
                <a:ea typeface="Calibri" pitchFamily="34" charset="-122"/>
                <a:cs typeface="Calibri" pitchFamily="34" charset="-120"/>
              </a:rPr>
              <a:t>STEP 04</a:t>
            </a:r>
            <a:endParaRPr lang="en-US" sz="800" dirty="0"/>
          </a:p>
        </p:txBody>
      </p:sp>
      <p:sp>
        <p:nvSpPr>
          <p:cNvPr id="25" name="Text 23"/>
          <p:cNvSpPr/>
          <p:nvPr/>
        </p:nvSpPr>
        <p:spPr>
          <a:xfrm>
            <a:off x="7671633" y="2258568"/>
            <a:ext cx="1578803" cy="219456"/>
          </a:xfrm>
          <a:prstGeom prst="rect">
            <a:avLst/>
          </a:prstGeom>
          <a:noFill/>
          <a:ln/>
        </p:spPr>
        <p:txBody>
          <a:bodyPr wrap="square" lIns="0" tIns="0" rIns="0" bIns="0" rtlCol="0" anchor="t"/>
          <a:lstStyle/>
          <a:p>
            <a:pPr algn="l" indent="0" marL="0">
              <a:buNone/>
            </a:pPr>
            <a:r>
              <a:rPr lang="en-US" sz="1150" b="1" dirty="0">
                <a:solidFill>
                  <a:srgbClr val="181818"/>
                </a:solidFill>
                <a:latin typeface="Calibri" pitchFamily="34" charset="0"/>
                <a:ea typeface="Calibri" pitchFamily="34" charset="-122"/>
                <a:cs typeface="Calibri" pitchFamily="34" charset="-120"/>
              </a:rPr>
              <a:t>DOCUMENT</a:t>
            </a:r>
            <a:endParaRPr lang="en-US" sz="1150" dirty="0"/>
          </a:p>
        </p:txBody>
      </p:sp>
      <p:sp>
        <p:nvSpPr>
          <p:cNvPr id="26" name="Text 24"/>
          <p:cNvSpPr/>
          <p:nvPr/>
        </p:nvSpPr>
        <p:spPr>
          <a:xfrm>
            <a:off x="7177857" y="2596896"/>
            <a:ext cx="1926275" cy="731520"/>
          </a:xfrm>
          <a:prstGeom prst="rect">
            <a:avLst/>
          </a:prstGeom>
          <a:noFill/>
          <a:ln/>
        </p:spPr>
        <p:txBody>
          <a:bodyPr wrap="square" lIns="0" tIns="0" rIns="0" bIns="0" rtlCol="0" anchor="t"/>
          <a:lstStyle/>
          <a:p>
            <a:pPr algn="l" indent="0" marL="0">
              <a:lnSpc>
                <a:spcPct val="105000"/>
              </a:lnSpc>
              <a:buNone/>
            </a:pPr>
            <a:r>
              <a:rPr lang="en-US" sz="900" dirty="0">
                <a:solidFill>
                  <a:srgbClr val="8E8E8E"/>
                </a:solidFill>
                <a:latin typeface="Calibri" pitchFamily="34" charset="0"/>
                <a:ea typeface="Calibri" pitchFamily="34" charset="-122"/>
                <a:cs typeface="Calibri" pitchFamily="34" charset="-120"/>
              </a:rPr>
              <a:t>confirmed → change-of-condition record via the August integration</a:t>
            </a:r>
            <a:endParaRPr lang="en-US" sz="900" dirty="0"/>
          </a:p>
        </p:txBody>
      </p:sp>
      <p:sp>
        <p:nvSpPr>
          <p:cNvPr id="27" name="Shape 25"/>
          <p:cNvSpPr/>
          <p:nvPr/>
        </p:nvSpPr>
        <p:spPr>
          <a:xfrm>
            <a:off x="9305300" y="2084832"/>
            <a:ext cx="402336" cy="402336"/>
          </a:xfrm>
          <a:prstGeom prst="ellipse">
            <a:avLst/>
          </a:prstGeom>
          <a:solidFill>
            <a:srgbClr val="5A6CE6"/>
          </a:solidFill>
          <a:ln/>
        </p:spPr>
      </p:sp>
      <p:sp>
        <p:nvSpPr>
          <p:cNvPr id="28" name="Text 26"/>
          <p:cNvSpPr/>
          <p:nvPr/>
        </p:nvSpPr>
        <p:spPr>
          <a:xfrm>
            <a:off x="9305300" y="208483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9" name="Text 27"/>
          <p:cNvSpPr/>
          <p:nvPr/>
        </p:nvSpPr>
        <p:spPr>
          <a:xfrm>
            <a:off x="9799076" y="2066544"/>
            <a:ext cx="1578803" cy="219456"/>
          </a:xfrm>
          <a:prstGeom prst="rect">
            <a:avLst/>
          </a:prstGeom>
          <a:noFill/>
          <a:ln/>
        </p:spPr>
        <p:txBody>
          <a:bodyPr wrap="square" lIns="0" tIns="0" rIns="0" bIns="0" rtlCol="0" anchor="t"/>
          <a:lstStyle/>
          <a:p>
            <a:pPr algn="l" indent="0" marL="0">
              <a:buNone/>
            </a:pPr>
            <a:r>
              <a:rPr lang="en-US" sz="800" b="1" spc="100" kern="0" dirty="0">
                <a:solidFill>
                  <a:srgbClr val="5A6CE6"/>
                </a:solidFill>
                <a:latin typeface="Calibri" pitchFamily="34" charset="0"/>
                <a:ea typeface="Calibri" pitchFamily="34" charset="-122"/>
                <a:cs typeface="Calibri" pitchFamily="34" charset="-120"/>
              </a:rPr>
              <a:t>STEP 05</a:t>
            </a:r>
            <a:endParaRPr lang="en-US" sz="800" dirty="0"/>
          </a:p>
        </p:txBody>
      </p:sp>
      <p:sp>
        <p:nvSpPr>
          <p:cNvPr id="30" name="Text 28"/>
          <p:cNvSpPr/>
          <p:nvPr/>
        </p:nvSpPr>
        <p:spPr>
          <a:xfrm>
            <a:off x="9799076" y="2258568"/>
            <a:ext cx="1578803" cy="219456"/>
          </a:xfrm>
          <a:prstGeom prst="rect">
            <a:avLst/>
          </a:prstGeom>
          <a:noFill/>
          <a:ln/>
        </p:spPr>
        <p:txBody>
          <a:bodyPr wrap="square" lIns="0" tIns="0" rIns="0" bIns="0" rtlCol="0" anchor="t"/>
          <a:lstStyle/>
          <a:p>
            <a:pPr algn="l" indent="0" marL="0">
              <a:buNone/>
            </a:pPr>
            <a:r>
              <a:rPr lang="en-US" sz="1150" b="1" dirty="0">
                <a:solidFill>
                  <a:srgbClr val="181818"/>
                </a:solidFill>
                <a:latin typeface="Calibri" pitchFamily="34" charset="0"/>
                <a:ea typeface="Calibri" pitchFamily="34" charset="-122"/>
                <a:cs typeface="Calibri" pitchFamily="34" charset="-120"/>
              </a:rPr>
              <a:t>EXPLAIN</a:t>
            </a:r>
            <a:endParaRPr lang="en-US" sz="1150" dirty="0"/>
          </a:p>
        </p:txBody>
      </p:sp>
      <p:sp>
        <p:nvSpPr>
          <p:cNvPr id="31" name="Text 29"/>
          <p:cNvSpPr/>
          <p:nvPr/>
        </p:nvSpPr>
        <p:spPr>
          <a:xfrm>
            <a:off x="9305300" y="2596896"/>
            <a:ext cx="1926275" cy="731520"/>
          </a:xfrm>
          <a:prstGeom prst="rect">
            <a:avLst/>
          </a:prstGeom>
          <a:noFill/>
          <a:ln/>
        </p:spPr>
        <p:txBody>
          <a:bodyPr wrap="square" lIns="0" tIns="0" rIns="0" bIns="0" rtlCol="0" anchor="t"/>
          <a:lstStyle/>
          <a:p>
            <a:pPr algn="l" indent="0" marL="0">
              <a:lnSpc>
                <a:spcPct val="105000"/>
              </a:lnSpc>
              <a:buNone/>
            </a:pPr>
            <a:r>
              <a:rPr lang="en-US" sz="900" dirty="0">
                <a:solidFill>
                  <a:srgbClr val="8E8E8E"/>
                </a:solidFill>
                <a:latin typeface="Calibri" pitchFamily="34" charset="0"/>
                <a:ea typeface="Calibri" pitchFamily="34" charset="-122"/>
                <a:cs typeface="Calibri" pitchFamily="34" charset="-120"/>
              </a:rPr>
              <a:t>staff-approved family summary — only after human confirmation</a:t>
            </a:r>
            <a:endParaRPr lang="en-US" sz="900" dirty="0"/>
          </a:p>
        </p:txBody>
      </p:sp>
      <p:sp>
        <p:nvSpPr>
          <p:cNvPr id="32" name="Shape 30"/>
          <p:cNvSpPr/>
          <p:nvPr/>
        </p:nvSpPr>
        <p:spPr>
          <a:xfrm>
            <a:off x="777240" y="3200400"/>
            <a:ext cx="5715000" cy="2395728"/>
          </a:xfrm>
          <a:prstGeom prst="roundRect">
            <a:avLst>
              <a:gd name="adj" fmla="val 5344"/>
            </a:avLst>
          </a:prstGeom>
          <a:solidFill>
            <a:srgbClr val="FFFFFF"/>
          </a:solidFill>
          <a:ln w="15875">
            <a:solidFill>
              <a:srgbClr val="E6E6E6"/>
            </a:solidFill>
            <a:prstDash val="solid"/>
          </a:ln>
          <a:effectLst>
            <a:outerShdw sx="100000" sy="100000" kx="0" ky="0" algn="bl" rotWithShape="0" blurRad="114300" dist="38100" dir="5400000">
              <a:srgbClr val="20232A">
                <a:alpha val="10000"/>
              </a:srgbClr>
            </a:outerShdw>
          </a:effectLst>
        </p:spPr>
      </p:sp>
      <p:sp>
        <p:nvSpPr>
          <p:cNvPr id="33" name="Shape 31"/>
          <p:cNvSpPr/>
          <p:nvPr/>
        </p:nvSpPr>
        <p:spPr>
          <a:xfrm>
            <a:off x="1033272" y="3438144"/>
            <a:ext cx="201168" cy="201168"/>
          </a:xfrm>
          <a:prstGeom prst="roundRect">
            <a:avLst>
              <a:gd name="adj" fmla="val 18182"/>
            </a:avLst>
          </a:prstGeom>
          <a:solidFill>
            <a:srgbClr val="F3EEA0"/>
          </a:solidFill>
          <a:ln/>
        </p:spPr>
      </p:sp>
      <p:sp>
        <p:nvSpPr>
          <p:cNvPr id="34" name="Text 32"/>
          <p:cNvSpPr/>
          <p:nvPr/>
        </p:nvSpPr>
        <p:spPr>
          <a:xfrm>
            <a:off x="1344168" y="3383280"/>
            <a:ext cx="3611880" cy="310896"/>
          </a:xfrm>
          <a:prstGeom prst="rect">
            <a:avLst/>
          </a:prstGeom>
          <a:noFill/>
          <a:ln/>
        </p:spPr>
        <p:txBody>
          <a:bodyPr wrap="square" lIns="0" tIns="0" rIns="0" bIns="0" rtlCol="0" anchor="ctr"/>
          <a:lstStyle/>
          <a:p>
            <a:pPr algn="l" indent="0" marL="0">
              <a:buNone/>
            </a:pPr>
            <a:r>
              <a:rPr lang="en-US" sz="1200" b="1" dirty="0">
                <a:solidFill>
                  <a:srgbClr val="181818"/>
                </a:solidFill>
                <a:latin typeface="Calibri" pitchFamily="34" charset="0"/>
                <a:ea typeface="Calibri" pitchFamily="34" charset="-122"/>
                <a:cs typeface="Calibri" pitchFamily="34" charset="-120"/>
              </a:rPr>
              <a:t>Suggested review — Rm 312 · E. Alvarez</a:t>
            </a:r>
            <a:endParaRPr lang="en-US" sz="1200" dirty="0"/>
          </a:p>
        </p:txBody>
      </p:sp>
      <p:sp>
        <p:nvSpPr>
          <p:cNvPr id="35" name="Shape 33"/>
          <p:cNvSpPr/>
          <p:nvPr/>
        </p:nvSpPr>
        <p:spPr>
          <a:xfrm>
            <a:off x="5321808" y="3401568"/>
            <a:ext cx="914400" cy="457200"/>
          </a:xfrm>
          <a:prstGeom prst="roundRect">
            <a:avLst>
              <a:gd name="adj" fmla="val 50000"/>
            </a:avLst>
          </a:prstGeom>
          <a:solidFill>
            <a:srgbClr val="BCEFCB"/>
          </a:solidFill>
          <a:ln/>
        </p:spPr>
      </p:sp>
      <p:sp>
        <p:nvSpPr>
          <p:cNvPr id="36" name="Text 34"/>
          <p:cNvSpPr/>
          <p:nvPr/>
        </p:nvSpPr>
        <p:spPr>
          <a:xfrm>
            <a:off x="5321808" y="3401568"/>
            <a:ext cx="914400" cy="457200"/>
          </a:xfrm>
          <a:prstGeom prst="rect">
            <a:avLst/>
          </a:prstGeom>
          <a:noFill/>
          <a:ln/>
        </p:spPr>
        <p:txBody>
          <a:bodyPr wrap="square" lIns="0" tIns="0" rIns="0" bIns="0" rtlCol="0" anchor="ctr"/>
          <a:lstStyle/>
          <a:p>
            <a:pPr algn="ctr" indent="0" marL="0">
              <a:buNone/>
            </a:pPr>
            <a:r>
              <a:rPr lang="en-US" sz="1250" b="1" dirty="0">
                <a:solidFill>
                  <a:srgbClr val="181818"/>
                </a:solidFill>
                <a:latin typeface="Calibri" pitchFamily="34" charset="0"/>
                <a:ea typeface="Calibri" pitchFamily="34" charset="-122"/>
                <a:cs typeface="Calibri" pitchFamily="34" charset="-120"/>
              </a:rPr>
              <a:t>HIGH</a:t>
            </a:r>
            <a:endParaRPr lang="en-US" sz="1250" dirty="0"/>
          </a:p>
        </p:txBody>
      </p:sp>
      <p:sp>
        <p:nvSpPr>
          <p:cNvPr id="37" name="Text 35"/>
          <p:cNvSpPr/>
          <p:nvPr/>
        </p:nvSpPr>
        <p:spPr>
          <a:xfrm>
            <a:off x="1033272" y="3803904"/>
            <a:ext cx="5202936" cy="256032"/>
          </a:xfrm>
          <a:prstGeom prst="rect">
            <a:avLst/>
          </a:prstGeom>
          <a:noFill/>
          <a:ln/>
        </p:spPr>
        <p:txBody>
          <a:bodyPr wrap="square" lIns="0" tIns="0" rIns="0" bIns="0" rtlCol="0" anchor="t"/>
          <a:lstStyle/>
          <a:p>
            <a:pPr algn="l" indent="0" marL="0">
              <a:buNone/>
            </a:pPr>
            <a:r>
              <a:rPr lang="en-US" sz="1000" dirty="0">
                <a:solidFill>
                  <a:srgbClr val="3A3A3A"/>
                </a:solidFill>
                <a:latin typeface="Calibri" pitchFamily="34" charset="0"/>
                <a:ea typeface="Calibri" pitchFamily="34" charset="-122"/>
                <a:cs typeface="Calibri" pitchFamily="34" charset="-120"/>
              </a:rPr>
              <a:t>Night rises 1.2 → 4.6/night over 6 weeks  ·  sleep fragmentation ↑  ·  2 possible unwitnessed events</a:t>
            </a:r>
            <a:endParaRPr lang="en-US" sz="1000" dirty="0"/>
          </a:p>
        </p:txBody>
      </p:sp>
      <p:sp>
        <p:nvSpPr>
          <p:cNvPr id="38" name="Shape 36"/>
          <p:cNvSpPr/>
          <p:nvPr/>
        </p:nvSpPr>
        <p:spPr>
          <a:xfrm flipV="1">
            <a:off x="1051560" y="4384196"/>
            <a:ext cx="199505" cy="51699"/>
          </a:xfrm>
          <a:prstGeom prst="line">
            <a:avLst/>
          </a:prstGeom>
          <a:noFill/>
          <a:ln w="22225">
            <a:solidFill>
              <a:srgbClr val="5A6CE6"/>
            </a:solidFill>
            <a:prstDash val="solid"/>
          </a:ln>
        </p:spPr>
      </p:sp>
      <p:sp>
        <p:nvSpPr>
          <p:cNvPr id="39" name="Shape 37"/>
          <p:cNvSpPr/>
          <p:nvPr/>
        </p:nvSpPr>
        <p:spPr>
          <a:xfrm flipV="1">
            <a:off x="1251065" y="4325112"/>
            <a:ext cx="399011" cy="59084"/>
          </a:xfrm>
          <a:prstGeom prst="line">
            <a:avLst/>
          </a:prstGeom>
          <a:noFill/>
          <a:ln w="22225">
            <a:solidFill>
              <a:srgbClr val="5A6CE6"/>
            </a:solidFill>
            <a:prstDash val="solid"/>
          </a:ln>
        </p:spPr>
      </p:sp>
      <p:sp>
        <p:nvSpPr>
          <p:cNvPr id="40" name="Shape 38"/>
          <p:cNvSpPr/>
          <p:nvPr/>
        </p:nvSpPr>
        <p:spPr>
          <a:xfrm flipV="1">
            <a:off x="1650076" y="4266028"/>
            <a:ext cx="399011" cy="59084"/>
          </a:xfrm>
          <a:prstGeom prst="line">
            <a:avLst/>
          </a:prstGeom>
          <a:noFill/>
          <a:ln w="22225">
            <a:solidFill>
              <a:srgbClr val="5A6CE6"/>
            </a:solidFill>
            <a:prstDash val="solid"/>
          </a:ln>
        </p:spPr>
      </p:sp>
      <p:sp>
        <p:nvSpPr>
          <p:cNvPr id="41" name="Shape 39"/>
          <p:cNvSpPr/>
          <p:nvPr/>
        </p:nvSpPr>
        <p:spPr>
          <a:xfrm flipV="1">
            <a:off x="2049087" y="4206943"/>
            <a:ext cx="399011" cy="59084"/>
          </a:xfrm>
          <a:prstGeom prst="line">
            <a:avLst/>
          </a:prstGeom>
          <a:noFill/>
          <a:ln w="22225">
            <a:solidFill>
              <a:srgbClr val="5A6CE6"/>
            </a:solidFill>
            <a:prstDash val="solid"/>
          </a:ln>
        </p:spPr>
      </p:sp>
      <p:sp>
        <p:nvSpPr>
          <p:cNvPr id="42" name="Shape 40"/>
          <p:cNvSpPr/>
          <p:nvPr/>
        </p:nvSpPr>
        <p:spPr>
          <a:xfrm flipV="1">
            <a:off x="2448098" y="4162630"/>
            <a:ext cx="399011" cy="44313"/>
          </a:xfrm>
          <a:prstGeom prst="line">
            <a:avLst/>
          </a:prstGeom>
          <a:noFill/>
          <a:ln w="22225">
            <a:solidFill>
              <a:srgbClr val="5A6CE6"/>
            </a:solidFill>
            <a:prstDash val="solid"/>
          </a:ln>
        </p:spPr>
      </p:sp>
      <p:sp>
        <p:nvSpPr>
          <p:cNvPr id="43" name="Shape 41"/>
          <p:cNvSpPr/>
          <p:nvPr/>
        </p:nvSpPr>
        <p:spPr>
          <a:xfrm>
            <a:off x="2847109" y="4162630"/>
            <a:ext cx="399011" cy="0"/>
          </a:xfrm>
          <a:prstGeom prst="line">
            <a:avLst/>
          </a:prstGeom>
          <a:noFill/>
          <a:ln w="22225">
            <a:solidFill>
              <a:srgbClr val="5A6CE6"/>
            </a:solidFill>
            <a:prstDash val="solid"/>
          </a:ln>
        </p:spPr>
      </p:sp>
      <p:sp>
        <p:nvSpPr>
          <p:cNvPr id="44" name="Text 42"/>
          <p:cNvSpPr/>
          <p:nvPr/>
        </p:nvSpPr>
        <p:spPr>
          <a:xfrm>
            <a:off x="3383280" y="4187952"/>
            <a:ext cx="2880360" cy="274320"/>
          </a:xfrm>
          <a:prstGeom prst="rect">
            <a:avLst/>
          </a:prstGeom>
          <a:noFill/>
          <a:ln/>
        </p:spPr>
        <p:txBody>
          <a:bodyPr wrap="square" lIns="0" tIns="0" rIns="0" bIns="0" rtlCol="0" anchor="ctr"/>
          <a:lstStyle/>
          <a:p>
            <a:pPr algn="l" indent="0" marL="0">
              <a:buNone/>
            </a:pPr>
            <a:r>
              <a:rPr lang="en-US" sz="900" i="1" dirty="0">
                <a:solidFill>
                  <a:srgbClr val="8E8E8E"/>
                </a:solidFill>
                <a:latin typeface="Calibri" pitchFamily="34" charset="0"/>
                <a:ea typeface="Calibri" pitchFamily="34" charset="-122"/>
                <a:cs typeface="Calibri" pitchFamily="34" charset="-120"/>
              </a:rPr>
              <a:t>May 18 – Jun 29  ·  full evidence pack →</a:t>
            </a:r>
            <a:endParaRPr lang="en-US" sz="900" dirty="0"/>
          </a:p>
        </p:txBody>
      </p:sp>
      <p:sp>
        <p:nvSpPr>
          <p:cNvPr id="45" name="Shape 43"/>
          <p:cNvSpPr/>
          <p:nvPr/>
        </p:nvSpPr>
        <p:spPr>
          <a:xfrm>
            <a:off x="1033272" y="4663440"/>
            <a:ext cx="2331720" cy="457200"/>
          </a:xfrm>
          <a:prstGeom prst="roundRect">
            <a:avLst>
              <a:gd name="adj" fmla="val 50000"/>
            </a:avLst>
          </a:prstGeom>
          <a:solidFill>
            <a:srgbClr val="5A6CE6"/>
          </a:solidFill>
          <a:ln/>
        </p:spPr>
      </p:sp>
      <p:sp>
        <p:nvSpPr>
          <p:cNvPr id="46" name="Text 44"/>
          <p:cNvSpPr/>
          <p:nvPr/>
        </p:nvSpPr>
        <p:spPr>
          <a:xfrm>
            <a:off x="1033272" y="4663440"/>
            <a:ext cx="233172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Start change of condition</a:t>
            </a:r>
            <a:endParaRPr lang="en-US" sz="1250" dirty="0"/>
          </a:p>
        </p:txBody>
      </p:sp>
      <p:sp>
        <p:nvSpPr>
          <p:cNvPr id="47" name="Shape 45"/>
          <p:cNvSpPr/>
          <p:nvPr/>
        </p:nvSpPr>
        <p:spPr>
          <a:xfrm>
            <a:off x="3474720" y="4663440"/>
            <a:ext cx="1554480" cy="457200"/>
          </a:xfrm>
          <a:prstGeom prst="roundRect">
            <a:avLst>
              <a:gd name="adj" fmla="val 20000"/>
            </a:avLst>
          </a:prstGeom>
          <a:solidFill>
            <a:srgbClr val="FFFFFF"/>
          </a:solidFill>
          <a:ln w="15875">
            <a:solidFill>
              <a:srgbClr val="5A6CE6"/>
            </a:solidFill>
            <a:prstDash val="solid"/>
          </a:ln>
        </p:spPr>
      </p:sp>
      <p:sp>
        <p:nvSpPr>
          <p:cNvPr id="48" name="Text 46"/>
          <p:cNvSpPr/>
          <p:nvPr/>
        </p:nvSpPr>
        <p:spPr>
          <a:xfrm>
            <a:off x="3474720" y="4663440"/>
            <a:ext cx="1554480" cy="457200"/>
          </a:xfrm>
          <a:prstGeom prst="rect">
            <a:avLst/>
          </a:prstGeom>
          <a:noFill/>
          <a:ln/>
        </p:spPr>
        <p:txBody>
          <a:bodyPr wrap="square" lIns="0" tIns="0" rIns="0" bIns="0" rtlCol="0" anchor="ctr"/>
          <a:lstStyle/>
          <a:p>
            <a:pPr algn="ctr" indent="0" marL="0">
              <a:buNone/>
            </a:pPr>
            <a:r>
              <a:rPr lang="en-US" sz="1050" b="1" dirty="0">
                <a:solidFill>
                  <a:srgbClr val="5A6CE6"/>
                </a:solidFill>
                <a:latin typeface="Calibri" pitchFamily="34" charset="0"/>
                <a:ea typeface="Calibri" pitchFamily="34" charset="-122"/>
                <a:cs typeface="Calibri" pitchFamily="34" charset="-120"/>
              </a:rPr>
              <a:t>Monitor 2 weeks</a:t>
            </a:r>
            <a:endParaRPr lang="en-US" sz="1050" dirty="0"/>
          </a:p>
        </p:txBody>
      </p:sp>
      <p:sp>
        <p:nvSpPr>
          <p:cNvPr id="49" name="Shape 47"/>
          <p:cNvSpPr/>
          <p:nvPr/>
        </p:nvSpPr>
        <p:spPr>
          <a:xfrm>
            <a:off x="5120640" y="4663440"/>
            <a:ext cx="1115568" cy="457200"/>
          </a:xfrm>
          <a:prstGeom prst="roundRect">
            <a:avLst>
              <a:gd name="adj" fmla="val 20000"/>
            </a:avLst>
          </a:prstGeom>
          <a:solidFill>
            <a:srgbClr val="F4F4F4"/>
          </a:solidFill>
          <a:ln/>
        </p:spPr>
      </p:sp>
      <p:sp>
        <p:nvSpPr>
          <p:cNvPr id="50" name="Text 48"/>
          <p:cNvSpPr/>
          <p:nvPr/>
        </p:nvSpPr>
        <p:spPr>
          <a:xfrm>
            <a:off x="5120640" y="4663440"/>
            <a:ext cx="1115568" cy="457200"/>
          </a:xfrm>
          <a:prstGeom prst="rect">
            <a:avLst/>
          </a:prstGeom>
          <a:noFill/>
          <a:ln/>
        </p:spPr>
        <p:txBody>
          <a:bodyPr wrap="square" lIns="0" tIns="0" rIns="0" bIns="0" rtlCol="0" anchor="ctr"/>
          <a:lstStyle/>
          <a:p>
            <a:pPr algn="ctr" indent="0" marL="0">
              <a:buNone/>
            </a:pPr>
            <a:r>
              <a:rPr lang="en-US" sz="1050" dirty="0">
                <a:solidFill>
                  <a:srgbClr val="8E8E8E"/>
                </a:solidFill>
                <a:latin typeface="Calibri" pitchFamily="34" charset="0"/>
                <a:ea typeface="Calibri" pitchFamily="34" charset="-122"/>
                <a:cs typeface="Calibri" pitchFamily="34" charset="-120"/>
              </a:rPr>
              <a:t>Dismiss</a:t>
            </a:r>
            <a:endParaRPr lang="en-US" sz="1050" dirty="0"/>
          </a:p>
        </p:txBody>
      </p:sp>
      <p:sp>
        <p:nvSpPr>
          <p:cNvPr id="51" name="Text 49"/>
          <p:cNvSpPr/>
          <p:nvPr/>
        </p:nvSpPr>
        <p:spPr>
          <a:xfrm>
            <a:off x="777240" y="5632704"/>
            <a:ext cx="5715000" cy="274320"/>
          </a:xfrm>
          <a:prstGeom prst="rect">
            <a:avLst/>
          </a:prstGeom>
          <a:noFill/>
          <a:ln/>
        </p:spPr>
        <p:txBody>
          <a:bodyPr wrap="square" lIns="0" tIns="0" rIns="0" bIns="0" rtlCol="0" anchor="t"/>
          <a:lstStyle/>
          <a:p>
            <a:pPr algn="l" indent="0" marL="0">
              <a:buNone/>
            </a:pPr>
            <a:r>
              <a:rPr lang="en-US" sz="900" i="1" dirty="0">
                <a:solidFill>
                  <a:srgbClr val="8E8E8E"/>
                </a:solidFill>
                <a:latin typeface="Calibri" pitchFamily="34" charset="0"/>
                <a:ea typeface="Calibri" pitchFamily="34" charset="-122"/>
                <a:cs typeface="Calibri" pitchFamily="34" charset="-120"/>
              </a:rPr>
              <a:t>Mock — evidence lands in August Health Care Track; every dismissal trains the detector.</a:t>
            </a:r>
            <a:endParaRPr lang="en-US" sz="900" dirty="0"/>
          </a:p>
        </p:txBody>
      </p:sp>
      <p:sp>
        <p:nvSpPr>
          <p:cNvPr id="52" name="Shape 50"/>
          <p:cNvSpPr/>
          <p:nvPr/>
        </p:nvSpPr>
        <p:spPr>
          <a:xfrm>
            <a:off x="6720840" y="3200400"/>
            <a:ext cx="4693615" cy="2395728"/>
          </a:xfrm>
          <a:prstGeom prst="roundRect">
            <a:avLst>
              <a:gd name="adj" fmla="val 5344"/>
            </a:avLst>
          </a:prstGeom>
          <a:solidFill>
            <a:srgbClr val="E7E3F5"/>
          </a:solidFill>
          <a:ln/>
        </p:spPr>
      </p:sp>
      <p:sp>
        <p:nvSpPr>
          <p:cNvPr id="53" name="Text 51"/>
          <p:cNvSpPr/>
          <p:nvPr/>
        </p:nvSpPr>
        <p:spPr>
          <a:xfrm>
            <a:off x="7013448" y="3383280"/>
            <a:ext cx="4108399" cy="457200"/>
          </a:xfrm>
          <a:prstGeom prst="rect">
            <a:avLst/>
          </a:prstGeom>
          <a:noFill/>
          <a:ln/>
        </p:spPr>
        <p:txBody>
          <a:bodyPr wrap="square" lIns="0" tIns="0" rIns="0" bIns="0" rtlCol="0" anchor="t"/>
          <a:lstStyle/>
          <a:p>
            <a:pPr algn="l" indent="0" marL="0">
              <a:buNone/>
            </a:pPr>
            <a:r>
              <a:rPr lang="en-US" sz="1250" b="1" dirty="0">
                <a:solidFill>
                  <a:srgbClr val="181818"/>
                </a:solidFill>
                <a:latin typeface="Calibri" pitchFamily="34" charset="0"/>
                <a:ea typeface="Calibri" pitchFamily="34" charset="-122"/>
                <a:cs typeface="Calibri" pitchFamily="34" charset="-120"/>
              </a:rPr>
              <a:t>Why the adoption surface is small</a:t>
            </a:r>
            <a:endParaRPr lang="en-US" sz="1250" dirty="0"/>
          </a:p>
        </p:txBody>
      </p:sp>
      <p:sp>
        <p:nvSpPr>
          <p:cNvPr id="54" name="Text 52"/>
          <p:cNvSpPr/>
          <p:nvPr/>
        </p:nvSpPr>
        <p:spPr>
          <a:xfrm>
            <a:off x="7013448" y="3913632"/>
            <a:ext cx="228600" cy="219456"/>
          </a:xfrm>
          <a:prstGeom prst="rect">
            <a:avLst/>
          </a:prstGeom>
          <a:noFill/>
          <a:ln/>
        </p:spPr>
        <p:txBody>
          <a:bodyPr wrap="square" lIns="0" tIns="0" rIns="0" bIns="0" rtlCol="0" anchor="t"/>
          <a:lstStyle/>
          <a:p>
            <a:pPr algn="l" indent="0" marL="0">
              <a:buNone/>
            </a:pPr>
            <a:r>
              <a:rPr lang="en-US" sz="1100" b="1" dirty="0">
                <a:solidFill>
                  <a:srgbClr val="9A93B0"/>
                </a:solidFill>
                <a:latin typeface="Calibri" pitchFamily="34" charset="0"/>
                <a:ea typeface="Calibri" pitchFamily="34" charset="-122"/>
                <a:cs typeface="Calibri" pitchFamily="34" charset="-120"/>
              </a:rPr>
              <a:t>✗</a:t>
            </a:r>
            <a:endParaRPr lang="en-US" sz="1100" dirty="0"/>
          </a:p>
        </p:txBody>
      </p:sp>
      <p:sp>
        <p:nvSpPr>
          <p:cNvPr id="55" name="Text 53"/>
          <p:cNvSpPr/>
          <p:nvPr/>
        </p:nvSpPr>
        <p:spPr>
          <a:xfrm>
            <a:off x="7232904" y="3913632"/>
            <a:ext cx="3870655" cy="219456"/>
          </a:xfrm>
          <a:prstGeom prst="rect">
            <a:avLst/>
          </a:prstGeom>
          <a:noFill/>
          <a:ln/>
        </p:spPr>
        <p:txBody>
          <a:bodyPr wrap="square" lIns="0" tIns="0" rIns="0" bIns="0" rtlCol="0" anchor="ctr"/>
          <a:lstStyle/>
          <a:p>
            <a:pPr algn="l" indent="0" marL="0">
              <a:buNone/>
            </a:pPr>
            <a:r>
              <a:rPr lang="en-US" sz="1000" dirty="0">
                <a:solidFill>
                  <a:srgbClr val="6B6478"/>
                </a:solidFill>
                <a:latin typeface="Calibri" pitchFamily="34" charset="0"/>
                <a:ea typeface="Calibri" pitchFamily="34" charset="-122"/>
                <a:cs typeface="Calibri" pitchFamily="34" charset="-120"/>
              </a:rPr>
              <a:t>30 floor staff adopt an app</a:t>
            </a:r>
            <a:endParaRPr lang="en-US" sz="1000" dirty="0"/>
          </a:p>
        </p:txBody>
      </p:sp>
      <p:sp>
        <p:nvSpPr>
          <p:cNvPr id="56" name="Text 54"/>
          <p:cNvSpPr/>
          <p:nvPr/>
        </p:nvSpPr>
        <p:spPr>
          <a:xfrm>
            <a:off x="7013448" y="4096512"/>
            <a:ext cx="228600" cy="219456"/>
          </a:xfrm>
          <a:prstGeom prst="rect">
            <a:avLst/>
          </a:prstGeom>
          <a:noFill/>
          <a:ln/>
        </p:spPr>
        <p:txBody>
          <a:bodyPr wrap="square" lIns="0" tIns="0" rIns="0" bIns="0" rtlCol="0" anchor="t"/>
          <a:lstStyle/>
          <a:p>
            <a:pPr algn="l" indent="0" marL="0">
              <a:buNone/>
            </a:pPr>
            <a:r>
              <a:rPr lang="en-US" sz="1100" b="1" dirty="0">
                <a:solidFill>
                  <a:srgbClr val="5A6CE6"/>
                </a:solidFill>
                <a:latin typeface="Calibri" pitchFamily="34" charset="0"/>
                <a:ea typeface="Calibri" pitchFamily="34" charset="-122"/>
                <a:cs typeface="Calibri" pitchFamily="34" charset="-120"/>
              </a:rPr>
              <a:t>✓</a:t>
            </a:r>
            <a:endParaRPr lang="en-US" sz="1100" dirty="0"/>
          </a:p>
        </p:txBody>
      </p:sp>
      <p:sp>
        <p:nvSpPr>
          <p:cNvPr id="57" name="Text 55"/>
          <p:cNvSpPr/>
          <p:nvPr/>
        </p:nvSpPr>
        <p:spPr>
          <a:xfrm>
            <a:off x="7232904" y="4096512"/>
            <a:ext cx="3870655" cy="219456"/>
          </a:xfrm>
          <a:prstGeom prst="rect">
            <a:avLst/>
          </a:prstGeom>
          <a:noFill/>
          <a:ln/>
        </p:spPr>
        <p:txBody>
          <a:bodyPr wrap="square" lIns="0" tIns="0" rIns="0" bIns="0" rtlCol="0" anchor="ctr"/>
          <a:lstStyle/>
          <a:p>
            <a:pPr algn="l" indent="0" marL="0">
              <a:buNone/>
            </a:pPr>
            <a:r>
              <a:rPr lang="en-US" sz="1000" b="1" dirty="0">
                <a:solidFill>
                  <a:srgbClr val="181818"/>
                </a:solidFill>
                <a:latin typeface="Calibri" pitchFamily="34" charset="0"/>
                <a:ea typeface="Calibri" pitchFamily="34" charset="-122"/>
                <a:cs typeface="Calibri" pitchFamily="34" charset="-120"/>
              </a:rPr>
              <a:t>1 clinical owner adopts a ritual</a:t>
            </a:r>
            <a:endParaRPr lang="en-US" sz="1000" dirty="0"/>
          </a:p>
        </p:txBody>
      </p:sp>
      <p:sp>
        <p:nvSpPr>
          <p:cNvPr id="58" name="Text 56"/>
          <p:cNvSpPr/>
          <p:nvPr/>
        </p:nvSpPr>
        <p:spPr>
          <a:xfrm>
            <a:off x="7013448" y="4325112"/>
            <a:ext cx="228600" cy="219456"/>
          </a:xfrm>
          <a:prstGeom prst="rect">
            <a:avLst/>
          </a:prstGeom>
          <a:noFill/>
          <a:ln/>
        </p:spPr>
        <p:txBody>
          <a:bodyPr wrap="square" lIns="0" tIns="0" rIns="0" bIns="0" rtlCol="0" anchor="t"/>
          <a:lstStyle/>
          <a:p>
            <a:pPr algn="l" indent="0" marL="0">
              <a:buNone/>
            </a:pPr>
            <a:r>
              <a:rPr lang="en-US" sz="1100" b="1" dirty="0">
                <a:solidFill>
                  <a:srgbClr val="9A93B0"/>
                </a:solidFill>
                <a:latin typeface="Calibri" pitchFamily="34" charset="0"/>
                <a:ea typeface="Calibri" pitchFamily="34" charset="-122"/>
                <a:cs typeface="Calibri" pitchFamily="34" charset="-120"/>
              </a:rPr>
              <a:t>✗</a:t>
            </a:r>
            <a:endParaRPr lang="en-US" sz="1100" dirty="0"/>
          </a:p>
        </p:txBody>
      </p:sp>
      <p:sp>
        <p:nvSpPr>
          <p:cNvPr id="59" name="Text 57"/>
          <p:cNvSpPr/>
          <p:nvPr/>
        </p:nvSpPr>
        <p:spPr>
          <a:xfrm>
            <a:off x="7232904" y="4325112"/>
            <a:ext cx="3870655" cy="219456"/>
          </a:xfrm>
          <a:prstGeom prst="rect">
            <a:avLst/>
          </a:prstGeom>
          <a:noFill/>
          <a:ln/>
        </p:spPr>
        <p:txBody>
          <a:bodyPr wrap="square" lIns="0" tIns="0" rIns="0" bIns="0" rtlCol="0" anchor="ctr"/>
          <a:lstStyle/>
          <a:p>
            <a:pPr algn="l" indent="0" marL="0">
              <a:buNone/>
            </a:pPr>
            <a:r>
              <a:rPr lang="en-US" sz="1000" dirty="0">
                <a:solidFill>
                  <a:srgbClr val="6B6478"/>
                </a:solidFill>
                <a:latin typeface="Calibri" pitchFamily="34" charset="0"/>
                <a:ea typeface="Calibri" pitchFamily="34" charset="-122"/>
                <a:cs typeface="Calibri" pitchFamily="34" charset="-120"/>
              </a:rPr>
              <a:t>A new dashboard</a:t>
            </a:r>
            <a:endParaRPr lang="en-US" sz="1000" dirty="0"/>
          </a:p>
        </p:txBody>
      </p:sp>
      <p:sp>
        <p:nvSpPr>
          <p:cNvPr id="60" name="Text 58"/>
          <p:cNvSpPr/>
          <p:nvPr/>
        </p:nvSpPr>
        <p:spPr>
          <a:xfrm>
            <a:off x="7013448" y="4507992"/>
            <a:ext cx="228600" cy="219456"/>
          </a:xfrm>
          <a:prstGeom prst="rect">
            <a:avLst/>
          </a:prstGeom>
          <a:noFill/>
          <a:ln/>
        </p:spPr>
        <p:txBody>
          <a:bodyPr wrap="square" lIns="0" tIns="0" rIns="0" bIns="0" rtlCol="0" anchor="t"/>
          <a:lstStyle/>
          <a:p>
            <a:pPr algn="l" indent="0" marL="0">
              <a:buNone/>
            </a:pPr>
            <a:r>
              <a:rPr lang="en-US" sz="1100" b="1" dirty="0">
                <a:solidFill>
                  <a:srgbClr val="5A6CE6"/>
                </a:solidFill>
                <a:latin typeface="Calibri" pitchFamily="34" charset="0"/>
                <a:ea typeface="Calibri" pitchFamily="34" charset="-122"/>
                <a:cs typeface="Calibri" pitchFamily="34" charset="-120"/>
              </a:rPr>
              <a:t>✓</a:t>
            </a:r>
            <a:endParaRPr lang="en-US" sz="1100" dirty="0"/>
          </a:p>
        </p:txBody>
      </p:sp>
      <p:sp>
        <p:nvSpPr>
          <p:cNvPr id="61" name="Text 59"/>
          <p:cNvSpPr/>
          <p:nvPr/>
        </p:nvSpPr>
        <p:spPr>
          <a:xfrm>
            <a:off x="7232904" y="4507992"/>
            <a:ext cx="3870655" cy="219456"/>
          </a:xfrm>
          <a:prstGeom prst="rect">
            <a:avLst/>
          </a:prstGeom>
          <a:noFill/>
          <a:ln/>
        </p:spPr>
        <p:txBody>
          <a:bodyPr wrap="square" lIns="0" tIns="0" rIns="0" bIns="0" rtlCol="0" anchor="ctr"/>
          <a:lstStyle/>
          <a:p>
            <a:pPr algn="l" indent="0" marL="0">
              <a:buNone/>
            </a:pPr>
            <a:r>
              <a:rPr lang="en-US" sz="1000" b="1" dirty="0">
                <a:solidFill>
                  <a:srgbClr val="181818"/>
                </a:solidFill>
                <a:latin typeface="Calibri" pitchFamily="34" charset="0"/>
                <a:ea typeface="Calibri" pitchFamily="34" charset="-122"/>
                <a:cs typeface="Calibri" pitchFamily="34" charset="-120"/>
              </a:rPr>
              <a:t>A meeting that already happens</a:t>
            </a:r>
            <a:endParaRPr lang="en-US" sz="1000" dirty="0"/>
          </a:p>
        </p:txBody>
      </p:sp>
      <p:sp>
        <p:nvSpPr>
          <p:cNvPr id="62" name="Text 60"/>
          <p:cNvSpPr/>
          <p:nvPr/>
        </p:nvSpPr>
        <p:spPr>
          <a:xfrm>
            <a:off x="7013448" y="4736592"/>
            <a:ext cx="228600" cy="219456"/>
          </a:xfrm>
          <a:prstGeom prst="rect">
            <a:avLst/>
          </a:prstGeom>
          <a:noFill/>
          <a:ln/>
        </p:spPr>
        <p:txBody>
          <a:bodyPr wrap="square" lIns="0" tIns="0" rIns="0" bIns="0" rtlCol="0" anchor="t"/>
          <a:lstStyle/>
          <a:p>
            <a:pPr algn="l" indent="0" marL="0">
              <a:buNone/>
            </a:pPr>
            <a:r>
              <a:rPr lang="en-US" sz="1100" b="1" dirty="0">
                <a:solidFill>
                  <a:srgbClr val="9A93B0"/>
                </a:solidFill>
                <a:latin typeface="Calibri" pitchFamily="34" charset="0"/>
                <a:ea typeface="Calibri" pitchFamily="34" charset="-122"/>
                <a:cs typeface="Calibri" pitchFamily="34" charset="-120"/>
              </a:rPr>
              <a:t>✗</a:t>
            </a:r>
            <a:endParaRPr lang="en-US" sz="1100" dirty="0"/>
          </a:p>
        </p:txBody>
      </p:sp>
      <p:sp>
        <p:nvSpPr>
          <p:cNvPr id="63" name="Text 61"/>
          <p:cNvSpPr/>
          <p:nvPr/>
        </p:nvSpPr>
        <p:spPr>
          <a:xfrm>
            <a:off x="7232904" y="4736592"/>
            <a:ext cx="3870655" cy="219456"/>
          </a:xfrm>
          <a:prstGeom prst="rect">
            <a:avLst/>
          </a:prstGeom>
          <a:noFill/>
          <a:ln/>
        </p:spPr>
        <p:txBody>
          <a:bodyPr wrap="square" lIns="0" tIns="0" rIns="0" bIns="0" rtlCol="0" anchor="ctr"/>
          <a:lstStyle/>
          <a:p>
            <a:pPr algn="l" indent="0" marL="0">
              <a:buNone/>
            </a:pPr>
            <a:r>
              <a:rPr lang="en-US" sz="1000" dirty="0">
                <a:solidFill>
                  <a:srgbClr val="6B6478"/>
                </a:solidFill>
                <a:latin typeface="Calibri" pitchFamily="34" charset="0"/>
                <a:ea typeface="Calibri" pitchFamily="34" charset="-122"/>
                <a:cs typeface="Calibri" pitchFamily="34" charset="-120"/>
              </a:rPr>
              <a:t>20 soft signals</a:t>
            </a:r>
            <a:endParaRPr lang="en-US" sz="1000" dirty="0"/>
          </a:p>
        </p:txBody>
      </p:sp>
      <p:sp>
        <p:nvSpPr>
          <p:cNvPr id="64" name="Text 62"/>
          <p:cNvSpPr/>
          <p:nvPr/>
        </p:nvSpPr>
        <p:spPr>
          <a:xfrm>
            <a:off x="7013448" y="4919472"/>
            <a:ext cx="228600" cy="219456"/>
          </a:xfrm>
          <a:prstGeom prst="rect">
            <a:avLst/>
          </a:prstGeom>
          <a:noFill/>
          <a:ln/>
        </p:spPr>
        <p:txBody>
          <a:bodyPr wrap="square" lIns="0" tIns="0" rIns="0" bIns="0" rtlCol="0" anchor="t"/>
          <a:lstStyle/>
          <a:p>
            <a:pPr algn="l" indent="0" marL="0">
              <a:buNone/>
            </a:pPr>
            <a:r>
              <a:rPr lang="en-US" sz="1100" b="1" dirty="0">
                <a:solidFill>
                  <a:srgbClr val="5A6CE6"/>
                </a:solidFill>
                <a:latin typeface="Calibri" pitchFamily="34" charset="0"/>
                <a:ea typeface="Calibri" pitchFamily="34" charset="-122"/>
                <a:cs typeface="Calibri" pitchFamily="34" charset="-120"/>
              </a:rPr>
              <a:t>✓</a:t>
            </a:r>
            <a:endParaRPr lang="en-US" sz="1100" dirty="0"/>
          </a:p>
        </p:txBody>
      </p:sp>
      <p:sp>
        <p:nvSpPr>
          <p:cNvPr id="65" name="Text 63"/>
          <p:cNvSpPr/>
          <p:nvPr/>
        </p:nvSpPr>
        <p:spPr>
          <a:xfrm>
            <a:off x="7232904" y="4919472"/>
            <a:ext cx="3870655" cy="219456"/>
          </a:xfrm>
          <a:prstGeom prst="rect">
            <a:avLst/>
          </a:prstGeom>
          <a:noFill/>
          <a:ln/>
        </p:spPr>
        <p:txBody>
          <a:bodyPr wrap="square" lIns="0" tIns="0" rIns="0" bIns="0" rtlCol="0" anchor="ctr"/>
          <a:lstStyle/>
          <a:p>
            <a:pPr algn="l" indent="0" marL="0">
              <a:buNone/>
            </a:pPr>
            <a:r>
              <a:rPr lang="en-US" sz="1000" b="1" dirty="0">
                <a:solidFill>
                  <a:srgbClr val="181818"/>
                </a:solidFill>
                <a:latin typeface="Calibri" pitchFamily="34" charset="0"/>
                <a:ea typeface="Calibri" pitchFamily="34" charset="-122"/>
                <a:cs typeface="Calibri" pitchFamily="34" charset="-120"/>
              </a:rPr>
              <a:t>2–3 curated candidates a week</a:t>
            </a:r>
            <a:endParaRPr lang="en-US" sz="1000" dirty="0"/>
          </a:p>
        </p:txBody>
      </p:sp>
      <p:sp>
        <p:nvSpPr>
          <p:cNvPr id="66" name="Text 64"/>
          <p:cNvSpPr/>
          <p:nvPr/>
        </p:nvSpPr>
        <p:spPr>
          <a:xfrm>
            <a:off x="7013448" y="5148072"/>
            <a:ext cx="228600" cy="219456"/>
          </a:xfrm>
          <a:prstGeom prst="rect">
            <a:avLst/>
          </a:prstGeom>
          <a:noFill/>
          <a:ln/>
        </p:spPr>
        <p:txBody>
          <a:bodyPr wrap="square" lIns="0" tIns="0" rIns="0" bIns="0" rtlCol="0" anchor="t"/>
          <a:lstStyle/>
          <a:p>
            <a:pPr algn="l" indent="0" marL="0">
              <a:buNone/>
            </a:pPr>
            <a:r>
              <a:rPr lang="en-US" sz="1100" b="1" dirty="0">
                <a:solidFill>
                  <a:srgbClr val="9A93B0"/>
                </a:solidFill>
                <a:latin typeface="Calibri" pitchFamily="34" charset="0"/>
                <a:ea typeface="Calibri" pitchFamily="34" charset="-122"/>
                <a:cs typeface="Calibri" pitchFamily="34" charset="-120"/>
              </a:rPr>
              <a:t>✗</a:t>
            </a:r>
            <a:endParaRPr lang="en-US" sz="1100" dirty="0"/>
          </a:p>
        </p:txBody>
      </p:sp>
      <p:sp>
        <p:nvSpPr>
          <p:cNvPr id="67" name="Text 65"/>
          <p:cNvSpPr/>
          <p:nvPr/>
        </p:nvSpPr>
        <p:spPr>
          <a:xfrm>
            <a:off x="7232904" y="5148072"/>
            <a:ext cx="3870655" cy="219456"/>
          </a:xfrm>
          <a:prstGeom prst="rect">
            <a:avLst/>
          </a:prstGeom>
          <a:noFill/>
          <a:ln/>
        </p:spPr>
        <p:txBody>
          <a:bodyPr wrap="square" lIns="0" tIns="0" rIns="0" bIns="0" rtlCol="0" anchor="ctr"/>
          <a:lstStyle/>
          <a:p>
            <a:pPr algn="l" indent="0" marL="0">
              <a:buNone/>
            </a:pPr>
            <a:r>
              <a:rPr lang="en-US" sz="1000" dirty="0">
                <a:solidFill>
                  <a:srgbClr val="6B6478"/>
                </a:solidFill>
                <a:latin typeface="Calibri" pitchFamily="34" charset="0"/>
                <a:ea typeface="Calibri" pitchFamily="34" charset="-122"/>
                <a:cs typeface="Calibri" pitchFamily="34" charset="-120"/>
              </a:rPr>
              <a:t>Single-event alerts</a:t>
            </a:r>
            <a:endParaRPr lang="en-US" sz="1000" dirty="0"/>
          </a:p>
        </p:txBody>
      </p:sp>
      <p:sp>
        <p:nvSpPr>
          <p:cNvPr id="68" name="Text 66"/>
          <p:cNvSpPr/>
          <p:nvPr/>
        </p:nvSpPr>
        <p:spPr>
          <a:xfrm>
            <a:off x="7013448" y="5330952"/>
            <a:ext cx="228600" cy="219456"/>
          </a:xfrm>
          <a:prstGeom prst="rect">
            <a:avLst/>
          </a:prstGeom>
          <a:noFill/>
          <a:ln/>
        </p:spPr>
        <p:txBody>
          <a:bodyPr wrap="square" lIns="0" tIns="0" rIns="0" bIns="0" rtlCol="0" anchor="t"/>
          <a:lstStyle/>
          <a:p>
            <a:pPr algn="l" indent="0" marL="0">
              <a:buNone/>
            </a:pPr>
            <a:r>
              <a:rPr lang="en-US" sz="1100" b="1" dirty="0">
                <a:solidFill>
                  <a:srgbClr val="5A6CE6"/>
                </a:solidFill>
                <a:latin typeface="Calibri" pitchFamily="34" charset="0"/>
                <a:ea typeface="Calibri" pitchFamily="34" charset="-122"/>
                <a:cs typeface="Calibri" pitchFamily="34" charset="-120"/>
              </a:rPr>
              <a:t>✓</a:t>
            </a:r>
            <a:endParaRPr lang="en-US" sz="1100" dirty="0"/>
          </a:p>
        </p:txBody>
      </p:sp>
      <p:sp>
        <p:nvSpPr>
          <p:cNvPr id="69" name="Text 67"/>
          <p:cNvSpPr/>
          <p:nvPr/>
        </p:nvSpPr>
        <p:spPr>
          <a:xfrm>
            <a:off x="7232904" y="5330952"/>
            <a:ext cx="3870655" cy="219456"/>
          </a:xfrm>
          <a:prstGeom prst="rect">
            <a:avLst/>
          </a:prstGeom>
          <a:noFill/>
          <a:ln/>
        </p:spPr>
        <p:txBody>
          <a:bodyPr wrap="square" lIns="0" tIns="0" rIns="0" bIns="0" rtlCol="0" anchor="ctr"/>
          <a:lstStyle/>
          <a:p>
            <a:pPr algn="l" indent="0" marL="0">
              <a:buNone/>
            </a:pPr>
            <a:r>
              <a:rPr lang="en-US" sz="1000" b="1" dirty="0">
                <a:solidFill>
                  <a:srgbClr val="181818"/>
                </a:solidFill>
                <a:latin typeface="Calibri" pitchFamily="34" charset="0"/>
                <a:ea typeface="Calibri" pitchFamily="34" charset="-122"/>
                <a:cs typeface="Calibri" pitchFamily="34" charset="-120"/>
              </a:rPr>
              <a:t>Multi-week trends, robust to one bad frame</a:t>
            </a:r>
            <a:endParaRPr lang="en-US" sz="1000" dirty="0"/>
          </a:p>
        </p:txBody>
      </p:sp>
      <p:sp>
        <p:nvSpPr>
          <p:cNvPr id="70" name="Shape 68"/>
          <p:cNvSpPr/>
          <p:nvPr/>
        </p:nvSpPr>
        <p:spPr>
          <a:xfrm>
            <a:off x="777240" y="5742432"/>
            <a:ext cx="10637215" cy="457200"/>
          </a:xfrm>
          <a:prstGeom prst="roundRect">
            <a:avLst>
              <a:gd name="adj" fmla="val 20000"/>
            </a:avLst>
          </a:prstGeom>
          <a:solidFill>
            <a:srgbClr val="F4F4F4"/>
          </a:solidFill>
          <a:ln/>
        </p:spPr>
      </p:sp>
      <p:sp>
        <p:nvSpPr>
          <p:cNvPr id="71" name="Text 69"/>
          <p:cNvSpPr/>
          <p:nvPr/>
        </p:nvSpPr>
        <p:spPr>
          <a:xfrm>
            <a:off x="1051560" y="5742432"/>
            <a:ext cx="10088575" cy="457200"/>
          </a:xfrm>
          <a:prstGeom prst="rect">
            <a:avLst/>
          </a:prstGeom>
          <a:noFill/>
          <a:ln/>
        </p:spPr>
        <p:txBody>
          <a:bodyPr wrap="square" lIns="0" tIns="0" rIns="0" bIns="0" rtlCol="0" anchor="ctr"/>
          <a:lstStyle/>
          <a:p>
            <a:pPr algn="l" indent="0" marL="0">
              <a:buNone/>
            </a:pPr>
            <a:r>
              <a:rPr lang="en-US" sz="1000" b="1" dirty="0">
                <a:solidFill>
                  <a:srgbClr val="181818"/>
                </a:solidFill>
                <a:latin typeface="Calibri" pitchFamily="34" charset="0"/>
                <a:ea typeface="Calibri" pitchFamily="34" charset="-122"/>
                <a:cs typeface="Calibri" pitchFamily="34" charset="-120"/>
              </a:rPr>
              <a:t>Out of scope for six months:  </a:t>
            </a:r>
            <a:pPr algn="l" indent="0" marL="0">
              <a:buNone/>
            </a:pPr>
            <a:r>
              <a:rPr lang="en-US" sz="1000" dirty="0">
                <a:solidFill>
                  <a:srgbClr val="5B5F63"/>
                </a:solidFill>
                <a:latin typeface="Calibri" pitchFamily="34" charset="0"/>
                <a:ea typeface="Calibri" pitchFamily="34" charset="-122"/>
                <a:cs typeface="Calibri" pitchFamily="34" charset="-120"/>
              </a:rPr>
              <a:t>family live feed · automated care levels · multi-EHR platform · independent-living rollout · night-staffing “optimization.”</a:t>
            </a:r>
            <a:endParaRPr lang="en-US" sz="1000" dirty="0"/>
          </a:p>
        </p:txBody>
      </p:sp>
      <p:sp>
        <p:nvSpPr>
          <p:cNvPr id="72" name="Text 70"/>
          <p:cNvSpPr/>
          <p:nvPr/>
        </p:nvSpPr>
        <p:spPr>
          <a:xfrm>
            <a:off x="777240" y="6473952"/>
            <a:ext cx="4937760" cy="237744"/>
          </a:xfrm>
          <a:prstGeom prst="rect">
            <a:avLst/>
          </a:prstGeom>
          <a:noFill/>
          <a:ln/>
        </p:spPr>
        <p:txBody>
          <a:bodyPr wrap="square" lIns="0" tIns="0" rIns="0" bIns="0" rtlCol="0" anchor="ctr"/>
          <a:lstStyle/>
          <a:p>
            <a:pPr algn="l" indent="0" marL="0">
              <a:buNone/>
            </a:pPr>
            <a:r>
              <a:rPr lang="en-US" sz="850" dirty="0">
                <a:solidFill>
                  <a:srgbClr val="8E8E8E"/>
                </a:solidFill>
                <a:latin typeface="Calibri" pitchFamily="34" charset="0"/>
                <a:ea typeface="Calibri" pitchFamily="34" charset="-122"/>
                <a:cs typeface="Calibri" pitchFamily="34" charset="-120"/>
              </a:rPr>
              <a:t>Week 2, Not Week 12  ·  Teton PM Challenge</a:t>
            </a:r>
            <a:endParaRPr lang="en-US" sz="850" dirty="0"/>
          </a:p>
        </p:txBody>
      </p:sp>
      <p:sp>
        <p:nvSpPr>
          <p:cNvPr id="73" name="Shape 71"/>
          <p:cNvSpPr/>
          <p:nvPr/>
        </p:nvSpPr>
        <p:spPr>
          <a:xfrm>
            <a:off x="8878824" y="6400800"/>
            <a:ext cx="1499616" cy="274320"/>
          </a:xfrm>
          <a:prstGeom prst="roundRect">
            <a:avLst>
              <a:gd name="adj" fmla="val 50000"/>
            </a:avLst>
          </a:prstGeom>
          <a:solidFill>
            <a:srgbClr val="F4F4F4"/>
          </a:solidFill>
          <a:ln/>
        </p:spPr>
      </p:sp>
      <p:sp>
        <p:nvSpPr>
          <p:cNvPr id="74" name="Text 72"/>
          <p:cNvSpPr/>
          <p:nvPr/>
        </p:nvSpPr>
        <p:spPr>
          <a:xfrm>
            <a:off x="8878824" y="6400800"/>
            <a:ext cx="1499616" cy="274320"/>
          </a:xfrm>
          <a:prstGeom prst="rect">
            <a:avLst/>
          </a:prstGeom>
          <a:noFill/>
          <a:ln/>
        </p:spPr>
        <p:txBody>
          <a:bodyPr wrap="square" lIns="0" tIns="0" rIns="0" bIns="0" rtlCol="0" anchor="ctr"/>
          <a:lstStyle/>
          <a:p>
            <a:pPr algn="ctr" indent="0" marL="0">
              <a:buNone/>
            </a:pPr>
            <a:r>
              <a:rPr lang="en-US" sz="850" b="1" dirty="0">
                <a:solidFill>
                  <a:srgbClr val="5A6CE6"/>
                </a:solidFill>
                <a:latin typeface="Calibri" pitchFamily="34" charset="0"/>
                <a:ea typeface="Calibri" pitchFamily="34" charset="-122"/>
                <a:cs typeface="Calibri" pitchFamily="34" charset="-120"/>
              </a:rPr>
              <a:t>Prompt: Product direction</a:t>
            </a:r>
            <a:endParaRPr lang="en-US" sz="850" dirty="0"/>
          </a:p>
        </p:txBody>
      </p:sp>
      <p:sp>
        <p:nvSpPr>
          <p:cNvPr id="75" name="Text 73"/>
          <p:cNvSpPr/>
          <p:nvPr/>
        </p:nvSpPr>
        <p:spPr>
          <a:xfrm>
            <a:off x="10515600" y="6473952"/>
            <a:ext cx="896112" cy="237744"/>
          </a:xfrm>
          <a:prstGeom prst="rect">
            <a:avLst/>
          </a:prstGeom>
          <a:noFill/>
          <a:ln/>
        </p:spPr>
        <p:txBody>
          <a:bodyPr wrap="square" lIns="0" tIns="0" rIns="0" bIns="0" rtlCol="0" anchor="ctr"/>
          <a:lstStyle/>
          <a:p>
            <a:pPr algn="r" indent="0" marL="0">
              <a:buNone/>
            </a:pPr>
            <a:r>
              <a:rPr lang="en-US" sz="850" dirty="0">
                <a:solidFill>
                  <a:srgbClr val="8E8E8E"/>
                </a:solidFill>
                <a:latin typeface="Calibri" pitchFamily="34" charset="0"/>
                <a:ea typeface="Calibri" pitchFamily="34" charset="-122"/>
                <a:cs typeface="Calibri" pitchFamily="34" charset="-120"/>
              </a:rPr>
              <a:t>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77240" y="338328"/>
            <a:ext cx="109728" cy="109728"/>
          </a:xfrm>
          <a:prstGeom prst="ellipse">
            <a:avLst/>
          </a:prstGeom>
          <a:solidFill>
            <a:srgbClr val="5A6CE6"/>
          </a:solidFill>
          <a:ln/>
        </p:spPr>
      </p:sp>
      <p:sp>
        <p:nvSpPr>
          <p:cNvPr id="3" name="Text 1"/>
          <p:cNvSpPr/>
          <p:nvPr/>
        </p:nvSpPr>
        <p:spPr>
          <a:xfrm>
            <a:off x="978408" y="246888"/>
            <a:ext cx="7315200" cy="292608"/>
          </a:xfrm>
          <a:prstGeom prst="rect">
            <a:avLst/>
          </a:prstGeom>
          <a:noFill/>
          <a:ln/>
        </p:spPr>
        <p:txBody>
          <a:bodyPr wrap="square" lIns="0" tIns="0" rIns="0" bIns="0" rtlCol="0" anchor="ctr"/>
          <a:lstStyle/>
          <a:p>
            <a:pPr algn="l" indent="0" marL="0">
              <a:buNone/>
            </a:pPr>
            <a:r>
              <a:rPr lang="en-US" sz="1100" b="1" spc="200" kern="0" dirty="0">
                <a:solidFill>
                  <a:srgbClr val="8E8E8E"/>
                </a:solidFill>
                <a:latin typeface="Calibri" pitchFamily="34" charset="0"/>
                <a:ea typeface="Calibri" pitchFamily="34" charset="-122"/>
                <a:cs typeface="Calibri" pitchFamily="34" charset="-120"/>
              </a:rPr>
              <a:t>TETON INTERVIEW READOUT   ·   DE-RISKING</a:t>
            </a:r>
            <a:endParaRPr lang="en-US" sz="1100" dirty="0"/>
          </a:p>
        </p:txBody>
      </p:sp>
      <p:sp>
        <p:nvSpPr>
          <p:cNvPr id="4" name="Text 2"/>
          <p:cNvSpPr/>
          <p:nvPr/>
        </p:nvSpPr>
        <p:spPr>
          <a:xfrm>
            <a:off x="777240" y="640080"/>
            <a:ext cx="10637215" cy="822960"/>
          </a:xfrm>
          <a:prstGeom prst="rect">
            <a:avLst/>
          </a:prstGeom>
          <a:noFill/>
          <a:ln/>
        </p:spPr>
        <p:txBody>
          <a:bodyPr wrap="square" lIns="0" tIns="0" rIns="0" bIns="0" rtlCol="0" anchor="t"/>
          <a:lstStyle/>
          <a:p>
            <a:pPr algn="l" indent="0" marL="0">
              <a:lnSpc>
                <a:spcPct val="102000"/>
              </a:lnSpc>
              <a:buNone/>
            </a:pPr>
            <a:r>
              <a:rPr lang="en-US" sz="2250" b="1" dirty="0">
                <a:solidFill>
                  <a:srgbClr val="181818"/>
                </a:solidFill>
                <a:latin typeface="Calibri" pitchFamily="34" charset="0"/>
                <a:ea typeface="Calibri" pitchFamily="34" charset="-122"/>
                <a:cs typeface="Calibri" pitchFamily="34" charset="-120"/>
              </a:rPr>
              <a:t>What must be true — ranked risks, the tests, and what would change the plan</a:t>
            </a:r>
            <a:endParaRPr lang="en-US" sz="2250" dirty="0"/>
          </a:p>
        </p:txBody>
      </p:sp>
      <p:sp>
        <p:nvSpPr>
          <p:cNvPr id="5" name="Text 3"/>
          <p:cNvSpPr/>
          <p:nvPr/>
        </p:nvSpPr>
        <p:spPr>
          <a:xfrm>
            <a:off x="777240" y="1426464"/>
            <a:ext cx="10637215" cy="320040"/>
          </a:xfrm>
          <a:prstGeom prst="rect">
            <a:avLst/>
          </a:prstGeom>
          <a:noFill/>
          <a:ln/>
        </p:spPr>
        <p:txBody>
          <a:bodyPr wrap="square" lIns="0" tIns="0" rIns="0" bIns="0" rtlCol="0" anchor="t"/>
          <a:lstStyle/>
          <a:p>
            <a:pPr algn="l" indent="0" marL="0">
              <a:buNone/>
            </a:pPr>
            <a:r>
              <a:rPr lang="en-US" sz="1350" dirty="0">
                <a:solidFill>
                  <a:srgbClr val="8E8E8E"/>
                </a:solidFill>
                <a:latin typeface="Calibri" pitchFamily="34" charset="0"/>
                <a:ea typeface="Calibri" pitchFamily="34" charset="-122"/>
                <a:cs typeface="Calibri" pitchFamily="34" charset="-120"/>
              </a:rPr>
              <a:t>Signal quality gates everything; workflow fit decides the shape; behavior change decides the value.</a:t>
            </a:r>
            <a:endParaRPr lang="en-US" sz="1350" dirty="0"/>
          </a:p>
        </p:txBody>
      </p:sp>
      <p:sp>
        <p:nvSpPr>
          <p:cNvPr id="6" name="Shape 4"/>
          <p:cNvSpPr/>
          <p:nvPr/>
        </p:nvSpPr>
        <p:spPr>
          <a:xfrm>
            <a:off x="777240" y="1810512"/>
            <a:ext cx="10637215" cy="402336"/>
          </a:xfrm>
          <a:prstGeom prst="roundRect">
            <a:avLst>
              <a:gd name="adj" fmla="val 22727"/>
            </a:avLst>
          </a:prstGeom>
          <a:solidFill>
            <a:srgbClr val="16181C"/>
          </a:solidFill>
          <a:ln/>
        </p:spPr>
      </p:sp>
      <p:sp>
        <p:nvSpPr>
          <p:cNvPr id="7" name="Text 5"/>
          <p:cNvSpPr/>
          <p:nvPr/>
        </p:nvSpPr>
        <p:spPr>
          <a:xfrm>
            <a:off x="960120" y="1810512"/>
            <a:ext cx="2587752" cy="402336"/>
          </a:xfrm>
          <a:prstGeom prst="rect">
            <a:avLst/>
          </a:prstGeom>
          <a:noFill/>
          <a:ln/>
        </p:spPr>
        <p:txBody>
          <a:bodyPr wrap="square" lIns="0" tIns="0" rIns="0" bIns="0" rtlCol="0" anchor="ctr"/>
          <a:lstStyle/>
          <a:p>
            <a:pPr algn="l" indent="0" marL="0">
              <a:buNone/>
            </a:pPr>
            <a:r>
              <a:rPr lang="en-US" sz="1000" b="1" spc="80" kern="0" dirty="0">
                <a:solidFill>
                  <a:srgbClr val="FFFFFF"/>
                </a:solidFill>
                <a:latin typeface="Calibri" pitchFamily="34" charset="0"/>
                <a:ea typeface="Calibri" pitchFamily="34" charset="-122"/>
                <a:cs typeface="Calibri" pitchFamily="34" charset="-120"/>
              </a:rPr>
              <a:t>RISKIEST ASSUMPTION</a:t>
            </a:r>
            <a:endParaRPr lang="en-US" sz="1000" dirty="0"/>
          </a:p>
        </p:txBody>
      </p:sp>
      <p:sp>
        <p:nvSpPr>
          <p:cNvPr id="8" name="Text 6"/>
          <p:cNvSpPr/>
          <p:nvPr/>
        </p:nvSpPr>
        <p:spPr>
          <a:xfrm>
            <a:off x="3840480" y="1810512"/>
            <a:ext cx="4050792" cy="402336"/>
          </a:xfrm>
          <a:prstGeom prst="rect">
            <a:avLst/>
          </a:prstGeom>
          <a:noFill/>
          <a:ln/>
        </p:spPr>
        <p:txBody>
          <a:bodyPr wrap="square" lIns="0" tIns="0" rIns="0" bIns="0" rtlCol="0" anchor="ctr"/>
          <a:lstStyle/>
          <a:p>
            <a:pPr algn="l" indent="0" marL="0">
              <a:buNone/>
            </a:pPr>
            <a:r>
              <a:rPr lang="en-US" sz="1000" b="1" spc="80" kern="0" dirty="0">
                <a:solidFill>
                  <a:srgbClr val="FFFFFF"/>
                </a:solidFill>
                <a:latin typeface="Calibri" pitchFamily="34" charset="0"/>
                <a:ea typeface="Calibri" pitchFamily="34" charset="-122"/>
                <a:cs typeface="Calibri" pitchFamily="34" charset="-120"/>
              </a:rPr>
              <a:t>HOW WE TEST IT (BEFORE SCALING THE BUILD)</a:t>
            </a:r>
            <a:endParaRPr lang="en-US" sz="1000" dirty="0"/>
          </a:p>
        </p:txBody>
      </p:sp>
      <p:sp>
        <p:nvSpPr>
          <p:cNvPr id="9" name="Text 7"/>
          <p:cNvSpPr/>
          <p:nvPr/>
        </p:nvSpPr>
        <p:spPr>
          <a:xfrm>
            <a:off x="8183880" y="1810512"/>
            <a:ext cx="3118104" cy="402336"/>
          </a:xfrm>
          <a:prstGeom prst="rect">
            <a:avLst/>
          </a:prstGeom>
          <a:noFill/>
          <a:ln/>
        </p:spPr>
        <p:txBody>
          <a:bodyPr wrap="square" lIns="0" tIns="0" rIns="0" bIns="0" rtlCol="0" anchor="ctr"/>
          <a:lstStyle/>
          <a:p>
            <a:pPr algn="l" indent="0" marL="0">
              <a:buNone/>
            </a:pPr>
            <a:r>
              <a:rPr lang="en-US" sz="1000" b="1" spc="80" kern="0" dirty="0">
                <a:solidFill>
                  <a:srgbClr val="FFFFFF"/>
                </a:solidFill>
                <a:latin typeface="Calibri" pitchFamily="34" charset="0"/>
                <a:ea typeface="Calibri" pitchFamily="34" charset="-122"/>
                <a:cs typeface="Calibri" pitchFamily="34" charset="-120"/>
              </a:rPr>
              <a:t>GATE TO PROCEED</a:t>
            </a:r>
            <a:endParaRPr lang="en-US" sz="1000" dirty="0"/>
          </a:p>
        </p:txBody>
      </p:sp>
      <p:sp>
        <p:nvSpPr>
          <p:cNvPr id="10" name="Shape 8"/>
          <p:cNvSpPr/>
          <p:nvPr/>
        </p:nvSpPr>
        <p:spPr>
          <a:xfrm>
            <a:off x="777240" y="2212848"/>
            <a:ext cx="10637215" cy="658368"/>
          </a:xfrm>
          <a:prstGeom prst="rect">
            <a:avLst/>
          </a:prstGeom>
          <a:solidFill>
            <a:srgbClr val="F4F4F4"/>
          </a:solidFill>
          <a:ln/>
        </p:spPr>
      </p:sp>
      <p:sp>
        <p:nvSpPr>
          <p:cNvPr id="11" name="Text 9"/>
          <p:cNvSpPr/>
          <p:nvPr/>
        </p:nvSpPr>
        <p:spPr>
          <a:xfrm>
            <a:off x="960120" y="2240280"/>
            <a:ext cx="2569464" cy="603504"/>
          </a:xfrm>
          <a:prstGeom prst="rect">
            <a:avLst/>
          </a:prstGeom>
          <a:noFill/>
          <a:ln/>
        </p:spPr>
        <p:txBody>
          <a:bodyPr wrap="square" lIns="0" tIns="0" rIns="0" bIns="0" rtlCol="0" anchor="ctr"/>
          <a:lstStyle/>
          <a:p>
            <a:pPr algn="l" indent="0" marL="0">
              <a:lnSpc>
                <a:spcPct val="102000"/>
              </a:lnSpc>
              <a:buNone/>
            </a:pPr>
            <a:r>
              <a:rPr lang="en-US" sz="1050" b="1" dirty="0">
                <a:solidFill>
                  <a:srgbClr val="181818"/>
                </a:solidFill>
                <a:latin typeface="Calibri" pitchFamily="34" charset="0"/>
                <a:ea typeface="Calibri" pitchFamily="34" charset="-122"/>
                <a:cs typeface="Calibri" pitchFamily="34" charset="-120"/>
              </a:rPr>
              <a:t>1 · Signal separates real decline from noise, weeks early</a:t>
            </a:r>
            <a:endParaRPr lang="en-US" sz="1050" dirty="0"/>
          </a:p>
        </p:txBody>
      </p:sp>
      <p:sp>
        <p:nvSpPr>
          <p:cNvPr id="12" name="Text 10"/>
          <p:cNvSpPr/>
          <p:nvPr/>
        </p:nvSpPr>
        <p:spPr>
          <a:xfrm>
            <a:off x="3840480" y="2240280"/>
            <a:ext cx="4032504" cy="603504"/>
          </a:xfrm>
          <a:prstGeom prst="rect">
            <a:avLst/>
          </a:prstGeom>
          <a:noFill/>
          <a:ln/>
        </p:spPr>
        <p:txBody>
          <a:bodyPr wrap="square" lIns="0" tIns="0" rIns="0" bIns="0" rtlCol="0" anchor="ctr"/>
          <a:lstStyle/>
          <a:p>
            <a:pPr algn="l" indent="0" marL="0">
              <a:lnSpc>
                <a:spcPct val="102000"/>
              </a:lnSpc>
              <a:buNone/>
            </a:pPr>
            <a:r>
              <a:rPr lang="en-US" sz="1050" dirty="0">
                <a:solidFill>
                  <a:srgbClr val="181818"/>
                </a:solidFill>
                <a:latin typeface="Calibri" pitchFamily="34" charset="0"/>
                <a:ea typeface="Calibri" pitchFamily="34" charset="-122"/>
                <a:cs typeface="Calibri" pitchFamily="34" charset="-120"/>
              </a:rPr>
              <a:t>Retrospective: replay 12 months of care-level changes, falls, hospitalizations &amp; change-of-condition events across 2–3 buildings against Teton data</a:t>
            </a:r>
            <a:endParaRPr lang="en-US" sz="1050" dirty="0"/>
          </a:p>
        </p:txBody>
      </p:sp>
      <p:sp>
        <p:nvSpPr>
          <p:cNvPr id="13" name="Text 11"/>
          <p:cNvSpPr/>
          <p:nvPr/>
        </p:nvSpPr>
        <p:spPr>
          <a:xfrm>
            <a:off x="8183880" y="2240280"/>
            <a:ext cx="3099816" cy="603504"/>
          </a:xfrm>
          <a:prstGeom prst="rect">
            <a:avLst/>
          </a:prstGeom>
          <a:noFill/>
          <a:ln/>
        </p:spPr>
        <p:txBody>
          <a:bodyPr wrap="square" lIns="0" tIns="0" rIns="0" bIns="0" rtlCol="0" anchor="ctr"/>
          <a:lstStyle/>
          <a:p>
            <a:pPr algn="l" indent="0" marL="0">
              <a:lnSpc>
                <a:spcPct val="102000"/>
              </a:lnSpc>
              <a:buNone/>
            </a:pPr>
            <a:r>
              <a:rPr lang="en-US" sz="1050" dirty="0">
                <a:solidFill>
                  <a:srgbClr val="181818"/>
                </a:solidFill>
                <a:latin typeface="Calibri" pitchFamily="34" charset="0"/>
                <a:ea typeface="Calibri" pitchFamily="34" charset="-122"/>
                <a:cs typeface="Calibri" pitchFamily="34" charset="-120"/>
              </a:rPr>
              <a:t>≥60% of true declines show signal ≥2 weeks pre-event — at ≤3 candidates/bldg/wk</a:t>
            </a:r>
            <a:endParaRPr lang="en-US" sz="1050" dirty="0"/>
          </a:p>
        </p:txBody>
      </p:sp>
      <p:sp>
        <p:nvSpPr>
          <p:cNvPr id="14" name="Shape 12"/>
          <p:cNvSpPr/>
          <p:nvPr/>
        </p:nvSpPr>
        <p:spPr>
          <a:xfrm>
            <a:off x="777240" y="2871216"/>
            <a:ext cx="10637215" cy="0"/>
          </a:xfrm>
          <a:prstGeom prst="line">
            <a:avLst/>
          </a:prstGeom>
          <a:noFill/>
          <a:ln w="9525">
            <a:solidFill>
              <a:srgbClr val="E6E6E6"/>
            </a:solidFill>
            <a:prstDash val="solid"/>
          </a:ln>
        </p:spPr>
      </p:sp>
      <p:sp>
        <p:nvSpPr>
          <p:cNvPr id="15" name="Text 13"/>
          <p:cNvSpPr/>
          <p:nvPr/>
        </p:nvSpPr>
        <p:spPr>
          <a:xfrm>
            <a:off x="960120" y="2898648"/>
            <a:ext cx="2569464" cy="603504"/>
          </a:xfrm>
          <a:prstGeom prst="rect">
            <a:avLst/>
          </a:prstGeom>
          <a:noFill/>
          <a:ln/>
        </p:spPr>
        <p:txBody>
          <a:bodyPr wrap="square" lIns="0" tIns="0" rIns="0" bIns="0" rtlCol="0" anchor="ctr"/>
          <a:lstStyle/>
          <a:p>
            <a:pPr algn="l" indent="0" marL="0">
              <a:lnSpc>
                <a:spcPct val="102000"/>
              </a:lnSpc>
              <a:buNone/>
            </a:pPr>
            <a:r>
              <a:rPr lang="en-US" sz="1050" b="1" dirty="0">
                <a:solidFill>
                  <a:srgbClr val="181818"/>
                </a:solidFill>
                <a:latin typeface="Calibri" pitchFamily="34" charset="0"/>
                <a:ea typeface="Calibri" pitchFamily="34" charset="-122"/>
                <a:cs typeface="Calibri" pitchFamily="34" charset="-120"/>
              </a:rPr>
              <a:t>2 · A named owner + existing cadence can absorb review</a:t>
            </a:r>
            <a:endParaRPr lang="en-US" sz="1050" dirty="0"/>
          </a:p>
        </p:txBody>
      </p:sp>
      <p:sp>
        <p:nvSpPr>
          <p:cNvPr id="16" name="Text 14"/>
          <p:cNvSpPr/>
          <p:nvPr/>
        </p:nvSpPr>
        <p:spPr>
          <a:xfrm>
            <a:off x="3840480" y="2898648"/>
            <a:ext cx="4032504" cy="603504"/>
          </a:xfrm>
          <a:prstGeom prst="rect">
            <a:avLst/>
          </a:prstGeom>
          <a:noFill/>
          <a:ln/>
        </p:spPr>
        <p:txBody>
          <a:bodyPr wrap="square" lIns="0" tIns="0" rIns="0" bIns="0" rtlCol="0" anchor="ctr"/>
          <a:lstStyle/>
          <a:p>
            <a:pPr algn="l" indent="0" marL="0">
              <a:lnSpc>
                <a:spcPct val="102000"/>
              </a:lnSpc>
              <a:buNone/>
            </a:pPr>
            <a:r>
              <a:rPr lang="en-US" sz="1050" dirty="0">
                <a:solidFill>
                  <a:srgbClr val="181818"/>
                </a:solidFill>
                <a:latin typeface="Calibri" pitchFamily="34" charset="0"/>
                <a:ea typeface="Calibri" pitchFamily="34" charset="-122"/>
                <a:cs typeface="Calibri" pitchFamily="34" charset="-120"/>
              </a:rPr>
              <a:t>Discovery: shadow reassessments, morning huddles, family-conference prep; map where change-of-condition lives (August / EHR / paper)</a:t>
            </a:r>
            <a:endParaRPr lang="en-US" sz="1050" dirty="0"/>
          </a:p>
        </p:txBody>
      </p:sp>
      <p:sp>
        <p:nvSpPr>
          <p:cNvPr id="17" name="Text 15"/>
          <p:cNvSpPr/>
          <p:nvPr/>
        </p:nvSpPr>
        <p:spPr>
          <a:xfrm>
            <a:off x="8183880" y="2898648"/>
            <a:ext cx="3099816" cy="603504"/>
          </a:xfrm>
          <a:prstGeom prst="rect">
            <a:avLst/>
          </a:prstGeom>
          <a:noFill/>
          <a:ln/>
        </p:spPr>
        <p:txBody>
          <a:bodyPr wrap="square" lIns="0" tIns="0" rIns="0" bIns="0" rtlCol="0" anchor="ctr"/>
          <a:lstStyle/>
          <a:p>
            <a:pPr algn="l" indent="0" marL="0">
              <a:lnSpc>
                <a:spcPct val="102000"/>
              </a:lnSpc>
              <a:buNone/>
            </a:pPr>
            <a:r>
              <a:rPr lang="en-US" sz="1050" dirty="0">
                <a:solidFill>
                  <a:srgbClr val="181818"/>
                </a:solidFill>
                <a:latin typeface="Calibri" pitchFamily="34" charset="0"/>
                <a:ea typeface="Calibri" pitchFamily="34" charset="-122"/>
                <a:cs typeface="Calibri" pitchFamily="34" charset="-120"/>
              </a:rPr>
              <a:t>A named role commits ≤10 min/week inside a meeting that already exists</a:t>
            </a:r>
            <a:endParaRPr lang="en-US" sz="1050" dirty="0"/>
          </a:p>
        </p:txBody>
      </p:sp>
      <p:sp>
        <p:nvSpPr>
          <p:cNvPr id="18" name="Shape 16"/>
          <p:cNvSpPr/>
          <p:nvPr/>
        </p:nvSpPr>
        <p:spPr>
          <a:xfrm>
            <a:off x="777240" y="3529584"/>
            <a:ext cx="10637215" cy="658368"/>
          </a:xfrm>
          <a:prstGeom prst="rect">
            <a:avLst/>
          </a:prstGeom>
          <a:solidFill>
            <a:srgbClr val="F4F4F4"/>
          </a:solidFill>
          <a:ln/>
        </p:spPr>
      </p:sp>
      <p:sp>
        <p:nvSpPr>
          <p:cNvPr id="19" name="Shape 17"/>
          <p:cNvSpPr/>
          <p:nvPr/>
        </p:nvSpPr>
        <p:spPr>
          <a:xfrm>
            <a:off x="777240" y="3529584"/>
            <a:ext cx="10637215" cy="0"/>
          </a:xfrm>
          <a:prstGeom prst="line">
            <a:avLst/>
          </a:prstGeom>
          <a:noFill/>
          <a:ln w="9525">
            <a:solidFill>
              <a:srgbClr val="E6E6E6"/>
            </a:solidFill>
            <a:prstDash val="solid"/>
          </a:ln>
        </p:spPr>
      </p:sp>
      <p:sp>
        <p:nvSpPr>
          <p:cNvPr id="20" name="Text 18"/>
          <p:cNvSpPr/>
          <p:nvPr/>
        </p:nvSpPr>
        <p:spPr>
          <a:xfrm>
            <a:off x="960120" y="3557016"/>
            <a:ext cx="2569464" cy="603504"/>
          </a:xfrm>
          <a:prstGeom prst="rect">
            <a:avLst/>
          </a:prstGeom>
          <a:noFill/>
          <a:ln/>
        </p:spPr>
        <p:txBody>
          <a:bodyPr wrap="square" lIns="0" tIns="0" rIns="0" bIns="0" rtlCol="0" anchor="ctr"/>
          <a:lstStyle/>
          <a:p>
            <a:pPr algn="l" indent="0" marL="0">
              <a:lnSpc>
                <a:spcPct val="102000"/>
              </a:lnSpc>
              <a:buNone/>
            </a:pPr>
            <a:r>
              <a:rPr lang="en-US" sz="1050" b="1" dirty="0">
                <a:solidFill>
                  <a:srgbClr val="181818"/>
                </a:solidFill>
                <a:latin typeface="Calibri" pitchFamily="34" charset="0"/>
                <a:ea typeface="Calibri" pitchFamily="34" charset="-122"/>
                <a:cs typeface="Calibri" pitchFamily="34" charset="-120"/>
              </a:rPr>
              <a:t>3 · Reviewed evidence changes what staff do</a:t>
            </a:r>
            <a:endParaRPr lang="en-US" sz="1050" dirty="0"/>
          </a:p>
        </p:txBody>
      </p:sp>
      <p:sp>
        <p:nvSpPr>
          <p:cNvPr id="21" name="Text 19"/>
          <p:cNvSpPr/>
          <p:nvPr/>
        </p:nvSpPr>
        <p:spPr>
          <a:xfrm>
            <a:off x="3840480" y="3557016"/>
            <a:ext cx="4032504" cy="603504"/>
          </a:xfrm>
          <a:prstGeom prst="rect">
            <a:avLst/>
          </a:prstGeom>
          <a:noFill/>
          <a:ln/>
        </p:spPr>
        <p:txBody>
          <a:bodyPr wrap="square" lIns="0" tIns="0" rIns="0" bIns="0" rtlCol="0" anchor="ctr"/>
          <a:lstStyle/>
          <a:p>
            <a:pPr algn="l" indent="0" marL="0">
              <a:lnSpc>
                <a:spcPct val="102000"/>
              </a:lnSpc>
              <a:buNone/>
            </a:pPr>
            <a:r>
              <a:rPr lang="en-US" sz="1050" dirty="0">
                <a:solidFill>
                  <a:srgbClr val="181818"/>
                </a:solidFill>
                <a:latin typeface="Calibri" pitchFamily="34" charset="0"/>
                <a:ea typeface="Calibri" pitchFamily="34" charset="-122"/>
                <a:cs typeface="Calibri" pitchFamily="34" charset="-120"/>
              </a:rPr>
              <a:t>Concierge pilot: hand-built weekly candidates in 2 communities, resolved in the real cadence</a:t>
            </a:r>
            <a:endParaRPr lang="en-US" sz="1050" dirty="0"/>
          </a:p>
        </p:txBody>
      </p:sp>
      <p:sp>
        <p:nvSpPr>
          <p:cNvPr id="22" name="Text 20"/>
          <p:cNvSpPr/>
          <p:nvPr/>
        </p:nvSpPr>
        <p:spPr>
          <a:xfrm>
            <a:off x="8183880" y="3557016"/>
            <a:ext cx="3099816" cy="603504"/>
          </a:xfrm>
          <a:prstGeom prst="rect">
            <a:avLst/>
          </a:prstGeom>
          <a:noFill/>
          <a:ln/>
        </p:spPr>
        <p:txBody>
          <a:bodyPr wrap="square" lIns="0" tIns="0" rIns="0" bIns="0" rtlCol="0" anchor="ctr"/>
          <a:lstStyle/>
          <a:p>
            <a:pPr algn="l" indent="0" marL="0">
              <a:lnSpc>
                <a:spcPct val="102000"/>
              </a:lnSpc>
              <a:buNone/>
            </a:pPr>
            <a:r>
              <a:rPr lang="en-US" sz="1050" dirty="0">
                <a:solidFill>
                  <a:srgbClr val="181818"/>
                </a:solidFill>
                <a:latin typeface="Calibri" pitchFamily="34" charset="0"/>
                <a:ea typeface="Calibri" pitchFamily="34" charset="-122"/>
                <a:cs typeface="Calibri" pitchFamily="34" charset="-120"/>
              </a:rPr>
              <a:t>≥70% of candidates resolved; ≥40% of confirmed → monitor / intervene / reassess</a:t>
            </a:r>
            <a:endParaRPr lang="en-US" sz="1050" dirty="0"/>
          </a:p>
        </p:txBody>
      </p:sp>
      <p:sp>
        <p:nvSpPr>
          <p:cNvPr id="23" name="Shape 21"/>
          <p:cNvSpPr/>
          <p:nvPr/>
        </p:nvSpPr>
        <p:spPr>
          <a:xfrm>
            <a:off x="777240" y="4187952"/>
            <a:ext cx="10637215" cy="0"/>
          </a:xfrm>
          <a:prstGeom prst="line">
            <a:avLst/>
          </a:prstGeom>
          <a:noFill/>
          <a:ln w="9525">
            <a:solidFill>
              <a:srgbClr val="E6E6E6"/>
            </a:solidFill>
            <a:prstDash val="solid"/>
          </a:ln>
        </p:spPr>
      </p:sp>
      <p:sp>
        <p:nvSpPr>
          <p:cNvPr id="24" name="Text 22"/>
          <p:cNvSpPr/>
          <p:nvPr/>
        </p:nvSpPr>
        <p:spPr>
          <a:xfrm>
            <a:off x="960120" y="4215384"/>
            <a:ext cx="2569464" cy="603504"/>
          </a:xfrm>
          <a:prstGeom prst="rect">
            <a:avLst/>
          </a:prstGeom>
          <a:noFill/>
          <a:ln/>
        </p:spPr>
        <p:txBody>
          <a:bodyPr wrap="square" lIns="0" tIns="0" rIns="0" bIns="0" rtlCol="0" anchor="ctr"/>
          <a:lstStyle/>
          <a:p>
            <a:pPr algn="l" indent="0" marL="0">
              <a:lnSpc>
                <a:spcPct val="102000"/>
              </a:lnSpc>
              <a:buNone/>
            </a:pPr>
            <a:r>
              <a:rPr lang="en-US" sz="1050" b="1" dirty="0">
                <a:solidFill>
                  <a:srgbClr val="181818"/>
                </a:solidFill>
                <a:latin typeface="Calibri" pitchFamily="34" charset="0"/>
                <a:ea typeface="Calibri" pitchFamily="34" charset="-122"/>
                <a:cs typeface="Calibri" pitchFamily="34" charset="-120"/>
              </a:rPr>
              <a:t>4 · Evidence de-escalates rather than reads as surveillance</a:t>
            </a:r>
            <a:endParaRPr lang="en-US" sz="1050" dirty="0"/>
          </a:p>
        </p:txBody>
      </p:sp>
      <p:sp>
        <p:nvSpPr>
          <p:cNvPr id="25" name="Text 23"/>
          <p:cNvSpPr/>
          <p:nvPr/>
        </p:nvSpPr>
        <p:spPr>
          <a:xfrm>
            <a:off x="3840480" y="4215384"/>
            <a:ext cx="4032504" cy="603504"/>
          </a:xfrm>
          <a:prstGeom prst="rect">
            <a:avLst/>
          </a:prstGeom>
          <a:noFill/>
          <a:ln/>
        </p:spPr>
        <p:txBody>
          <a:bodyPr wrap="square" lIns="0" tIns="0" rIns="0" bIns="0" rtlCol="0" anchor="ctr"/>
          <a:lstStyle/>
          <a:p>
            <a:pPr algn="l" indent="0" marL="0">
              <a:lnSpc>
                <a:spcPct val="102000"/>
              </a:lnSpc>
              <a:buNone/>
            </a:pPr>
            <a:r>
              <a:rPr lang="en-US" sz="1050" dirty="0">
                <a:solidFill>
                  <a:srgbClr val="181818"/>
                </a:solidFill>
                <a:latin typeface="Calibri" pitchFamily="34" charset="0"/>
                <a:ea typeface="Calibri" pitchFamily="34" charset="-122"/>
                <a:cs typeface="Calibri" pitchFamily="34" charset="-120"/>
              </a:rPr>
              <a:t>Staff-approved summaries used in real care conferences; director + family debriefs</a:t>
            </a:r>
            <a:endParaRPr lang="en-US" sz="1050" dirty="0"/>
          </a:p>
        </p:txBody>
      </p:sp>
      <p:sp>
        <p:nvSpPr>
          <p:cNvPr id="26" name="Text 24"/>
          <p:cNvSpPr/>
          <p:nvPr/>
        </p:nvSpPr>
        <p:spPr>
          <a:xfrm>
            <a:off x="8183880" y="4215384"/>
            <a:ext cx="3099816" cy="603504"/>
          </a:xfrm>
          <a:prstGeom prst="rect">
            <a:avLst/>
          </a:prstGeom>
          <a:noFill/>
          <a:ln/>
        </p:spPr>
        <p:txBody>
          <a:bodyPr wrap="square" lIns="0" tIns="0" rIns="0" bIns="0" rtlCol="0" anchor="ctr"/>
          <a:lstStyle/>
          <a:p>
            <a:pPr algn="l" indent="0" marL="0">
              <a:lnSpc>
                <a:spcPct val="102000"/>
              </a:lnSpc>
              <a:buNone/>
            </a:pPr>
            <a:r>
              <a:rPr lang="en-US" sz="1050" dirty="0">
                <a:solidFill>
                  <a:srgbClr val="181818"/>
                </a:solidFill>
                <a:latin typeface="Calibri" pitchFamily="34" charset="0"/>
                <a:ea typeface="Calibri" pitchFamily="34" charset="-122"/>
                <a:cs typeface="Calibri" pitchFamily="34" charset="-120"/>
              </a:rPr>
              <a:t>Directors reuse it unprompted; zero consent red flags</a:t>
            </a:r>
            <a:endParaRPr lang="en-US" sz="1050" dirty="0"/>
          </a:p>
        </p:txBody>
      </p:sp>
      <p:sp>
        <p:nvSpPr>
          <p:cNvPr id="27" name="Shape 25"/>
          <p:cNvSpPr/>
          <p:nvPr/>
        </p:nvSpPr>
        <p:spPr>
          <a:xfrm>
            <a:off x="777240" y="4882896"/>
            <a:ext cx="5175504" cy="1371600"/>
          </a:xfrm>
          <a:prstGeom prst="roundRect">
            <a:avLst>
              <a:gd name="adj" fmla="val 8000"/>
            </a:avLst>
          </a:prstGeom>
          <a:solidFill>
            <a:srgbClr val="E7E3F5"/>
          </a:solidFill>
          <a:ln/>
        </p:spPr>
      </p:sp>
      <p:sp>
        <p:nvSpPr>
          <p:cNvPr id="28" name="Text 26"/>
          <p:cNvSpPr/>
          <p:nvPr/>
        </p:nvSpPr>
        <p:spPr>
          <a:xfrm>
            <a:off x="1051560" y="5029200"/>
            <a:ext cx="4626864" cy="274320"/>
          </a:xfrm>
          <a:prstGeom prst="rect">
            <a:avLst/>
          </a:prstGeom>
          <a:noFill/>
          <a:ln/>
        </p:spPr>
        <p:txBody>
          <a:bodyPr wrap="square" lIns="0" tIns="0" rIns="0" bIns="0" rtlCol="0" anchor="t"/>
          <a:lstStyle/>
          <a:p>
            <a:pPr algn="l" indent="0" marL="0">
              <a:buNone/>
            </a:pPr>
            <a:r>
              <a:rPr lang="en-US" sz="1200" b="1" dirty="0">
                <a:solidFill>
                  <a:srgbClr val="181818"/>
                </a:solidFill>
                <a:latin typeface="Calibri" pitchFamily="34" charset="0"/>
                <a:ea typeface="Calibri" pitchFamily="34" charset="-122"/>
                <a:cs typeface="Calibri" pitchFamily="34" charset="-120"/>
              </a:rPr>
              <a:t>Discovery questions</a:t>
            </a:r>
            <a:endParaRPr lang="en-US" sz="1200" dirty="0"/>
          </a:p>
        </p:txBody>
      </p:sp>
      <p:sp>
        <p:nvSpPr>
          <p:cNvPr id="29" name="Text 27"/>
          <p:cNvSpPr/>
          <p:nvPr/>
        </p:nvSpPr>
        <p:spPr>
          <a:xfrm>
            <a:off x="1051560" y="5376672"/>
            <a:ext cx="4626864" cy="822960"/>
          </a:xfrm>
          <a:prstGeom prst="rect">
            <a:avLst/>
          </a:prstGeom>
          <a:noFill/>
          <a:ln/>
        </p:spPr>
        <p:txBody>
          <a:bodyPr wrap="square" lIns="0" tIns="0" rIns="0" bIns="0" rtlCol="0" anchor="t"/>
          <a:lstStyle/>
          <a:p>
            <a:pPr algn="l" marL="203200" indent="-203200">
              <a:lnSpc>
                <a:spcPct val="105000"/>
              </a:lnSpc>
              <a:spcAft>
                <a:spcPts val="200"/>
              </a:spcAft>
              <a:buSzPct val="100000"/>
              <a:buChar char="•"/>
            </a:pPr>
            <a:r>
              <a:rPr lang="en-US" sz="980" dirty="0">
                <a:solidFill>
                  <a:srgbClr val="4A4458"/>
                </a:solidFill>
                <a:latin typeface="Calibri" pitchFamily="34" charset="0"/>
                <a:ea typeface="Calibri" pitchFamily="34" charset="-122"/>
                <a:cs typeface="Calibri" pitchFamily="34" charset="-120"/>
              </a:rPr>
              <a:t>Who owns reassessment today, and what triggers it?</a:t>
            </a:r>
            <a:endParaRPr lang="en-US" sz="980" dirty="0"/>
          </a:p>
          <a:p>
            <a:pPr algn="l" marL="203200" indent="-203200">
              <a:lnSpc>
                <a:spcPct val="105000"/>
              </a:lnSpc>
              <a:spcAft>
                <a:spcPts val="200"/>
              </a:spcAft>
              <a:buSzPct val="100000"/>
              <a:buChar char="•"/>
            </a:pPr>
            <a:r>
              <a:rPr lang="en-US" sz="980" dirty="0">
                <a:solidFill>
                  <a:srgbClr val="4A4458"/>
                </a:solidFill>
                <a:latin typeface="Calibri" pitchFamily="34" charset="0"/>
                <a:ea typeface="Calibri" pitchFamily="34" charset="-122"/>
                <a:cs typeface="Calibri" pitchFamily="34" charset="-120"/>
              </a:rPr>
              <a:t>Which signals do nurses trust vs. dismiss?</a:t>
            </a:r>
            <a:endParaRPr lang="en-US" sz="980" dirty="0"/>
          </a:p>
          <a:p>
            <a:pPr algn="l" marL="203200" indent="-203200">
              <a:lnSpc>
                <a:spcPct val="105000"/>
              </a:lnSpc>
              <a:spcAft>
                <a:spcPts val="200"/>
              </a:spcAft>
              <a:buSzPct val="100000"/>
              <a:buChar char="•"/>
            </a:pPr>
            <a:r>
              <a:rPr lang="en-US" sz="980" dirty="0">
                <a:solidFill>
                  <a:srgbClr val="4A4458"/>
                </a:solidFill>
                <a:latin typeface="Calibri" pitchFamily="34" charset="0"/>
                <a:ea typeface="Calibri" pitchFamily="34" charset="-122"/>
                <a:cs typeface="Calibri" pitchFamily="34" charset="-120"/>
              </a:rPr>
              <a:t>What candidate volume is useful vs. another inbox?</a:t>
            </a:r>
            <a:endParaRPr lang="en-US" sz="980" dirty="0"/>
          </a:p>
        </p:txBody>
      </p:sp>
      <p:sp>
        <p:nvSpPr>
          <p:cNvPr id="30" name="Shape 28"/>
          <p:cNvSpPr/>
          <p:nvPr/>
        </p:nvSpPr>
        <p:spPr>
          <a:xfrm>
            <a:off x="6236208" y="4882896"/>
            <a:ext cx="5178247" cy="1371600"/>
          </a:xfrm>
          <a:prstGeom prst="roundRect">
            <a:avLst>
              <a:gd name="adj" fmla="val 8000"/>
            </a:avLst>
          </a:prstGeom>
          <a:solidFill>
            <a:srgbClr val="F3EEA0"/>
          </a:solidFill>
          <a:ln/>
        </p:spPr>
      </p:sp>
      <p:sp>
        <p:nvSpPr>
          <p:cNvPr id="31" name="Text 29"/>
          <p:cNvSpPr/>
          <p:nvPr/>
        </p:nvSpPr>
        <p:spPr>
          <a:xfrm>
            <a:off x="6510528" y="5029200"/>
            <a:ext cx="4629607" cy="274320"/>
          </a:xfrm>
          <a:prstGeom prst="rect">
            <a:avLst/>
          </a:prstGeom>
          <a:noFill/>
          <a:ln/>
        </p:spPr>
        <p:txBody>
          <a:bodyPr wrap="square" lIns="0" tIns="0" rIns="0" bIns="0" rtlCol="0" anchor="t"/>
          <a:lstStyle/>
          <a:p>
            <a:pPr algn="l" indent="0" marL="0">
              <a:buNone/>
            </a:pPr>
            <a:r>
              <a:rPr lang="en-US" sz="1200" b="1" dirty="0">
                <a:solidFill>
                  <a:srgbClr val="181818"/>
                </a:solidFill>
                <a:latin typeface="Calibri" pitchFamily="34" charset="0"/>
                <a:ea typeface="Calibri" pitchFamily="34" charset="-122"/>
                <a:cs typeface="Calibri" pitchFamily="34" charset="-120"/>
              </a:rPr>
              <a:t>What would change my mind</a:t>
            </a:r>
            <a:endParaRPr lang="en-US" sz="1200" dirty="0"/>
          </a:p>
        </p:txBody>
      </p:sp>
      <p:sp>
        <p:nvSpPr>
          <p:cNvPr id="32" name="Text 30"/>
          <p:cNvSpPr/>
          <p:nvPr/>
        </p:nvSpPr>
        <p:spPr>
          <a:xfrm>
            <a:off x="6510528" y="5376672"/>
            <a:ext cx="4629607" cy="822960"/>
          </a:xfrm>
          <a:prstGeom prst="rect">
            <a:avLst/>
          </a:prstGeom>
          <a:noFill/>
          <a:ln/>
        </p:spPr>
        <p:txBody>
          <a:bodyPr wrap="square" lIns="0" tIns="0" rIns="0" bIns="0" rtlCol="0" anchor="t"/>
          <a:lstStyle/>
          <a:p>
            <a:pPr algn="l" marL="203200" indent="-203200">
              <a:lnSpc>
                <a:spcPct val="105000"/>
              </a:lnSpc>
              <a:spcAft>
                <a:spcPts val="200"/>
              </a:spcAft>
              <a:buSzPct val="100000"/>
              <a:buChar char="•"/>
            </a:pPr>
            <a:r>
              <a:rPr lang="en-US" sz="980" dirty="0">
                <a:solidFill>
                  <a:srgbClr val="6E6234"/>
                </a:solidFill>
                <a:latin typeface="Calibri" pitchFamily="34" charset="0"/>
                <a:ea typeface="Calibri" pitchFamily="34" charset="-122"/>
                <a:cs typeface="Calibri" pitchFamily="34" charset="-120"/>
              </a:rPr>
              <a:t>Gate 1 fails → deepen the proven fall → EHR documentation wedge</a:t>
            </a:r>
            <a:endParaRPr lang="en-US" sz="980" dirty="0"/>
          </a:p>
          <a:p>
            <a:pPr algn="l" marL="203200" indent="-203200">
              <a:lnSpc>
                <a:spcPct val="105000"/>
              </a:lnSpc>
              <a:spcAft>
                <a:spcPts val="200"/>
              </a:spcAft>
              <a:buSzPct val="100000"/>
              <a:buChar char="•"/>
            </a:pPr>
            <a:r>
              <a:rPr lang="en-US" sz="980" dirty="0">
                <a:solidFill>
                  <a:srgbClr val="6E6234"/>
                </a:solidFill>
                <a:latin typeface="Calibri" pitchFamily="34" charset="0"/>
                <a:ea typeface="Calibri" pitchFamily="34" charset="-122"/>
                <a:cs typeface="Calibri" pitchFamily="34" charset="-120"/>
              </a:rPr>
              <a:t>Gate 2 fails, signal holds → attach evidence to scheduled reassessments only</a:t>
            </a:r>
            <a:endParaRPr lang="en-US" sz="980" dirty="0"/>
          </a:p>
          <a:p>
            <a:pPr algn="l" marL="203200" indent="-203200">
              <a:lnSpc>
                <a:spcPct val="105000"/>
              </a:lnSpc>
              <a:spcAft>
                <a:spcPts val="200"/>
              </a:spcAft>
              <a:buSzPct val="100000"/>
              <a:buChar char="•"/>
            </a:pPr>
            <a:r>
              <a:rPr lang="en-US" sz="980" dirty="0">
                <a:solidFill>
                  <a:srgbClr val="6E6234"/>
                </a:solidFill>
                <a:latin typeface="Calibri" pitchFamily="34" charset="0"/>
                <a:ea typeface="Calibri" pitchFamily="34" charset="-122"/>
                <a:cs typeface="Calibri" pitchFamily="34" charset="-120"/>
              </a:rPr>
              <a:t>Volume intolerable → raise the threshold: fewer, stronger candidates</a:t>
            </a:r>
            <a:endParaRPr lang="en-US" sz="980" dirty="0"/>
          </a:p>
        </p:txBody>
      </p:sp>
      <p:sp>
        <p:nvSpPr>
          <p:cNvPr id="33" name="Text 31"/>
          <p:cNvSpPr/>
          <p:nvPr/>
        </p:nvSpPr>
        <p:spPr>
          <a:xfrm>
            <a:off x="777240" y="6473952"/>
            <a:ext cx="4937760" cy="237744"/>
          </a:xfrm>
          <a:prstGeom prst="rect">
            <a:avLst/>
          </a:prstGeom>
          <a:noFill/>
          <a:ln/>
        </p:spPr>
        <p:txBody>
          <a:bodyPr wrap="square" lIns="0" tIns="0" rIns="0" bIns="0" rtlCol="0" anchor="ctr"/>
          <a:lstStyle/>
          <a:p>
            <a:pPr algn="l" indent="0" marL="0">
              <a:buNone/>
            </a:pPr>
            <a:r>
              <a:rPr lang="en-US" sz="850" dirty="0">
                <a:solidFill>
                  <a:srgbClr val="8E8E8E"/>
                </a:solidFill>
                <a:latin typeface="Calibri" pitchFamily="34" charset="0"/>
                <a:ea typeface="Calibri" pitchFamily="34" charset="-122"/>
                <a:cs typeface="Calibri" pitchFamily="34" charset="-120"/>
              </a:rPr>
              <a:t>Week 2, Not Week 12  ·  Teton PM Challenge</a:t>
            </a:r>
            <a:endParaRPr lang="en-US" sz="850" dirty="0"/>
          </a:p>
        </p:txBody>
      </p:sp>
      <p:sp>
        <p:nvSpPr>
          <p:cNvPr id="34" name="Shape 32"/>
          <p:cNvSpPr/>
          <p:nvPr/>
        </p:nvSpPr>
        <p:spPr>
          <a:xfrm>
            <a:off x="7412126" y="6400800"/>
            <a:ext cx="1214323" cy="274320"/>
          </a:xfrm>
          <a:prstGeom prst="roundRect">
            <a:avLst>
              <a:gd name="adj" fmla="val 50000"/>
            </a:avLst>
          </a:prstGeom>
          <a:solidFill>
            <a:srgbClr val="F4F4F4"/>
          </a:solidFill>
          <a:ln/>
        </p:spPr>
      </p:sp>
      <p:sp>
        <p:nvSpPr>
          <p:cNvPr id="35" name="Text 33"/>
          <p:cNvSpPr/>
          <p:nvPr/>
        </p:nvSpPr>
        <p:spPr>
          <a:xfrm>
            <a:off x="7412126" y="6400800"/>
            <a:ext cx="1214323" cy="274320"/>
          </a:xfrm>
          <a:prstGeom prst="rect">
            <a:avLst/>
          </a:prstGeom>
          <a:noFill/>
          <a:ln/>
        </p:spPr>
        <p:txBody>
          <a:bodyPr wrap="square" lIns="0" tIns="0" rIns="0" bIns="0" rtlCol="0" anchor="ctr"/>
          <a:lstStyle/>
          <a:p>
            <a:pPr algn="ctr" indent="0" marL="0">
              <a:buNone/>
            </a:pPr>
            <a:r>
              <a:rPr lang="en-US" sz="850" b="1" dirty="0">
                <a:solidFill>
                  <a:srgbClr val="5A6CE6"/>
                </a:solidFill>
                <a:latin typeface="Calibri" pitchFamily="34" charset="0"/>
                <a:ea typeface="Calibri" pitchFamily="34" charset="-122"/>
                <a:cs typeface="Calibri" pitchFamily="34" charset="-120"/>
              </a:rPr>
              <a:t>Prompt: Info needed</a:t>
            </a:r>
            <a:endParaRPr lang="en-US" sz="850" dirty="0"/>
          </a:p>
        </p:txBody>
      </p:sp>
      <p:sp>
        <p:nvSpPr>
          <p:cNvPr id="36" name="Shape 34"/>
          <p:cNvSpPr/>
          <p:nvPr/>
        </p:nvSpPr>
        <p:spPr>
          <a:xfrm>
            <a:off x="8736178" y="6400800"/>
            <a:ext cx="1642262" cy="274320"/>
          </a:xfrm>
          <a:prstGeom prst="roundRect">
            <a:avLst>
              <a:gd name="adj" fmla="val 50000"/>
            </a:avLst>
          </a:prstGeom>
          <a:solidFill>
            <a:srgbClr val="F4F4F4"/>
          </a:solidFill>
          <a:ln/>
        </p:spPr>
      </p:sp>
      <p:sp>
        <p:nvSpPr>
          <p:cNvPr id="37" name="Text 35"/>
          <p:cNvSpPr/>
          <p:nvPr/>
        </p:nvSpPr>
        <p:spPr>
          <a:xfrm>
            <a:off x="8736178" y="6400800"/>
            <a:ext cx="1642262" cy="274320"/>
          </a:xfrm>
          <a:prstGeom prst="rect">
            <a:avLst/>
          </a:prstGeom>
          <a:noFill/>
          <a:ln/>
        </p:spPr>
        <p:txBody>
          <a:bodyPr wrap="square" lIns="0" tIns="0" rIns="0" bIns="0" rtlCol="0" anchor="ctr"/>
          <a:lstStyle/>
          <a:p>
            <a:pPr algn="ctr" indent="0" marL="0">
              <a:buNone/>
            </a:pPr>
            <a:r>
              <a:rPr lang="en-US" sz="850" b="1" dirty="0">
                <a:solidFill>
                  <a:srgbClr val="5A6CE6"/>
                </a:solidFill>
                <a:latin typeface="Calibri" pitchFamily="34" charset="0"/>
                <a:ea typeface="Calibri" pitchFamily="34" charset="-122"/>
                <a:cs typeface="Calibri" pitchFamily="34" charset="-120"/>
              </a:rPr>
              <a:t>Prompt: Validate assumptions</a:t>
            </a:r>
            <a:endParaRPr lang="en-US" sz="850" dirty="0"/>
          </a:p>
        </p:txBody>
      </p:sp>
      <p:sp>
        <p:nvSpPr>
          <p:cNvPr id="38" name="Text 36"/>
          <p:cNvSpPr/>
          <p:nvPr/>
        </p:nvSpPr>
        <p:spPr>
          <a:xfrm>
            <a:off x="10515600" y="6473952"/>
            <a:ext cx="896112" cy="237744"/>
          </a:xfrm>
          <a:prstGeom prst="rect">
            <a:avLst/>
          </a:prstGeom>
          <a:noFill/>
          <a:ln/>
        </p:spPr>
        <p:txBody>
          <a:bodyPr wrap="square" lIns="0" tIns="0" rIns="0" bIns="0" rtlCol="0" anchor="ctr"/>
          <a:lstStyle/>
          <a:p>
            <a:pPr algn="r" indent="0" marL="0">
              <a:buNone/>
            </a:pPr>
            <a:r>
              <a:rPr lang="en-US" sz="850" dirty="0">
                <a:solidFill>
                  <a:srgbClr val="8E8E8E"/>
                </a:solidFill>
                <a:latin typeface="Calibri" pitchFamily="34" charset="0"/>
                <a:ea typeface="Calibri" pitchFamily="34" charset="-122"/>
                <a:cs typeface="Calibri" pitchFamily="34" charset="-120"/>
              </a:rPr>
              <a:t>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77240" y="338328"/>
            <a:ext cx="109728" cy="109728"/>
          </a:xfrm>
          <a:prstGeom prst="ellipse">
            <a:avLst/>
          </a:prstGeom>
          <a:solidFill>
            <a:srgbClr val="5A6CE6"/>
          </a:solidFill>
          <a:ln/>
        </p:spPr>
      </p:sp>
      <p:sp>
        <p:nvSpPr>
          <p:cNvPr id="3" name="Text 1"/>
          <p:cNvSpPr/>
          <p:nvPr/>
        </p:nvSpPr>
        <p:spPr>
          <a:xfrm>
            <a:off x="978408" y="246888"/>
            <a:ext cx="7315200" cy="292608"/>
          </a:xfrm>
          <a:prstGeom prst="rect">
            <a:avLst/>
          </a:prstGeom>
          <a:noFill/>
          <a:ln/>
        </p:spPr>
        <p:txBody>
          <a:bodyPr wrap="square" lIns="0" tIns="0" rIns="0" bIns="0" rtlCol="0" anchor="ctr"/>
          <a:lstStyle/>
          <a:p>
            <a:pPr algn="l" indent="0" marL="0">
              <a:buNone/>
            </a:pPr>
            <a:r>
              <a:rPr lang="en-US" sz="1100" b="1" spc="200" kern="0" dirty="0">
                <a:solidFill>
                  <a:srgbClr val="8E8E8E"/>
                </a:solidFill>
                <a:latin typeface="Calibri" pitchFamily="34" charset="0"/>
                <a:ea typeface="Calibri" pitchFamily="34" charset="-122"/>
                <a:cs typeface="Calibri" pitchFamily="34" charset="-120"/>
              </a:rPr>
              <a:t>TETON INTERVIEW READOUT   ·   SIX-MONTH PLAN</a:t>
            </a:r>
            <a:endParaRPr lang="en-US" sz="1100" dirty="0"/>
          </a:p>
        </p:txBody>
      </p:sp>
      <p:sp>
        <p:nvSpPr>
          <p:cNvPr id="4" name="Text 2"/>
          <p:cNvSpPr/>
          <p:nvPr/>
        </p:nvSpPr>
        <p:spPr>
          <a:xfrm>
            <a:off x="777240" y="640080"/>
            <a:ext cx="10637215" cy="822960"/>
          </a:xfrm>
          <a:prstGeom prst="rect">
            <a:avLst/>
          </a:prstGeom>
          <a:noFill/>
          <a:ln/>
        </p:spPr>
        <p:txBody>
          <a:bodyPr wrap="square" lIns="0" tIns="0" rIns="0" bIns="0" rtlCol="0" anchor="t"/>
          <a:lstStyle/>
          <a:p>
            <a:pPr algn="l" indent="0" marL="0">
              <a:lnSpc>
                <a:spcPct val="102000"/>
              </a:lnSpc>
              <a:buNone/>
            </a:pPr>
            <a:r>
              <a:rPr lang="en-US" sz="2250" b="1" dirty="0">
                <a:solidFill>
                  <a:srgbClr val="181818"/>
                </a:solidFill>
                <a:latin typeface="Calibri" pitchFamily="34" charset="0"/>
                <a:ea typeface="Calibri" pitchFamily="34" charset="-122"/>
                <a:cs typeface="Calibri" pitchFamily="34" charset="-120"/>
              </a:rPr>
              <a:t>Six months to prove it: reviewed → acted on → weeks earlier</a:t>
            </a:r>
            <a:endParaRPr lang="en-US" sz="2250" dirty="0"/>
          </a:p>
        </p:txBody>
      </p:sp>
      <p:sp>
        <p:nvSpPr>
          <p:cNvPr id="5" name="Text 3"/>
          <p:cNvSpPr/>
          <p:nvPr/>
        </p:nvSpPr>
        <p:spPr>
          <a:xfrm>
            <a:off x="777240" y="1426464"/>
            <a:ext cx="10637215" cy="320040"/>
          </a:xfrm>
          <a:prstGeom prst="rect">
            <a:avLst/>
          </a:prstGeom>
          <a:noFill/>
          <a:ln/>
        </p:spPr>
        <p:txBody>
          <a:bodyPr wrap="square" lIns="0" tIns="0" rIns="0" bIns="0" rtlCol="0" anchor="t"/>
          <a:lstStyle/>
          <a:p>
            <a:pPr algn="l" indent="0" marL="0">
              <a:buNone/>
            </a:pPr>
            <a:r>
              <a:rPr lang="en-US" sz="1350" dirty="0">
                <a:solidFill>
                  <a:srgbClr val="8E8E8E"/>
                </a:solidFill>
                <a:latin typeface="Calibri" pitchFamily="34" charset="0"/>
                <a:ea typeface="Calibri" pitchFamily="34" charset="-122"/>
                <a:cs typeface="Calibri" pitchFamily="34" charset="-120"/>
              </a:rPr>
              <a:t>Validate on history, pilot by hand, automate what worked — and hand Dana a renewal answer.</a:t>
            </a:r>
            <a:endParaRPr lang="en-US" sz="1350" dirty="0"/>
          </a:p>
        </p:txBody>
      </p:sp>
      <p:sp>
        <p:nvSpPr>
          <p:cNvPr id="6" name="Shape 4"/>
          <p:cNvSpPr/>
          <p:nvPr/>
        </p:nvSpPr>
        <p:spPr>
          <a:xfrm>
            <a:off x="777240" y="1847088"/>
            <a:ext cx="0" cy="109728"/>
          </a:xfrm>
          <a:prstGeom prst="line">
            <a:avLst/>
          </a:prstGeom>
          <a:noFill/>
          <a:ln w="12700">
            <a:solidFill>
              <a:srgbClr val="E6E6E6"/>
            </a:solidFill>
            <a:prstDash val="solid"/>
          </a:ln>
        </p:spPr>
      </p:sp>
      <p:sp>
        <p:nvSpPr>
          <p:cNvPr id="7" name="Shape 5"/>
          <p:cNvSpPr/>
          <p:nvPr/>
        </p:nvSpPr>
        <p:spPr>
          <a:xfrm>
            <a:off x="2550109" y="1847088"/>
            <a:ext cx="0" cy="109728"/>
          </a:xfrm>
          <a:prstGeom prst="line">
            <a:avLst/>
          </a:prstGeom>
          <a:noFill/>
          <a:ln w="12700">
            <a:solidFill>
              <a:srgbClr val="E6E6E6"/>
            </a:solidFill>
            <a:prstDash val="solid"/>
          </a:ln>
        </p:spPr>
      </p:sp>
      <p:sp>
        <p:nvSpPr>
          <p:cNvPr id="8" name="Shape 6"/>
          <p:cNvSpPr/>
          <p:nvPr/>
        </p:nvSpPr>
        <p:spPr>
          <a:xfrm>
            <a:off x="4322978" y="1847088"/>
            <a:ext cx="0" cy="109728"/>
          </a:xfrm>
          <a:prstGeom prst="line">
            <a:avLst/>
          </a:prstGeom>
          <a:noFill/>
          <a:ln w="12700">
            <a:solidFill>
              <a:srgbClr val="E6E6E6"/>
            </a:solidFill>
            <a:prstDash val="solid"/>
          </a:ln>
        </p:spPr>
      </p:sp>
      <p:sp>
        <p:nvSpPr>
          <p:cNvPr id="9" name="Shape 7"/>
          <p:cNvSpPr/>
          <p:nvPr/>
        </p:nvSpPr>
        <p:spPr>
          <a:xfrm>
            <a:off x="6095848" y="1847088"/>
            <a:ext cx="0" cy="109728"/>
          </a:xfrm>
          <a:prstGeom prst="line">
            <a:avLst/>
          </a:prstGeom>
          <a:noFill/>
          <a:ln w="12700">
            <a:solidFill>
              <a:srgbClr val="E6E6E6"/>
            </a:solidFill>
            <a:prstDash val="solid"/>
          </a:ln>
        </p:spPr>
      </p:sp>
      <p:sp>
        <p:nvSpPr>
          <p:cNvPr id="10" name="Shape 8"/>
          <p:cNvSpPr/>
          <p:nvPr/>
        </p:nvSpPr>
        <p:spPr>
          <a:xfrm>
            <a:off x="7868717" y="1847088"/>
            <a:ext cx="0" cy="109728"/>
          </a:xfrm>
          <a:prstGeom prst="line">
            <a:avLst/>
          </a:prstGeom>
          <a:noFill/>
          <a:ln w="12700">
            <a:solidFill>
              <a:srgbClr val="E6E6E6"/>
            </a:solidFill>
            <a:prstDash val="solid"/>
          </a:ln>
        </p:spPr>
      </p:sp>
      <p:sp>
        <p:nvSpPr>
          <p:cNvPr id="11" name="Shape 9"/>
          <p:cNvSpPr/>
          <p:nvPr/>
        </p:nvSpPr>
        <p:spPr>
          <a:xfrm>
            <a:off x="9641586" y="1847088"/>
            <a:ext cx="0" cy="109728"/>
          </a:xfrm>
          <a:prstGeom prst="line">
            <a:avLst/>
          </a:prstGeom>
          <a:noFill/>
          <a:ln w="12700">
            <a:solidFill>
              <a:srgbClr val="E6E6E6"/>
            </a:solidFill>
            <a:prstDash val="solid"/>
          </a:ln>
        </p:spPr>
      </p:sp>
      <p:sp>
        <p:nvSpPr>
          <p:cNvPr id="12" name="Shape 10"/>
          <p:cNvSpPr/>
          <p:nvPr/>
        </p:nvSpPr>
        <p:spPr>
          <a:xfrm>
            <a:off x="11414455" y="1847088"/>
            <a:ext cx="0" cy="109728"/>
          </a:xfrm>
          <a:prstGeom prst="line">
            <a:avLst/>
          </a:prstGeom>
          <a:noFill/>
          <a:ln w="12700">
            <a:solidFill>
              <a:srgbClr val="E6E6E6"/>
            </a:solidFill>
            <a:prstDash val="solid"/>
          </a:ln>
        </p:spPr>
      </p:sp>
      <p:sp>
        <p:nvSpPr>
          <p:cNvPr id="13" name="Text 11"/>
          <p:cNvSpPr/>
          <p:nvPr/>
        </p:nvSpPr>
        <p:spPr>
          <a:xfrm>
            <a:off x="777240" y="1810512"/>
            <a:ext cx="1772869" cy="201168"/>
          </a:xfrm>
          <a:prstGeom prst="rect">
            <a:avLst/>
          </a:prstGeom>
          <a:noFill/>
          <a:ln/>
        </p:spPr>
        <p:txBody>
          <a:bodyPr wrap="square" lIns="0" tIns="0" rIns="0" bIns="0" rtlCol="0" anchor="t"/>
          <a:lstStyle/>
          <a:p>
            <a:pPr algn="ctr" indent="0" marL="0">
              <a:buNone/>
            </a:pPr>
            <a:r>
              <a:rPr lang="en-US" sz="850" b="1" dirty="0">
                <a:solidFill>
                  <a:srgbClr val="8E8E8E"/>
                </a:solidFill>
                <a:latin typeface="Calibri" pitchFamily="34" charset="0"/>
                <a:ea typeface="Calibri" pitchFamily="34" charset="-122"/>
                <a:cs typeface="Calibri" pitchFamily="34" charset="-120"/>
              </a:rPr>
              <a:t>M1</a:t>
            </a:r>
            <a:endParaRPr lang="en-US" sz="850" dirty="0"/>
          </a:p>
        </p:txBody>
      </p:sp>
      <p:sp>
        <p:nvSpPr>
          <p:cNvPr id="14" name="Text 12"/>
          <p:cNvSpPr/>
          <p:nvPr/>
        </p:nvSpPr>
        <p:spPr>
          <a:xfrm>
            <a:off x="2550109" y="1810512"/>
            <a:ext cx="1772869" cy="201168"/>
          </a:xfrm>
          <a:prstGeom prst="rect">
            <a:avLst/>
          </a:prstGeom>
          <a:noFill/>
          <a:ln/>
        </p:spPr>
        <p:txBody>
          <a:bodyPr wrap="square" lIns="0" tIns="0" rIns="0" bIns="0" rtlCol="0" anchor="t"/>
          <a:lstStyle/>
          <a:p>
            <a:pPr algn="ctr" indent="0" marL="0">
              <a:buNone/>
            </a:pPr>
            <a:r>
              <a:rPr lang="en-US" sz="850" b="1" dirty="0">
                <a:solidFill>
                  <a:srgbClr val="8E8E8E"/>
                </a:solidFill>
                <a:latin typeface="Calibri" pitchFamily="34" charset="0"/>
                <a:ea typeface="Calibri" pitchFamily="34" charset="-122"/>
                <a:cs typeface="Calibri" pitchFamily="34" charset="-120"/>
              </a:rPr>
              <a:t>M2</a:t>
            </a:r>
            <a:endParaRPr lang="en-US" sz="850" dirty="0"/>
          </a:p>
        </p:txBody>
      </p:sp>
      <p:sp>
        <p:nvSpPr>
          <p:cNvPr id="15" name="Text 13"/>
          <p:cNvSpPr/>
          <p:nvPr/>
        </p:nvSpPr>
        <p:spPr>
          <a:xfrm>
            <a:off x="4322978" y="1810512"/>
            <a:ext cx="1772869" cy="201168"/>
          </a:xfrm>
          <a:prstGeom prst="rect">
            <a:avLst/>
          </a:prstGeom>
          <a:noFill/>
          <a:ln/>
        </p:spPr>
        <p:txBody>
          <a:bodyPr wrap="square" lIns="0" tIns="0" rIns="0" bIns="0" rtlCol="0" anchor="t"/>
          <a:lstStyle/>
          <a:p>
            <a:pPr algn="ctr" indent="0" marL="0">
              <a:buNone/>
            </a:pPr>
            <a:r>
              <a:rPr lang="en-US" sz="850" b="1" dirty="0">
                <a:solidFill>
                  <a:srgbClr val="8E8E8E"/>
                </a:solidFill>
                <a:latin typeface="Calibri" pitchFamily="34" charset="0"/>
                <a:ea typeface="Calibri" pitchFamily="34" charset="-122"/>
                <a:cs typeface="Calibri" pitchFamily="34" charset="-120"/>
              </a:rPr>
              <a:t>M3</a:t>
            </a:r>
            <a:endParaRPr lang="en-US" sz="850" dirty="0"/>
          </a:p>
        </p:txBody>
      </p:sp>
      <p:sp>
        <p:nvSpPr>
          <p:cNvPr id="16" name="Text 14"/>
          <p:cNvSpPr/>
          <p:nvPr/>
        </p:nvSpPr>
        <p:spPr>
          <a:xfrm>
            <a:off x="6095848" y="1810512"/>
            <a:ext cx="1772869" cy="201168"/>
          </a:xfrm>
          <a:prstGeom prst="rect">
            <a:avLst/>
          </a:prstGeom>
          <a:noFill/>
          <a:ln/>
        </p:spPr>
        <p:txBody>
          <a:bodyPr wrap="square" lIns="0" tIns="0" rIns="0" bIns="0" rtlCol="0" anchor="t"/>
          <a:lstStyle/>
          <a:p>
            <a:pPr algn="ctr" indent="0" marL="0">
              <a:buNone/>
            </a:pPr>
            <a:r>
              <a:rPr lang="en-US" sz="850" b="1" dirty="0">
                <a:solidFill>
                  <a:srgbClr val="8E8E8E"/>
                </a:solidFill>
                <a:latin typeface="Calibri" pitchFamily="34" charset="0"/>
                <a:ea typeface="Calibri" pitchFamily="34" charset="-122"/>
                <a:cs typeface="Calibri" pitchFamily="34" charset="-120"/>
              </a:rPr>
              <a:t>M4</a:t>
            </a:r>
            <a:endParaRPr lang="en-US" sz="850" dirty="0"/>
          </a:p>
        </p:txBody>
      </p:sp>
      <p:sp>
        <p:nvSpPr>
          <p:cNvPr id="17" name="Text 15"/>
          <p:cNvSpPr/>
          <p:nvPr/>
        </p:nvSpPr>
        <p:spPr>
          <a:xfrm>
            <a:off x="7868717" y="1810512"/>
            <a:ext cx="1772869" cy="201168"/>
          </a:xfrm>
          <a:prstGeom prst="rect">
            <a:avLst/>
          </a:prstGeom>
          <a:noFill/>
          <a:ln/>
        </p:spPr>
        <p:txBody>
          <a:bodyPr wrap="square" lIns="0" tIns="0" rIns="0" bIns="0" rtlCol="0" anchor="t"/>
          <a:lstStyle/>
          <a:p>
            <a:pPr algn="ctr" indent="0" marL="0">
              <a:buNone/>
            </a:pPr>
            <a:r>
              <a:rPr lang="en-US" sz="850" b="1" dirty="0">
                <a:solidFill>
                  <a:srgbClr val="8E8E8E"/>
                </a:solidFill>
                <a:latin typeface="Calibri" pitchFamily="34" charset="0"/>
                <a:ea typeface="Calibri" pitchFamily="34" charset="-122"/>
                <a:cs typeface="Calibri" pitchFamily="34" charset="-120"/>
              </a:rPr>
              <a:t>M5</a:t>
            </a:r>
            <a:endParaRPr lang="en-US" sz="850" dirty="0"/>
          </a:p>
        </p:txBody>
      </p:sp>
      <p:sp>
        <p:nvSpPr>
          <p:cNvPr id="18" name="Text 16"/>
          <p:cNvSpPr/>
          <p:nvPr/>
        </p:nvSpPr>
        <p:spPr>
          <a:xfrm>
            <a:off x="9641586" y="1810512"/>
            <a:ext cx="1772869" cy="201168"/>
          </a:xfrm>
          <a:prstGeom prst="rect">
            <a:avLst/>
          </a:prstGeom>
          <a:noFill/>
          <a:ln/>
        </p:spPr>
        <p:txBody>
          <a:bodyPr wrap="square" lIns="0" tIns="0" rIns="0" bIns="0" rtlCol="0" anchor="t"/>
          <a:lstStyle/>
          <a:p>
            <a:pPr algn="ctr" indent="0" marL="0">
              <a:buNone/>
            </a:pPr>
            <a:r>
              <a:rPr lang="en-US" sz="850" b="1" dirty="0">
                <a:solidFill>
                  <a:srgbClr val="8E8E8E"/>
                </a:solidFill>
                <a:latin typeface="Calibri" pitchFamily="34" charset="0"/>
                <a:ea typeface="Calibri" pitchFamily="34" charset="-122"/>
                <a:cs typeface="Calibri" pitchFamily="34" charset="-120"/>
              </a:rPr>
              <a:t>M6</a:t>
            </a:r>
            <a:endParaRPr lang="en-US" sz="850" dirty="0"/>
          </a:p>
        </p:txBody>
      </p:sp>
      <p:sp>
        <p:nvSpPr>
          <p:cNvPr id="19" name="Shape 17"/>
          <p:cNvSpPr/>
          <p:nvPr/>
        </p:nvSpPr>
        <p:spPr>
          <a:xfrm>
            <a:off x="777240" y="2139696"/>
            <a:ext cx="3545738" cy="347472"/>
          </a:xfrm>
          <a:prstGeom prst="roundRect">
            <a:avLst>
              <a:gd name="adj" fmla="val 23684"/>
            </a:avLst>
          </a:prstGeom>
          <a:solidFill>
            <a:srgbClr val="16181C"/>
          </a:solidFill>
          <a:ln/>
        </p:spPr>
      </p:sp>
      <p:sp>
        <p:nvSpPr>
          <p:cNvPr id="20" name="Text 18"/>
          <p:cNvSpPr/>
          <p:nvPr/>
        </p:nvSpPr>
        <p:spPr>
          <a:xfrm>
            <a:off x="923544" y="2139696"/>
            <a:ext cx="3271418" cy="347472"/>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M1–2 · Retrospective + workflow discovery</a:t>
            </a:r>
            <a:endParaRPr lang="en-US" sz="950" dirty="0"/>
          </a:p>
        </p:txBody>
      </p:sp>
      <p:sp>
        <p:nvSpPr>
          <p:cNvPr id="21" name="Text 19"/>
          <p:cNvSpPr/>
          <p:nvPr/>
        </p:nvSpPr>
        <p:spPr>
          <a:xfrm>
            <a:off x="4432706" y="2139696"/>
            <a:ext cx="1463040" cy="347472"/>
          </a:xfrm>
          <a:prstGeom prst="rect">
            <a:avLst/>
          </a:prstGeom>
          <a:noFill/>
          <a:ln/>
        </p:spPr>
        <p:txBody>
          <a:bodyPr wrap="square" lIns="0" tIns="0" rIns="0" bIns="0" rtlCol="0" anchor="ctr"/>
          <a:lstStyle/>
          <a:p>
            <a:pPr algn="l" indent="0" marL="0">
              <a:buNone/>
            </a:pPr>
            <a:r>
              <a:rPr lang="en-US" sz="850" b="1" i="1" dirty="0">
                <a:solidFill>
                  <a:srgbClr val="5A6CE6"/>
                </a:solidFill>
                <a:latin typeface="Calibri" pitchFamily="34" charset="0"/>
                <a:ea typeface="Calibri" pitchFamily="34" charset="-122"/>
                <a:cs typeface="Calibri" pitchFamily="34" charset="-120"/>
              </a:rPr>
              <a:t>Gate 1 · 2 ✓</a:t>
            </a:r>
            <a:endParaRPr lang="en-US" sz="850" dirty="0"/>
          </a:p>
        </p:txBody>
      </p:sp>
      <p:sp>
        <p:nvSpPr>
          <p:cNvPr id="22" name="Shape 20"/>
          <p:cNvSpPr/>
          <p:nvPr/>
        </p:nvSpPr>
        <p:spPr>
          <a:xfrm>
            <a:off x="2550109" y="2542032"/>
            <a:ext cx="3545738" cy="347472"/>
          </a:xfrm>
          <a:prstGeom prst="roundRect">
            <a:avLst>
              <a:gd name="adj" fmla="val 23684"/>
            </a:avLst>
          </a:prstGeom>
          <a:solidFill>
            <a:srgbClr val="E7E3F5"/>
          </a:solidFill>
          <a:ln/>
        </p:spPr>
      </p:sp>
      <p:sp>
        <p:nvSpPr>
          <p:cNvPr id="23" name="Text 21"/>
          <p:cNvSpPr/>
          <p:nvPr/>
        </p:nvSpPr>
        <p:spPr>
          <a:xfrm>
            <a:off x="2696413" y="2542032"/>
            <a:ext cx="3271418" cy="347472"/>
          </a:xfrm>
          <a:prstGeom prst="rect">
            <a:avLst/>
          </a:prstGeom>
          <a:noFill/>
          <a:ln/>
        </p:spPr>
        <p:txBody>
          <a:bodyPr wrap="square" lIns="0" tIns="0" rIns="0" bIns="0" rtlCol="0" anchor="ctr"/>
          <a:lstStyle/>
          <a:p>
            <a:pPr algn="l" indent="0" marL="0">
              <a:buNone/>
            </a:pPr>
            <a:r>
              <a:rPr lang="en-US" sz="950" b="1" dirty="0">
                <a:solidFill>
                  <a:srgbClr val="181818"/>
                </a:solidFill>
                <a:latin typeface="Calibri" pitchFamily="34" charset="0"/>
                <a:ea typeface="Calibri" pitchFamily="34" charset="-122"/>
                <a:cs typeface="Calibri" pitchFamily="34" charset="-120"/>
              </a:rPr>
              <a:t>M2–4 · Concierge pilot  (eng builds in parallel)</a:t>
            </a:r>
            <a:endParaRPr lang="en-US" sz="950" dirty="0"/>
          </a:p>
        </p:txBody>
      </p:sp>
      <p:sp>
        <p:nvSpPr>
          <p:cNvPr id="24" name="Text 22"/>
          <p:cNvSpPr/>
          <p:nvPr/>
        </p:nvSpPr>
        <p:spPr>
          <a:xfrm>
            <a:off x="6205576" y="2542032"/>
            <a:ext cx="1463040" cy="347472"/>
          </a:xfrm>
          <a:prstGeom prst="rect">
            <a:avLst/>
          </a:prstGeom>
          <a:noFill/>
          <a:ln/>
        </p:spPr>
        <p:txBody>
          <a:bodyPr wrap="square" lIns="0" tIns="0" rIns="0" bIns="0" rtlCol="0" anchor="ctr"/>
          <a:lstStyle/>
          <a:p>
            <a:pPr algn="l" indent="0" marL="0">
              <a:buNone/>
            </a:pPr>
            <a:r>
              <a:rPr lang="en-US" sz="850" b="1" i="1" dirty="0">
                <a:solidFill>
                  <a:srgbClr val="5A6CE6"/>
                </a:solidFill>
                <a:latin typeface="Calibri" pitchFamily="34" charset="0"/>
                <a:ea typeface="Calibri" pitchFamily="34" charset="-122"/>
                <a:cs typeface="Calibri" pitchFamily="34" charset="-120"/>
              </a:rPr>
              <a:t>Gate 3 ✓</a:t>
            </a:r>
            <a:endParaRPr lang="en-US" sz="850" dirty="0"/>
          </a:p>
        </p:txBody>
      </p:sp>
      <p:sp>
        <p:nvSpPr>
          <p:cNvPr id="25" name="Shape 23"/>
          <p:cNvSpPr/>
          <p:nvPr/>
        </p:nvSpPr>
        <p:spPr>
          <a:xfrm>
            <a:off x="6095848" y="2944368"/>
            <a:ext cx="5318608" cy="347472"/>
          </a:xfrm>
          <a:prstGeom prst="roundRect">
            <a:avLst>
              <a:gd name="adj" fmla="val 23684"/>
            </a:avLst>
          </a:prstGeom>
          <a:solidFill>
            <a:srgbClr val="5A6CE6"/>
          </a:solidFill>
          <a:ln/>
        </p:spPr>
      </p:sp>
      <p:sp>
        <p:nvSpPr>
          <p:cNvPr id="26" name="Text 24"/>
          <p:cNvSpPr/>
          <p:nvPr/>
        </p:nvSpPr>
        <p:spPr>
          <a:xfrm>
            <a:off x="6242152" y="2944368"/>
            <a:ext cx="3718408" cy="347472"/>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M4–6 · MVP measured launch</a:t>
            </a:r>
            <a:endParaRPr lang="en-US" sz="950" dirty="0"/>
          </a:p>
        </p:txBody>
      </p:sp>
      <p:sp>
        <p:nvSpPr>
          <p:cNvPr id="27" name="Text 25"/>
          <p:cNvSpPr/>
          <p:nvPr/>
        </p:nvSpPr>
        <p:spPr>
          <a:xfrm>
            <a:off x="9878263" y="2944368"/>
            <a:ext cx="1389888" cy="347472"/>
          </a:xfrm>
          <a:prstGeom prst="rect">
            <a:avLst/>
          </a:prstGeom>
          <a:noFill/>
          <a:ln/>
        </p:spPr>
        <p:txBody>
          <a:bodyPr wrap="square" lIns="0" tIns="0" rIns="0" bIns="0" rtlCol="0" anchor="ctr"/>
          <a:lstStyle/>
          <a:p>
            <a:pPr algn="r" indent="0" marL="0">
              <a:buNone/>
            </a:pPr>
            <a:r>
              <a:rPr lang="en-US" sz="850" b="1" i="1" dirty="0">
                <a:solidFill>
                  <a:srgbClr val="FFFFFF"/>
                </a:solidFill>
                <a:latin typeface="Calibri" pitchFamily="34" charset="0"/>
                <a:ea typeface="Calibri" pitchFamily="34" charset="-122"/>
                <a:cs typeface="Calibri" pitchFamily="34" charset="-120"/>
              </a:rPr>
              <a:t>2–3 partners</a:t>
            </a:r>
            <a:endParaRPr lang="en-US" sz="850" dirty="0"/>
          </a:p>
        </p:txBody>
      </p:sp>
      <p:sp>
        <p:nvSpPr>
          <p:cNvPr id="28" name="Text 26"/>
          <p:cNvSpPr/>
          <p:nvPr/>
        </p:nvSpPr>
        <p:spPr>
          <a:xfrm>
            <a:off x="777240" y="3401568"/>
            <a:ext cx="10637215" cy="237744"/>
          </a:xfrm>
          <a:prstGeom prst="rect">
            <a:avLst/>
          </a:prstGeom>
          <a:noFill/>
          <a:ln/>
        </p:spPr>
        <p:txBody>
          <a:bodyPr wrap="square" lIns="0" tIns="0" rIns="0" bIns="0" rtlCol="0" anchor="t"/>
          <a:lstStyle/>
          <a:p>
            <a:pPr algn="l" indent="0" marL="0">
              <a:buNone/>
            </a:pPr>
            <a:r>
              <a:rPr lang="en-US" sz="950" i="1" dirty="0">
                <a:solidFill>
                  <a:srgbClr val="8E8E8E"/>
                </a:solidFill>
                <a:latin typeface="Calibri" pitchFamily="34" charset="0"/>
                <a:ea typeface="Calibri" pitchFamily="34" charset="-122"/>
                <a:cs typeface="Calibri" pitchFamily="34" charset="-120"/>
              </a:rPr>
              <a:t>Build stays off the critical path until the signal gate clears.</a:t>
            </a:r>
            <a:endParaRPr lang="en-US" sz="950" dirty="0"/>
          </a:p>
        </p:txBody>
      </p:sp>
      <p:sp>
        <p:nvSpPr>
          <p:cNvPr id="29" name="Shape 27"/>
          <p:cNvSpPr/>
          <p:nvPr/>
        </p:nvSpPr>
        <p:spPr>
          <a:xfrm>
            <a:off x="777240" y="3767328"/>
            <a:ext cx="3310128" cy="512064"/>
          </a:xfrm>
          <a:prstGeom prst="roundRect">
            <a:avLst>
              <a:gd name="adj" fmla="val 17857"/>
            </a:avLst>
          </a:prstGeom>
          <a:solidFill>
            <a:srgbClr val="F4F4F4"/>
          </a:solidFill>
          <a:ln/>
        </p:spPr>
      </p:sp>
      <p:sp>
        <p:nvSpPr>
          <p:cNvPr id="30" name="Text 28"/>
          <p:cNvSpPr/>
          <p:nvPr/>
        </p:nvSpPr>
        <p:spPr>
          <a:xfrm>
            <a:off x="996696" y="3840480"/>
            <a:ext cx="2944368" cy="219456"/>
          </a:xfrm>
          <a:prstGeom prst="rect">
            <a:avLst/>
          </a:prstGeom>
          <a:noFill/>
          <a:ln/>
        </p:spPr>
        <p:txBody>
          <a:bodyPr wrap="square" lIns="0" tIns="0" rIns="0" bIns="0" rtlCol="0" anchor="t"/>
          <a:lstStyle/>
          <a:p>
            <a:pPr algn="l" indent="0" marL="0">
              <a:buNone/>
            </a:pPr>
            <a:r>
              <a:rPr lang="en-US" sz="1200" b="1" spc="50" kern="0" dirty="0">
                <a:solidFill>
                  <a:srgbClr val="181818"/>
                </a:solidFill>
                <a:latin typeface="Calibri" pitchFamily="34" charset="0"/>
                <a:ea typeface="Calibri" pitchFamily="34" charset="-122"/>
                <a:cs typeface="Calibri" pitchFamily="34" charset="-120"/>
              </a:rPr>
              <a:t>REVIEWED</a:t>
            </a:r>
            <a:endParaRPr lang="en-US" sz="1200" dirty="0"/>
          </a:p>
        </p:txBody>
      </p:sp>
      <p:sp>
        <p:nvSpPr>
          <p:cNvPr id="31" name="Text 29"/>
          <p:cNvSpPr/>
          <p:nvPr/>
        </p:nvSpPr>
        <p:spPr>
          <a:xfrm>
            <a:off x="996696" y="4050792"/>
            <a:ext cx="2944368" cy="201168"/>
          </a:xfrm>
          <a:prstGeom prst="rect">
            <a:avLst/>
          </a:prstGeom>
          <a:noFill/>
          <a:ln/>
        </p:spPr>
        <p:txBody>
          <a:bodyPr wrap="square" lIns="0" tIns="0" rIns="0" bIns="0" rtlCol="0" anchor="t"/>
          <a:lstStyle/>
          <a:p>
            <a:pPr algn="l" indent="0" marL="0">
              <a:buNone/>
            </a:pPr>
            <a:r>
              <a:rPr lang="en-US" sz="950" i="1" dirty="0">
                <a:solidFill>
                  <a:srgbClr val="8E8E8E"/>
                </a:solidFill>
                <a:latin typeface="Calibri" pitchFamily="34" charset="0"/>
                <a:ea typeface="Calibri" pitchFamily="34" charset="-122"/>
                <a:cs typeface="Calibri" pitchFamily="34" charset="-120"/>
              </a:rPr>
              <a:t>does the loop run?</a:t>
            </a:r>
            <a:endParaRPr lang="en-US" sz="950" dirty="0"/>
          </a:p>
        </p:txBody>
      </p:sp>
      <p:sp>
        <p:nvSpPr>
          <p:cNvPr id="32" name="Shape 30"/>
          <p:cNvSpPr/>
          <p:nvPr/>
        </p:nvSpPr>
        <p:spPr>
          <a:xfrm>
            <a:off x="832104" y="4480560"/>
            <a:ext cx="73152" cy="73152"/>
          </a:xfrm>
          <a:prstGeom prst="ellipse">
            <a:avLst/>
          </a:prstGeom>
          <a:solidFill>
            <a:srgbClr val="C4C4C4"/>
          </a:solidFill>
          <a:ln/>
        </p:spPr>
      </p:sp>
      <p:sp>
        <p:nvSpPr>
          <p:cNvPr id="33" name="Text 31"/>
          <p:cNvSpPr/>
          <p:nvPr/>
        </p:nvSpPr>
        <p:spPr>
          <a:xfrm>
            <a:off x="1014984" y="4407408"/>
            <a:ext cx="3035808" cy="365760"/>
          </a:xfrm>
          <a:prstGeom prst="rect">
            <a:avLst/>
          </a:prstGeom>
          <a:noFill/>
          <a:ln/>
        </p:spPr>
        <p:txBody>
          <a:bodyPr wrap="square" lIns="0" tIns="0" rIns="0" bIns="0" rtlCol="0" anchor="t"/>
          <a:lstStyle/>
          <a:p>
            <a:pPr algn="l" indent="0" marL="0">
              <a:lnSpc>
                <a:spcPct val="102000"/>
              </a:lnSpc>
              <a:buNone/>
            </a:pPr>
            <a:r>
              <a:rPr lang="en-US" sz="930" dirty="0">
                <a:solidFill>
                  <a:srgbClr val="4A4A4A"/>
                </a:solidFill>
                <a:latin typeface="Calibri" pitchFamily="34" charset="0"/>
                <a:ea typeface="Calibri" pitchFamily="34" charset="-122"/>
                <a:cs typeface="Calibri" pitchFamily="34" charset="-120"/>
              </a:rPr>
              <a:t>% candidates resolved in cadence</a:t>
            </a:r>
            <a:endParaRPr lang="en-US" sz="930" dirty="0"/>
          </a:p>
        </p:txBody>
      </p:sp>
      <p:sp>
        <p:nvSpPr>
          <p:cNvPr id="34" name="Shape 32"/>
          <p:cNvSpPr/>
          <p:nvPr/>
        </p:nvSpPr>
        <p:spPr>
          <a:xfrm>
            <a:off x="832104" y="4846320"/>
            <a:ext cx="73152" cy="73152"/>
          </a:xfrm>
          <a:prstGeom prst="ellipse">
            <a:avLst/>
          </a:prstGeom>
          <a:solidFill>
            <a:srgbClr val="C4C4C4"/>
          </a:solidFill>
          <a:ln/>
        </p:spPr>
      </p:sp>
      <p:sp>
        <p:nvSpPr>
          <p:cNvPr id="35" name="Text 33"/>
          <p:cNvSpPr/>
          <p:nvPr/>
        </p:nvSpPr>
        <p:spPr>
          <a:xfrm>
            <a:off x="1014984" y="4773168"/>
            <a:ext cx="3035808" cy="365760"/>
          </a:xfrm>
          <a:prstGeom prst="rect">
            <a:avLst/>
          </a:prstGeom>
          <a:noFill/>
          <a:ln/>
        </p:spPr>
        <p:txBody>
          <a:bodyPr wrap="square" lIns="0" tIns="0" rIns="0" bIns="0" rtlCol="0" anchor="t"/>
          <a:lstStyle/>
          <a:p>
            <a:pPr algn="l" indent="0" marL="0">
              <a:lnSpc>
                <a:spcPct val="102000"/>
              </a:lnSpc>
              <a:buNone/>
            </a:pPr>
            <a:r>
              <a:rPr lang="en-US" sz="930" dirty="0">
                <a:solidFill>
                  <a:srgbClr val="4A4A4A"/>
                </a:solidFill>
                <a:latin typeface="Calibri" pitchFamily="34" charset="0"/>
                <a:ea typeface="Calibri" pitchFamily="34" charset="-122"/>
                <a:cs typeface="Calibri" pitchFamily="34" charset="-120"/>
              </a:rPr>
              <a:t>% confirmed meaningful by reviewers</a:t>
            </a:r>
            <a:endParaRPr lang="en-US" sz="930" dirty="0"/>
          </a:p>
        </p:txBody>
      </p:sp>
      <p:sp>
        <p:nvSpPr>
          <p:cNvPr id="36" name="Shape 34"/>
          <p:cNvSpPr/>
          <p:nvPr/>
        </p:nvSpPr>
        <p:spPr>
          <a:xfrm>
            <a:off x="832104" y="5212080"/>
            <a:ext cx="73152" cy="73152"/>
          </a:xfrm>
          <a:prstGeom prst="ellipse">
            <a:avLst/>
          </a:prstGeom>
          <a:solidFill>
            <a:srgbClr val="C4C4C4"/>
          </a:solidFill>
          <a:ln/>
        </p:spPr>
      </p:sp>
      <p:sp>
        <p:nvSpPr>
          <p:cNvPr id="37" name="Text 35"/>
          <p:cNvSpPr/>
          <p:nvPr/>
        </p:nvSpPr>
        <p:spPr>
          <a:xfrm>
            <a:off x="1014984" y="5138928"/>
            <a:ext cx="3035808" cy="365760"/>
          </a:xfrm>
          <a:prstGeom prst="rect">
            <a:avLst/>
          </a:prstGeom>
          <a:noFill/>
          <a:ln/>
        </p:spPr>
        <p:txBody>
          <a:bodyPr wrap="square" lIns="0" tIns="0" rIns="0" bIns="0" rtlCol="0" anchor="t"/>
          <a:lstStyle/>
          <a:p>
            <a:pPr algn="l" indent="0" marL="0">
              <a:lnSpc>
                <a:spcPct val="102000"/>
              </a:lnSpc>
              <a:buNone/>
            </a:pPr>
            <a:r>
              <a:rPr lang="en-US" sz="930" dirty="0">
                <a:solidFill>
                  <a:srgbClr val="4A4A4A"/>
                </a:solidFill>
                <a:latin typeface="Calibri" pitchFamily="34" charset="0"/>
                <a:ea typeface="Calibri" pitchFamily="34" charset="-122"/>
                <a:cs typeface="Calibri" pitchFamily="34" charset="-120"/>
              </a:rPr>
              <a:t>median time from signal to review</a:t>
            </a:r>
            <a:endParaRPr lang="en-US" sz="930" dirty="0"/>
          </a:p>
        </p:txBody>
      </p:sp>
      <p:sp>
        <p:nvSpPr>
          <p:cNvPr id="38" name="Text 36"/>
          <p:cNvSpPr/>
          <p:nvPr/>
        </p:nvSpPr>
        <p:spPr>
          <a:xfrm>
            <a:off x="4069080" y="3822192"/>
            <a:ext cx="389992" cy="457200"/>
          </a:xfrm>
          <a:prstGeom prst="rect">
            <a:avLst/>
          </a:prstGeom>
          <a:noFill/>
          <a:ln/>
        </p:spPr>
        <p:txBody>
          <a:bodyPr wrap="square" lIns="0" tIns="0" rIns="0" bIns="0" rtlCol="0" anchor="ctr"/>
          <a:lstStyle/>
          <a:p>
            <a:pPr algn="ctr" indent="0" marL="0">
              <a:buNone/>
            </a:pPr>
            <a:r>
              <a:rPr lang="en-US" sz="2000" b="1" dirty="0">
                <a:solidFill>
                  <a:srgbClr val="5A6CE6"/>
                </a:solidFill>
                <a:latin typeface="Calibri" pitchFamily="34" charset="0"/>
                <a:ea typeface="Calibri" pitchFamily="34" charset="-122"/>
                <a:cs typeface="Calibri" pitchFamily="34" charset="-120"/>
              </a:rPr>
              <a:t>→</a:t>
            </a:r>
            <a:endParaRPr lang="en-US" sz="2000" dirty="0"/>
          </a:p>
        </p:txBody>
      </p:sp>
      <p:sp>
        <p:nvSpPr>
          <p:cNvPr id="39" name="Shape 37"/>
          <p:cNvSpPr/>
          <p:nvPr/>
        </p:nvSpPr>
        <p:spPr>
          <a:xfrm>
            <a:off x="4440784" y="3767328"/>
            <a:ext cx="3310128" cy="512064"/>
          </a:xfrm>
          <a:prstGeom prst="roundRect">
            <a:avLst>
              <a:gd name="adj" fmla="val 17857"/>
            </a:avLst>
          </a:prstGeom>
          <a:solidFill>
            <a:srgbClr val="F4F4F4"/>
          </a:solidFill>
          <a:ln/>
        </p:spPr>
      </p:sp>
      <p:sp>
        <p:nvSpPr>
          <p:cNvPr id="40" name="Text 38"/>
          <p:cNvSpPr/>
          <p:nvPr/>
        </p:nvSpPr>
        <p:spPr>
          <a:xfrm>
            <a:off x="4660240" y="3840480"/>
            <a:ext cx="2944368" cy="219456"/>
          </a:xfrm>
          <a:prstGeom prst="rect">
            <a:avLst/>
          </a:prstGeom>
          <a:noFill/>
          <a:ln/>
        </p:spPr>
        <p:txBody>
          <a:bodyPr wrap="square" lIns="0" tIns="0" rIns="0" bIns="0" rtlCol="0" anchor="t"/>
          <a:lstStyle/>
          <a:p>
            <a:pPr algn="l" indent="0" marL="0">
              <a:buNone/>
            </a:pPr>
            <a:r>
              <a:rPr lang="en-US" sz="1200" b="1" spc="50" kern="0" dirty="0">
                <a:solidFill>
                  <a:srgbClr val="181818"/>
                </a:solidFill>
                <a:latin typeface="Calibri" pitchFamily="34" charset="0"/>
                <a:ea typeface="Calibri" pitchFamily="34" charset="-122"/>
                <a:cs typeface="Calibri" pitchFamily="34" charset="-120"/>
              </a:rPr>
              <a:t>ACTED</a:t>
            </a:r>
            <a:endParaRPr lang="en-US" sz="1200" dirty="0"/>
          </a:p>
        </p:txBody>
      </p:sp>
      <p:sp>
        <p:nvSpPr>
          <p:cNvPr id="41" name="Text 39"/>
          <p:cNvSpPr/>
          <p:nvPr/>
        </p:nvSpPr>
        <p:spPr>
          <a:xfrm>
            <a:off x="4660240" y="4050792"/>
            <a:ext cx="2944368" cy="201168"/>
          </a:xfrm>
          <a:prstGeom prst="rect">
            <a:avLst/>
          </a:prstGeom>
          <a:noFill/>
          <a:ln/>
        </p:spPr>
        <p:txBody>
          <a:bodyPr wrap="square" lIns="0" tIns="0" rIns="0" bIns="0" rtlCol="0" anchor="t"/>
          <a:lstStyle/>
          <a:p>
            <a:pPr algn="l" indent="0" marL="0">
              <a:buNone/>
            </a:pPr>
            <a:r>
              <a:rPr lang="en-US" sz="950" i="1" dirty="0">
                <a:solidFill>
                  <a:srgbClr val="8E8E8E"/>
                </a:solidFill>
                <a:latin typeface="Calibri" pitchFamily="34" charset="0"/>
                <a:ea typeface="Calibri" pitchFamily="34" charset="-122"/>
                <a:cs typeface="Calibri" pitchFamily="34" charset="-120"/>
              </a:rPr>
              <a:t>does behavior change?</a:t>
            </a:r>
            <a:endParaRPr lang="en-US" sz="950" dirty="0"/>
          </a:p>
        </p:txBody>
      </p:sp>
      <p:sp>
        <p:nvSpPr>
          <p:cNvPr id="42" name="Shape 40"/>
          <p:cNvSpPr/>
          <p:nvPr/>
        </p:nvSpPr>
        <p:spPr>
          <a:xfrm>
            <a:off x="4495648" y="4480560"/>
            <a:ext cx="73152" cy="73152"/>
          </a:xfrm>
          <a:prstGeom prst="ellipse">
            <a:avLst/>
          </a:prstGeom>
          <a:solidFill>
            <a:srgbClr val="C4C4C4"/>
          </a:solidFill>
          <a:ln/>
        </p:spPr>
      </p:sp>
      <p:sp>
        <p:nvSpPr>
          <p:cNvPr id="43" name="Text 41"/>
          <p:cNvSpPr/>
          <p:nvPr/>
        </p:nvSpPr>
        <p:spPr>
          <a:xfrm>
            <a:off x="4678528" y="4407408"/>
            <a:ext cx="3035808" cy="365760"/>
          </a:xfrm>
          <a:prstGeom prst="rect">
            <a:avLst/>
          </a:prstGeom>
          <a:noFill/>
          <a:ln/>
        </p:spPr>
        <p:txBody>
          <a:bodyPr wrap="square" lIns="0" tIns="0" rIns="0" bIns="0" rtlCol="0" anchor="t"/>
          <a:lstStyle/>
          <a:p>
            <a:pPr algn="l" indent="0" marL="0">
              <a:lnSpc>
                <a:spcPct val="102000"/>
              </a:lnSpc>
              <a:buNone/>
            </a:pPr>
            <a:r>
              <a:rPr lang="en-US" sz="930" dirty="0">
                <a:solidFill>
                  <a:srgbClr val="4A4A4A"/>
                </a:solidFill>
                <a:latin typeface="Calibri" pitchFamily="34" charset="0"/>
                <a:ea typeface="Calibri" pitchFamily="34" charset="-122"/>
                <a:cs typeface="Calibri" pitchFamily="34" charset="-120"/>
              </a:rPr>
              <a:t>actions per confirmed candidate</a:t>
            </a:r>
            <a:endParaRPr lang="en-US" sz="930" dirty="0"/>
          </a:p>
        </p:txBody>
      </p:sp>
      <p:sp>
        <p:nvSpPr>
          <p:cNvPr id="44" name="Shape 42"/>
          <p:cNvSpPr/>
          <p:nvPr/>
        </p:nvSpPr>
        <p:spPr>
          <a:xfrm>
            <a:off x="4495648" y="4846320"/>
            <a:ext cx="73152" cy="73152"/>
          </a:xfrm>
          <a:prstGeom prst="ellipse">
            <a:avLst/>
          </a:prstGeom>
          <a:solidFill>
            <a:srgbClr val="C4C4C4"/>
          </a:solidFill>
          <a:ln/>
        </p:spPr>
      </p:sp>
      <p:sp>
        <p:nvSpPr>
          <p:cNvPr id="45" name="Text 43"/>
          <p:cNvSpPr/>
          <p:nvPr/>
        </p:nvSpPr>
        <p:spPr>
          <a:xfrm>
            <a:off x="4678528" y="4773168"/>
            <a:ext cx="3035808" cy="365760"/>
          </a:xfrm>
          <a:prstGeom prst="rect">
            <a:avLst/>
          </a:prstGeom>
          <a:noFill/>
          <a:ln/>
        </p:spPr>
        <p:txBody>
          <a:bodyPr wrap="square" lIns="0" tIns="0" rIns="0" bIns="0" rtlCol="0" anchor="t"/>
          <a:lstStyle/>
          <a:p>
            <a:pPr algn="l" indent="0" marL="0">
              <a:lnSpc>
                <a:spcPct val="102000"/>
              </a:lnSpc>
              <a:buNone/>
            </a:pPr>
            <a:r>
              <a:rPr lang="en-US" sz="930" dirty="0">
                <a:solidFill>
                  <a:srgbClr val="4A4A4A"/>
                </a:solidFill>
                <a:latin typeface="Calibri" pitchFamily="34" charset="0"/>
                <a:ea typeface="Calibri" pitchFamily="34" charset="-122"/>
                <a:cs typeface="Calibri" pitchFamily="34" charset="-120"/>
              </a:rPr>
              <a:t>reassessments initiated with Teton evidence</a:t>
            </a:r>
            <a:endParaRPr lang="en-US" sz="930" dirty="0"/>
          </a:p>
        </p:txBody>
      </p:sp>
      <p:sp>
        <p:nvSpPr>
          <p:cNvPr id="46" name="Shape 44"/>
          <p:cNvSpPr/>
          <p:nvPr/>
        </p:nvSpPr>
        <p:spPr>
          <a:xfrm>
            <a:off x="4495648" y="5212080"/>
            <a:ext cx="73152" cy="73152"/>
          </a:xfrm>
          <a:prstGeom prst="ellipse">
            <a:avLst/>
          </a:prstGeom>
          <a:solidFill>
            <a:srgbClr val="C4C4C4"/>
          </a:solidFill>
          <a:ln/>
        </p:spPr>
      </p:sp>
      <p:sp>
        <p:nvSpPr>
          <p:cNvPr id="47" name="Text 45"/>
          <p:cNvSpPr/>
          <p:nvPr/>
        </p:nvSpPr>
        <p:spPr>
          <a:xfrm>
            <a:off x="4678528" y="5138928"/>
            <a:ext cx="3035808" cy="365760"/>
          </a:xfrm>
          <a:prstGeom prst="rect">
            <a:avLst/>
          </a:prstGeom>
          <a:noFill/>
          <a:ln/>
        </p:spPr>
        <p:txBody>
          <a:bodyPr wrap="square" lIns="0" tIns="0" rIns="0" bIns="0" rtlCol="0" anchor="t"/>
          <a:lstStyle/>
          <a:p>
            <a:pPr algn="l" indent="0" marL="0">
              <a:lnSpc>
                <a:spcPct val="102000"/>
              </a:lnSpc>
              <a:buNone/>
            </a:pPr>
            <a:r>
              <a:rPr lang="en-US" sz="930" dirty="0">
                <a:solidFill>
                  <a:srgbClr val="4A4A4A"/>
                </a:solidFill>
                <a:latin typeface="Calibri" pitchFamily="34" charset="0"/>
                <a:ea typeface="Calibri" pitchFamily="34" charset="-122"/>
                <a:cs typeface="Calibri" pitchFamily="34" charset="-120"/>
              </a:rPr>
              <a:t>family conferences using approved summaries</a:t>
            </a:r>
            <a:endParaRPr lang="en-US" sz="930" dirty="0"/>
          </a:p>
        </p:txBody>
      </p:sp>
      <p:sp>
        <p:nvSpPr>
          <p:cNvPr id="48" name="Text 46"/>
          <p:cNvSpPr/>
          <p:nvPr/>
        </p:nvSpPr>
        <p:spPr>
          <a:xfrm>
            <a:off x="7732624" y="3822192"/>
            <a:ext cx="389992" cy="457200"/>
          </a:xfrm>
          <a:prstGeom prst="rect">
            <a:avLst/>
          </a:prstGeom>
          <a:noFill/>
          <a:ln/>
        </p:spPr>
        <p:txBody>
          <a:bodyPr wrap="square" lIns="0" tIns="0" rIns="0" bIns="0" rtlCol="0" anchor="ctr"/>
          <a:lstStyle/>
          <a:p>
            <a:pPr algn="ctr" indent="0" marL="0">
              <a:buNone/>
            </a:pPr>
            <a:r>
              <a:rPr lang="en-US" sz="2000" b="1" dirty="0">
                <a:solidFill>
                  <a:srgbClr val="5A6CE6"/>
                </a:solidFill>
                <a:latin typeface="Calibri" pitchFamily="34" charset="0"/>
                <a:ea typeface="Calibri" pitchFamily="34" charset="-122"/>
                <a:cs typeface="Calibri" pitchFamily="34" charset="-120"/>
              </a:rPr>
              <a:t>→</a:t>
            </a:r>
            <a:endParaRPr lang="en-US" sz="2000" dirty="0"/>
          </a:p>
        </p:txBody>
      </p:sp>
      <p:sp>
        <p:nvSpPr>
          <p:cNvPr id="49" name="Shape 47"/>
          <p:cNvSpPr/>
          <p:nvPr/>
        </p:nvSpPr>
        <p:spPr>
          <a:xfrm>
            <a:off x="8104327" y="3767328"/>
            <a:ext cx="3310128" cy="512064"/>
          </a:xfrm>
          <a:prstGeom prst="roundRect">
            <a:avLst>
              <a:gd name="adj" fmla="val 17857"/>
            </a:avLst>
          </a:prstGeom>
          <a:solidFill>
            <a:srgbClr val="BCEFCB"/>
          </a:solidFill>
          <a:ln/>
        </p:spPr>
      </p:sp>
      <p:sp>
        <p:nvSpPr>
          <p:cNvPr id="50" name="Text 48"/>
          <p:cNvSpPr/>
          <p:nvPr/>
        </p:nvSpPr>
        <p:spPr>
          <a:xfrm>
            <a:off x="8323783" y="3840480"/>
            <a:ext cx="2944368" cy="219456"/>
          </a:xfrm>
          <a:prstGeom prst="rect">
            <a:avLst/>
          </a:prstGeom>
          <a:noFill/>
          <a:ln/>
        </p:spPr>
        <p:txBody>
          <a:bodyPr wrap="square" lIns="0" tIns="0" rIns="0" bIns="0" rtlCol="0" anchor="t"/>
          <a:lstStyle/>
          <a:p>
            <a:pPr algn="l" indent="0" marL="0">
              <a:buNone/>
            </a:pPr>
            <a:r>
              <a:rPr lang="en-US" sz="1200" b="1" spc="50" kern="0" dirty="0">
                <a:solidFill>
                  <a:srgbClr val="181818"/>
                </a:solidFill>
                <a:latin typeface="Calibri" pitchFamily="34" charset="0"/>
                <a:ea typeface="Calibri" pitchFamily="34" charset="-122"/>
                <a:cs typeface="Calibri" pitchFamily="34" charset="-120"/>
              </a:rPr>
              <a:t>OUTCOMES</a:t>
            </a:r>
            <a:endParaRPr lang="en-US" sz="1200" dirty="0"/>
          </a:p>
        </p:txBody>
      </p:sp>
      <p:sp>
        <p:nvSpPr>
          <p:cNvPr id="51" name="Text 49"/>
          <p:cNvSpPr/>
          <p:nvPr/>
        </p:nvSpPr>
        <p:spPr>
          <a:xfrm>
            <a:off x="8323783" y="4050792"/>
            <a:ext cx="2944368" cy="201168"/>
          </a:xfrm>
          <a:prstGeom prst="rect">
            <a:avLst/>
          </a:prstGeom>
          <a:noFill/>
          <a:ln/>
        </p:spPr>
        <p:txBody>
          <a:bodyPr wrap="square" lIns="0" tIns="0" rIns="0" bIns="0" rtlCol="0" anchor="t"/>
          <a:lstStyle/>
          <a:p>
            <a:pPr algn="l" indent="0" marL="0">
              <a:buNone/>
            </a:pPr>
            <a:r>
              <a:rPr lang="en-US" sz="950" i="1" dirty="0">
                <a:solidFill>
                  <a:srgbClr val="4C6152"/>
                </a:solidFill>
                <a:latin typeface="Calibri" pitchFamily="34" charset="0"/>
                <a:ea typeface="Calibri" pitchFamily="34" charset="-122"/>
                <a:cs typeface="Calibri" pitchFamily="34" charset="-120"/>
              </a:rPr>
              <a:t>does care change?</a:t>
            </a:r>
            <a:endParaRPr lang="en-US" sz="950" dirty="0"/>
          </a:p>
        </p:txBody>
      </p:sp>
      <p:sp>
        <p:nvSpPr>
          <p:cNvPr id="52" name="Shape 50"/>
          <p:cNvSpPr/>
          <p:nvPr/>
        </p:nvSpPr>
        <p:spPr>
          <a:xfrm>
            <a:off x="8159191" y="4480560"/>
            <a:ext cx="73152" cy="73152"/>
          </a:xfrm>
          <a:prstGeom prst="ellipse">
            <a:avLst/>
          </a:prstGeom>
          <a:solidFill>
            <a:srgbClr val="5A6CE6"/>
          </a:solidFill>
          <a:ln/>
        </p:spPr>
      </p:sp>
      <p:sp>
        <p:nvSpPr>
          <p:cNvPr id="53" name="Text 51"/>
          <p:cNvSpPr/>
          <p:nvPr/>
        </p:nvSpPr>
        <p:spPr>
          <a:xfrm>
            <a:off x="8342071" y="4407408"/>
            <a:ext cx="3035808" cy="365760"/>
          </a:xfrm>
          <a:prstGeom prst="rect">
            <a:avLst/>
          </a:prstGeom>
          <a:noFill/>
          <a:ln/>
        </p:spPr>
        <p:txBody>
          <a:bodyPr wrap="square" lIns="0" tIns="0" rIns="0" bIns="0" rtlCol="0" anchor="t"/>
          <a:lstStyle/>
          <a:p>
            <a:pPr algn="l" indent="0" marL="0">
              <a:lnSpc>
                <a:spcPct val="102000"/>
              </a:lnSpc>
              <a:buNone/>
            </a:pPr>
            <a:r>
              <a:rPr lang="en-US" sz="930" b="1" dirty="0">
                <a:solidFill>
                  <a:srgbClr val="181818"/>
                </a:solidFill>
                <a:latin typeface="Calibri" pitchFamily="34" charset="0"/>
                <a:ea typeface="Calibri" pitchFamily="34" charset="-122"/>
                <a:cs typeface="Calibri" pitchFamily="34" charset="-120"/>
              </a:rPr>
              <a:t>median weeks-earlier detection (north star: week 2, not 12)</a:t>
            </a:r>
            <a:endParaRPr lang="en-US" sz="930" dirty="0"/>
          </a:p>
        </p:txBody>
      </p:sp>
      <p:sp>
        <p:nvSpPr>
          <p:cNvPr id="54" name="Shape 52"/>
          <p:cNvSpPr/>
          <p:nvPr/>
        </p:nvSpPr>
        <p:spPr>
          <a:xfrm>
            <a:off x="8159191" y="4846320"/>
            <a:ext cx="73152" cy="73152"/>
          </a:xfrm>
          <a:prstGeom prst="ellipse">
            <a:avLst/>
          </a:prstGeom>
          <a:solidFill>
            <a:srgbClr val="C4C4C4"/>
          </a:solidFill>
          <a:ln/>
        </p:spPr>
      </p:sp>
      <p:sp>
        <p:nvSpPr>
          <p:cNvPr id="55" name="Text 53"/>
          <p:cNvSpPr/>
          <p:nvPr/>
        </p:nvSpPr>
        <p:spPr>
          <a:xfrm>
            <a:off x="8342071" y="4773168"/>
            <a:ext cx="3035808" cy="365760"/>
          </a:xfrm>
          <a:prstGeom prst="rect">
            <a:avLst/>
          </a:prstGeom>
          <a:noFill/>
          <a:ln/>
        </p:spPr>
        <p:txBody>
          <a:bodyPr wrap="square" lIns="0" tIns="0" rIns="0" bIns="0" rtlCol="0" anchor="t"/>
          <a:lstStyle/>
          <a:p>
            <a:pPr algn="l" indent="0" marL="0">
              <a:lnSpc>
                <a:spcPct val="102000"/>
              </a:lnSpc>
              <a:buNone/>
            </a:pPr>
            <a:r>
              <a:rPr lang="en-US" sz="930" dirty="0">
                <a:solidFill>
                  <a:srgbClr val="4A4A4A"/>
                </a:solidFill>
                <a:latin typeface="Calibri" pitchFamily="34" charset="0"/>
                <a:ea typeface="Calibri" pitchFamily="34" charset="-122"/>
                <a:cs typeface="Calibri" pitchFamily="34" charset="-120"/>
              </a:rPr>
              <a:t>% reassessments backed by documented evidence</a:t>
            </a:r>
            <a:endParaRPr lang="en-US" sz="930" dirty="0"/>
          </a:p>
        </p:txBody>
      </p:sp>
      <p:sp>
        <p:nvSpPr>
          <p:cNvPr id="56" name="Shape 54"/>
          <p:cNvSpPr/>
          <p:nvPr/>
        </p:nvSpPr>
        <p:spPr>
          <a:xfrm>
            <a:off x="8159191" y="5212080"/>
            <a:ext cx="73152" cy="73152"/>
          </a:xfrm>
          <a:prstGeom prst="ellipse">
            <a:avLst/>
          </a:prstGeom>
          <a:solidFill>
            <a:srgbClr val="C4C4C4"/>
          </a:solidFill>
          <a:ln/>
        </p:spPr>
      </p:sp>
      <p:sp>
        <p:nvSpPr>
          <p:cNvPr id="57" name="Text 55"/>
          <p:cNvSpPr/>
          <p:nvPr/>
        </p:nvSpPr>
        <p:spPr>
          <a:xfrm>
            <a:off x="8342071" y="5138928"/>
            <a:ext cx="3035808" cy="365760"/>
          </a:xfrm>
          <a:prstGeom prst="rect">
            <a:avLst/>
          </a:prstGeom>
          <a:noFill/>
          <a:ln/>
        </p:spPr>
        <p:txBody>
          <a:bodyPr wrap="square" lIns="0" tIns="0" rIns="0" bIns="0" rtlCol="0" anchor="t"/>
          <a:lstStyle/>
          <a:p>
            <a:pPr algn="l" indent="0" marL="0">
              <a:lnSpc>
                <a:spcPct val="102000"/>
              </a:lnSpc>
              <a:buNone/>
            </a:pPr>
            <a:r>
              <a:rPr lang="en-US" sz="930" dirty="0">
                <a:solidFill>
                  <a:srgbClr val="4A4A4A"/>
                </a:solidFill>
                <a:latin typeface="Calibri" pitchFamily="34" charset="0"/>
                <a:ea typeface="Calibri" pitchFamily="34" charset="-122"/>
                <a:cs typeface="Calibri" pitchFamily="34" charset="-120"/>
              </a:rPr>
              <a:t>length-of-stay / escalation trend (directional)</a:t>
            </a:r>
            <a:endParaRPr lang="en-US" sz="930" dirty="0"/>
          </a:p>
        </p:txBody>
      </p:sp>
      <p:sp>
        <p:nvSpPr>
          <p:cNvPr id="58" name="Shape 56"/>
          <p:cNvSpPr/>
          <p:nvPr/>
        </p:nvSpPr>
        <p:spPr>
          <a:xfrm>
            <a:off x="777240" y="5632704"/>
            <a:ext cx="10637215" cy="676656"/>
          </a:xfrm>
          <a:prstGeom prst="roundRect">
            <a:avLst>
              <a:gd name="adj" fmla="val 16216"/>
            </a:avLst>
          </a:prstGeom>
          <a:solidFill>
            <a:srgbClr val="16181C"/>
          </a:solidFill>
          <a:ln/>
        </p:spPr>
      </p:sp>
      <p:sp>
        <p:nvSpPr>
          <p:cNvPr id="59" name="Text 57"/>
          <p:cNvSpPr/>
          <p:nvPr/>
        </p:nvSpPr>
        <p:spPr>
          <a:xfrm>
            <a:off x="1097280" y="5632704"/>
            <a:ext cx="9997135" cy="676656"/>
          </a:xfrm>
          <a:prstGeom prst="rect">
            <a:avLst/>
          </a:prstGeom>
          <a:noFill/>
          <a:ln/>
        </p:spPr>
        <p:txBody>
          <a:bodyPr wrap="square" lIns="0" tIns="0" rIns="0" bIns="0" rtlCol="0" anchor="ctr"/>
          <a:lstStyle/>
          <a:p>
            <a:pPr algn="l" indent="0" marL="0">
              <a:lnSpc>
                <a:spcPct val="108000"/>
              </a:lnSpc>
              <a:buNone/>
            </a:pPr>
            <a:r>
              <a:rPr lang="en-US" sz="1100" dirty="0">
                <a:solidFill>
                  <a:srgbClr val="9AA0B0"/>
                </a:solidFill>
                <a:latin typeface="Calibri" pitchFamily="34" charset="0"/>
                <a:ea typeface="Calibri" pitchFamily="34" charset="-122"/>
                <a:cs typeface="Calibri" pitchFamily="34" charset="-120"/>
              </a:rPr>
              <a:t>At renewal, Dana's ROI answer becomes countable:  </a:t>
            </a:r>
            <a:pPr algn="l" indent="0" marL="0">
              <a:lnSpc>
                <a:spcPct val="108000"/>
              </a:lnSpc>
              <a:buNone/>
            </a:pPr>
            <a:r>
              <a:rPr lang="en-US" sz="1100" b="1" dirty="0">
                <a:solidFill>
                  <a:srgbClr val="FFFFFF"/>
                </a:solidFill>
                <a:latin typeface="Calibri" pitchFamily="34" charset="0"/>
                <a:ea typeface="Calibri" pitchFamily="34" charset="-122"/>
                <a:cs typeface="Calibri" pitchFamily="34" charset="-120"/>
              </a:rPr>
              <a:t>N residents caught weeks earlier. M reassessments documented with objective evidence. Family conversations that land.</a:t>
            </a:r>
            <a:pPr algn="l" indent="0" marL="0">
              <a:lnSpc>
                <a:spcPct val="108000"/>
              </a:lnSpc>
              <a:buNone/>
            </a:pPr>
            <a:r>
              <a:rPr lang="en-US" sz="1100" dirty="0">
                <a:solidFill>
                  <a:srgbClr val="9AA0B0"/>
                </a:solidFill>
                <a:latin typeface="Calibri" pitchFamily="34" charset="0"/>
                <a:ea typeface="Calibri" pitchFamily="34" charset="-122"/>
                <a:cs typeface="Calibri" pitchFamily="34" charset="-120"/>
              </a:rPr>
              <a:t>  — and never a night-staffing cut.</a:t>
            </a:r>
            <a:endParaRPr lang="en-US" sz="1100" dirty="0"/>
          </a:p>
        </p:txBody>
      </p:sp>
      <p:sp>
        <p:nvSpPr>
          <p:cNvPr id="60" name="Text 58"/>
          <p:cNvSpPr/>
          <p:nvPr/>
        </p:nvSpPr>
        <p:spPr>
          <a:xfrm>
            <a:off x="777240" y="6473952"/>
            <a:ext cx="4937760" cy="237744"/>
          </a:xfrm>
          <a:prstGeom prst="rect">
            <a:avLst/>
          </a:prstGeom>
          <a:noFill/>
          <a:ln/>
        </p:spPr>
        <p:txBody>
          <a:bodyPr wrap="square" lIns="0" tIns="0" rIns="0" bIns="0" rtlCol="0" anchor="ctr"/>
          <a:lstStyle/>
          <a:p>
            <a:pPr algn="l" indent="0" marL="0">
              <a:buNone/>
            </a:pPr>
            <a:r>
              <a:rPr lang="en-US" sz="850" dirty="0">
                <a:solidFill>
                  <a:srgbClr val="8E8E8E"/>
                </a:solidFill>
                <a:latin typeface="Calibri" pitchFamily="34" charset="0"/>
                <a:ea typeface="Calibri" pitchFamily="34" charset="-122"/>
                <a:cs typeface="Calibri" pitchFamily="34" charset="-120"/>
              </a:rPr>
              <a:t>Week 2, Not Week 12  ·  Teton PM Challenge</a:t>
            </a:r>
            <a:endParaRPr lang="en-US" sz="850" dirty="0"/>
          </a:p>
        </p:txBody>
      </p:sp>
      <p:sp>
        <p:nvSpPr>
          <p:cNvPr id="61" name="Shape 59"/>
          <p:cNvSpPr/>
          <p:nvPr/>
        </p:nvSpPr>
        <p:spPr>
          <a:xfrm>
            <a:off x="5897880" y="6400800"/>
            <a:ext cx="1499616" cy="274320"/>
          </a:xfrm>
          <a:prstGeom prst="roundRect">
            <a:avLst>
              <a:gd name="adj" fmla="val 50000"/>
            </a:avLst>
          </a:prstGeom>
          <a:solidFill>
            <a:srgbClr val="F4F4F4"/>
          </a:solidFill>
          <a:ln/>
        </p:spPr>
      </p:sp>
      <p:sp>
        <p:nvSpPr>
          <p:cNvPr id="62" name="Text 60"/>
          <p:cNvSpPr/>
          <p:nvPr/>
        </p:nvSpPr>
        <p:spPr>
          <a:xfrm>
            <a:off x="5897880" y="6400800"/>
            <a:ext cx="1499616" cy="274320"/>
          </a:xfrm>
          <a:prstGeom prst="rect">
            <a:avLst/>
          </a:prstGeom>
          <a:noFill/>
          <a:ln/>
        </p:spPr>
        <p:txBody>
          <a:bodyPr wrap="square" lIns="0" tIns="0" rIns="0" bIns="0" rtlCol="0" anchor="ctr"/>
          <a:lstStyle/>
          <a:p>
            <a:pPr algn="ctr" indent="0" marL="0">
              <a:buNone/>
            </a:pPr>
            <a:r>
              <a:rPr lang="en-US" sz="850" b="1" dirty="0">
                <a:solidFill>
                  <a:srgbClr val="5A6CE6"/>
                </a:solidFill>
                <a:latin typeface="Calibri" pitchFamily="34" charset="0"/>
                <a:ea typeface="Calibri" pitchFamily="34" charset="-122"/>
                <a:cs typeface="Calibri" pitchFamily="34" charset="-120"/>
              </a:rPr>
              <a:t>Prompt: Validate solution</a:t>
            </a:r>
            <a:endParaRPr lang="en-US" sz="850" dirty="0"/>
          </a:p>
        </p:txBody>
      </p:sp>
      <p:sp>
        <p:nvSpPr>
          <p:cNvPr id="63" name="Shape 61"/>
          <p:cNvSpPr/>
          <p:nvPr/>
        </p:nvSpPr>
        <p:spPr>
          <a:xfrm>
            <a:off x="7507224" y="6400800"/>
            <a:ext cx="1356970" cy="274320"/>
          </a:xfrm>
          <a:prstGeom prst="roundRect">
            <a:avLst>
              <a:gd name="adj" fmla="val 50000"/>
            </a:avLst>
          </a:prstGeom>
          <a:solidFill>
            <a:srgbClr val="F4F4F4"/>
          </a:solidFill>
          <a:ln/>
        </p:spPr>
      </p:sp>
      <p:sp>
        <p:nvSpPr>
          <p:cNvPr id="64" name="Text 62"/>
          <p:cNvSpPr/>
          <p:nvPr/>
        </p:nvSpPr>
        <p:spPr>
          <a:xfrm>
            <a:off x="7507224" y="6400800"/>
            <a:ext cx="1356970" cy="274320"/>
          </a:xfrm>
          <a:prstGeom prst="rect">
            <a:avLst/>
          </a:prstGeom>
          <a:noFill/>
          <a:ln/>
        </p:spPr>
        <p:txBody>
          <a:bodyPr wrap="square" lIns="0" tIns="0" rIns="0" bIns="0" rtlCol="0" anchor="ctr"/>
          <a:lstStyle/>
          <a:p>
            <a:pPr algn="ctr" indent="0" marL="0">
              <a:buNone/>
            </a:pPr>
            <a:r>
              <a:rPr lang="en-US" sz="850" b="1" dirty="0">
                <a:solidFill>
                  <a:srgbClr val="5A6CE6"/>
                </a:solidFill>
                <a:latin typeface="Calibri" pitchFamily="34" charset="0"/>
                <a:ea typeface="Calibri" pitchFamily="34" charset="-122"/>
                <a:cs typeface="Calibri" pitchFamily="34" charset="-120"/>
              </a:rPr>
              <a:t>Prompt: Drive adoption</a:t>
            </a:r>
            <a:endParaRPr lang="en-US" sz="850" dirty="0"/>
          </a:p>
        </p:txBody>
      </p:sp>
      <p:sp>
        <p:nvSpPr>
          <p:cNvPr id="65" name="Shape 63"/>
          <p:cNvSpPr/>
          <p:nvPr/>
        </p:nvSpPr>
        <p:spPr>
          <a:xfrm>
            <a:off x="8973922" y="6400800"/>
            <a:ext cx="1404518" cy="274320"/>
          </a:xfrm>
          <a:prstGeom prst="roundRect">
            <a:avLst>
              <a:gd name="adj" fmla="val 50000"/>
            </a:avLst>
          </a:prstGeom>
          <a:solidFill>
            <a:srgbClr val="F4F4F4"/>
          </a:solidFill>
          <a:ln/>
        </p:spPr>
      </p:sp>
      <p:sp>
        <p:nvSpPr>
          <p:cNvPr id="66" name="Text 64"/>
          <p:cNvSpPr/>
          <p:nvPr/>
        </p:nvSpPr>
        <p:spPr>
          <a:xfrm>
            <a:off x="8973922" y="6400800"/>
            <a:ext cx="1404518" cy="274320"/>
          </a:xfrm>
          <a:prstGeom prst="rect">
            <a:avLst/>
          </a:prstGeom>
          <a:noFill/>
          <a:ln/>
        </p:spPr>
        <p:txBody>
          <a:bodyPr wrap="square" lIns="0" tIns="0" rIns="0" bIns="0" rtlCol="0" anchor="ctr"/>
          <a:lstStyle/>
          <a:p>
            <a:pPr algn="ctr" indent="0" marL="0">
              <a:buNone/>
            </a:pPr>
            <a:r>
              <a:rPr lang="en-US" sz="850" b="1" dirty="0">
                <a:solidFill>
                  <a:srgbClr val="5A6CE6"/>
                </a:solidFill>
                <a:latin typeface="Calibri" pitchFamily="34" charset="0"/>
                <a:ea typeface="Calibri" pitchFamily="34" charset="-122"/>
                <a:cs typeface="Calibri" pitchFamily="34" charset="-120"/>
              </a:rPr>
              <a:t>Prompt: Measure success</a:t>
            </a:r>
            <a:endParaRPr lang="en-US" sz="850" dirty="0"/>
          </a:p>
        </p:txBody>
      </p:sp>
      <p:sp>
        <p:nvSpPr>
          <p:cNvPr id="67" name="Text 65"/>
          <p:cNvSpPr/>
          <p:nvPr/>
        </p:nvSpPr>
        <p:spPr>
          <a:xfrm>
            <a:off x="10515600" y="6473952"/>
            <a:ext cx="896112" cy="237744"/>
          </a:xfrm>
          <a:prstGeom prst="rect">
            <a:avLst/>
          </a:prstGeom>
          <a:noFill/>
          <a:ln/>
        </p:spPr>
        <p:txBody>
          <a:bodyPr wrap="square" lIns="0" tIns="0" rIns="0" bIns="0" rtlCol="0" anchor="ctr"/>
          <a:lstStyle/>
          <a:p>
            <a:pPr algn="r" indent="0" marL="0">
              <a:buNone/>
            </a:pPr>
            <a:r>
              <a:rPr lang="en-US" sz="850" dirty="0">
                <a:solidFill>
                  <a:srgbClr val="8E8E8E"/>
                </a:solidFill>
                <a:latin typeface="Calibri" pitchFamily="34" charset="0"/>
                <a:ea typeface="Calibri" pitchFamily="34" charset="-122"/>
                <a:cs typeface="Calibri" pitchFamily="34" charset="-120"/>
              </a:rPr>
              <a:t>6</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2, Not Week 12 — turning ambient signals into earlier care decisions</dc:title>
  <dc:subject>PptxGenJS Presentation</dc:subject>
  <dc:creator>Teton</dc:creator>
  <cp:lastModifiedBy>Teton</cp:lastModifiedBy>
  <cp:revision>1</cp:revision>
  <dcterms:created xsi:type="dcterms:W3CDTF">2026-07-07T01:02:58Z</dcterms:created>
  <dcterms:modified xsi:type="dcterms:W3CDTF">2026-07-07T01:02:58Z</dcterms:modified>
</cp:coreProperties>
</file>