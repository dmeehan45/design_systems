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opening frame is a workflow mismatch, not a product failure. Teton earned trust at night because fall alerts are urgent, concrete, and actionable, and the night team built its routine around them. But the app is barely opened during the day — and daytime is when resident needs are interpreted, documented, and explained to families. Renewal is still likely, but leadership is already asking for a clearer ROI story than fall response alone. That gap between where the product is used and where care decisions happen is the whole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resident, twelve weeks. Teton recorded the rising pattern from around week two; the organization acted at week twelve, at crisis. The point is not that Teton is the only observer — it is that a visible pattern never became a care action because no one owned the review, nothing was documented, and no reassessment was triggered. Differentiation and sizing sit in the footnote and here: EHR flags read only what staff chart, and ~2/3 of clinical leaders report acuity is underreported (ASHA/August Health, 2025). The under-leveling dollar figure (~$90K/yr per building) is illustrative and is validated in Phase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Engineering capacity buys one initiative. The alternatives split three ways: too narrow to reach the daytime decision workflow (fall accuracy, a generic adoption push); too risky before the clinical workflow is proven (a family live-view portal, and automated care-level recommendations that put Teton too close to billing); and too broad for a six-month bet (full multi-EHR integration). The chosen bet is a nurse-owned change-of-condition review. The guardrail is the important part: Teton identifies review-worthy evidence, and the care team makes the clinical and billing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user-facing loop is deliberately simple: detect a meaningful change, route it to a clinical owner, document the reviewed outcome, and explain it to families only after human confirmation. Prioritization matters but is internal product logic, so it stays off the visible loop. The review card is grounded in the real workflow rather than a SaaS demo: a resident, why they surfaced, the trend in plain numbers, the evidence period, the nurse's decision, and where documentation lands. The adoption argument is the quiet strength — one clinical owner inside one existing cadence, not a new dashboard for every floor caregiver.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gates are ranked and sequential. Signal quality gates everything — if Teton can't separate real decline from noise weeks early, a review workflow just routes noise to the most overloaded person in the building, so the retrospective study is first and cheap. Workflow fit decides the shape: one named owner reviewing a small shortlist inside a cadence that already exists. Behavior change decides value: reviewed evidence has to actually change what staff do. The on-slide 'proceed if' language is qualitative on purpose; the underlying numeric targets (roughly 60% of true declines detectable ≥2 weeks early, ~70% of candidates resolved) are placeholders I'd calibrate with clinical leadership, kept in notes so the room doesn't fight over invented precision.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front-loads the cheapest, most falsifiable test and keeps engineering off the critical path until retrospective signal quality is proven. Adoption is earned the same way the night shift adopted falls — by fitting an existing ritual, with the design partners who described the problem as first users. The metric ladder is ordered so usage can't masquerade as value: reviewed, then acted on, then earlier. The single number worth putting on a wall is median weeks-earlier detection — the through-line back to week two, not week twelve. 'Earlier' is deliberately narrower than 'outcomes' to avoid overclaiming broad healthcare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8F5"/>
        </a:solidFill>
      </p:bgPr>
    </p:bg>
    <p:spTree>
      <p:nvGrpSpPr>
        <p:cNvPr id="1" name=""/>
        <p:cNvGrpSpPr/>
        <p:nvPr/>
      </p:nvGrpSpPr>
      <p:grpSpPr>
        <a:xfrm>
          <a:off x="0" y="0"/>
          <a:ext cx="0" cy="0"/>
          <a:chOff x="0" y="0"/>
          <a:chExt cx="0" cy="0"/>
        </a:xfrm>
      </p:grpSpPr>
      <p:sp>
        <p:nvSpPr>
          <p:cNvPr id="2" name="Shape 0"/>
          <p:cNvSpPr/>
          <p:nvPr/>
        </p:nvSpPr>
        <p:spPr>
          <a:xfrm>
            <a:off x="777240" y="384048"/>
            <a:ext cx="100584" cy="100584"/>
          </a:xfrm>
          <a:prstGeom prst="ellipse">
            <a:avLst/>
          </a:prstGeom>
          <a:solidFill>
            <a:srgbClr val="5A6CE6"/>
          </a:solidFill>
          <a:ln/>
        </p:spPr>
      </p:sp>
      <p:sp>
        <p:nvSpPr>
          <p:cNvPr id="3" name="Text 1"/>
          <p:cNvSpPr/>
          <p:nvPr/>
        </p:nvSpPr>
        <p:spPr>
          <a:xfrm>
            <a:off x="978408" y="320040"/>
            <a:ext cx="9144000" cy="237744"/>
          </a:xfrm>
          <a:prstGeom prst="rect">
            <a:avLst/>
          </a:prstGeom>
          <a:noFill/>
          <a:ln/>
        </p:spPr>
        <p:txBody>
          <a:bodyPr wrap="square" lIns="0" tIns="0" rIns="0" bIns="0" rtlCol="0" anchor="ctr"/>
          <a:lstStyle/>
          <a:p>
            <a:pPr algn="l" indent="0" marL="0">
              <a:buNone/>
            </a:pPr>
            <a:r>
              <a:rPr lang="en-US" sz="1050" b="1" spc="160" kern="0" dirty="0">
                <a:solidFill>
                  <a:srgbClr val="83837B"/>
                </a:solidFill>
                <a:latin typeface="Calibri" pitchFamily="34" charset="0"/>
                <a:ea typeface="Calibri" pitchFamily="34" charset="-122"/>
                <a:cs typeface="Calibri" pitchFamily="34" charset="-120"/>
              </a:rPr>
              <a:t>THE WORKFLOW GAP</a:t>
            </a:r>
            <a:endParaRPr lang="en-US" sz="1050" dirty="0"/>
          </a:p>
        </p:txBody>
      </p:sp>
      <p:sp>
        <p:nvSpPr>
          <p:cNvPr id="4" name="Text 2"/>
          <p:cNvSpPr/>
          <p:nvPr/>
        </p:nvSpPr>
        <p:spPr>
          <a:xfrm>
            <a:off x="777240" y="676656"/>
            <a:ext cx="10332720" cy="822960"/>
          </a:xfrm>
          <a:prstGeom prst="rect">
            <a:avLst/>
          </a:prstGeom>
          <a:noFill/>
          <a:ln/>
        </p:spPr>
        <p:txBody>
          <a:bodyPr wrap="square" lIns="0" tIns="0" rIns="0" bIns="0" rtlCol="0" anchor="t"/>
          <a:lstStyle/>
          <a:p>
            <a:pPr algn="l" indent="0" marL="0">
              <a:lnSpc>
                <a:spcPct val="102000"/>
              </a:lnSpc>
              <a:buNone/>
            </a:pPr>
            <a:r>
              <a:rPr lang="en-US" sz="2500" b="1" dirty="0">
                <a:solidFill>
                  <a:srgbClr val="1B1B18"/>
                </a:solidFill>
                <a:latin typeface="Calibri" pitchFamily="34" charset="0"/>
                <a:ea typeface="Calibri" pitchFamily="34" charset="-122"/>
                <a:cs typeface="Calibri" pitchFamily="34" charset="-120"/>
              </a:rPr>
              <a:t>Teton is trusted at night, but care decisions happen during the day</a:t>
            </a:r>
            <a:endParaRPr lang="en-US" sz="2500" dirty="0"/>
          </a:p>
        </p:txBody>
      </p:sp>
      <p:sp>
        <p:nvSpPr>
          <p:cNvPr id="5" name="Text 3"/>
          <p:cNvSpPr/>
          <p:nvPr/>
        </p:nvSpPr>
        <p:spPr>
          <a:xfrm>
            <a:off x="777240" y="1481328"/>
            <a:ext cx="9875520" cy="502920"/>
          </a:xfrm>
          <a:prstGeom prst="rect">
            <a:avLst/>
          </a:prstGeom>
          <a:noFill/>
          <a:ln/>
        </p:spPr>
        <p:txBody>
          <a:bodyPr wrap="square" lIns="0" tIns="0" rIns="0" bIns="0" rtlCol="0" anchor="t"/>
          <a:lstStyle/>
          <a:p>
            <a:pPr algn="l" indent="0" marL="0">
              <a:lnSpc>
                <a:spcPct val="112000"/>
              </a:lnSpc>
              <a:buNone/>
            </a:pPr>
            <a:r>
              <a:rPr lang="en-US" sz="1300" dirty="0">
                <a:solidFill>
                  <a:srgbClr val="83837B"/>
                </a:solidFill>
                <a:latin typeface="Calibri" pitchFamily="34" charset="0"/>
                <a:ea typeface="Calibri" pitchFamily="34" charset="-122"/>
                <a:cs typeface="Calibri" pitchFamily="34" charset="-120"/>
              </a:rPr>
              <a:t>Fall monitoring has earned the wedge. The next risk is that Teton's broader signal stays outside assessment, documentation, and family conversations.</a:t>
            </a:r>
            <a:endParaRPr lang="en-US" sz="1300" dirty="0"/>
          </a:p>
        </p:txBody>
      </p:sp>
      <p:sp>
        <p:nvSpPr>
          <p:cNvPr id="6" name="Shape 4"/>
          <p:cNvSpPr/>
          <p:nvPr/>
        </p:nvSpPr>
        <p:spPr>
          <a:xfrm>
            <a:off x="777240" y="2148840"/>
            <a:ext cx="10637215" cy="1024128"/>
          </a:xfrm>
          <a:prstGeom prst="roundRect">
            <a:avLst>
              <a:gd name="adj" fmla="val 8929"/>
            </a:avLst>
          </a:prstGeom>
          <a:solidFill>
            <a:srgbClr val="EEEEE9"/>
          </a:solidFill>
          <a:ln/>
        </p:spPr>
      </p:sp>
      <p:sp>
        <p:nvSpPr>
          <p:cNvPr id="7" name="Text 5"/>
          <p:cNvSpPr/>
          <p:nvPr/>
        </p:nvSpPr>
        <p:spPr>
          <a:xfrm>
            <a:off x="1143000" y="2331720"/>
            <a:ext cx="2194560" cy="365760"/>
          </a:xfrm>
          <a:prstGeom prst="rect">
            <a:avLst/>
          </a:prstGeom>
          <a:noFill/>
          <a:ln/>
        </p:spPr>
        <p:txBody>
          <a:bodyPr wrap="square" lIns="0" tIns="0" rIns="0" bIns="0" rtlCol="0" anchor="t"/>
          <a:lstStyle/>
          <a:p>
            <a:pPr algn="l" indent="0" marL="0">
              <a:buNone/>
            </a:pPr>
            <a:r>
              <a:rPr lang="en-US" sz="1600" b="1" dirty="0">
                <a:solidFill>
                  <a:srgbClr val="1B1B18"/>
                </a:solidFill>
                <a:latin typeface="Calibri" pitchFamily="34" charset="0"/>
                <a:ea typeface="Calibri" pitchFamily="34" charset="-122"/>
                <a:cs typeface="Calibri" pitchFamily="34" charset="-120"/>
              </a:rPr>
              <a:t>7 PM – 7 AM</a:t>
            </a:r>
            <a:endParaRPr lang="en-US" sz="1600" dirty="0"/>
          </a:p>
        </p:txBody>
      </p:sp>
      <p:sp>
        <p:nvSpPr>
          <p:cNvPr id="8" name="Text 6"/>
          <p:cNvSpPr/>
          <p:nvPr/>
        </p:nvSpPr>
        <p:spPr>
          <a:xfrm>
            <a:off x="1143000" y="2724912"/>
            <a:ext cx="2743200" cy="201168"/>
          </a:xfrm>
          <a:prstGeom prst="rect">
            <a:avLst/>
          </a:prstGeom>
          <a:noFill/>
          <a:ln/>
        </p:spPr>
        <p:txBody>
          <a:bodyPr wrap="square" lIns="0" tIns="0" rIns="0" bIns="0" rtlCol="0" anchor="ctr"/>
          <a:lstStyle/>
          <a:p>
            <a:pPr algn="l" indent="0" marL="0">
              <a:buNone/>
            </a:pPr>
            <a:r>
              <a:rPr lang="en-US" sz="950" b="1" spc="130" kern="0" dirty="0">
                <a:solidFill>
                  <a:srgbClr val="5A6CE6"/>
                </a:solidFill>
                <a:latin typeface="Calibri" pitchFamily="34" charset="0"/>
                <a:ea typeface="Calibri" pitchFamily="34" charset="-122"/>
                <a:cs typeface="Calibri" pitchFamily="34" charset="-120"/>
              </a:rPr>
              <a:t>TETON TRUSTED</a:t>
            </a:r>
            <a:endParaRPr lang="en-US" sz="950" dirty="0"/>
          </a:p>
        </p:txBody>
      </p:sp>
      <p:sp>
        <p:nvSpPr>
          <p:cNvPr id="9" name="Text 7"/>
          <p:cNvSpPr/>
          <p:nvPr/>
        </p:nvSpPr>
        <p:spPr>
          <a:xfrm>
            <a:off x="3977640" y="2359152"/>
            <a:ext cx="6979615" cy="310896"/>
          </a:xfrm>
          <a:prstGeom prst="rect">
            <a:avLst/>
          </a:prstGeom>
          <a:noFill/>
          <a:ln/>
        </p:spPr>
        <p:txBody>
          <a:bodyPr wrap="square" lIns="0" tIns="0" rIns="0" bIns="0" rtlCol="0" anchor="t"/>
          <a:lstStyle/>
          <a:p>
            <a:pPr algn="l" indent="0" marL="0">
              <a:buNone/>
            </a:pPr>
            <a:r>
              <a:rPr lang="en-US" sz="1300" dirty="0">
                <a:solidFill>
                  <a:srgbClr val="1B1B18"/>
                </a:solidFill>
                <a:latin typeface="Calibri" pitchFamily="34" charset="0"/>
                <a:ea typeface="Calibri" pitchFamily="34" charset="-122"/>
                <a:cs typeface="Calibri" pitchFamily="34" charset="-120"/>
              </a:rPr>
              <a:t>Fall alerts  ·  digital rounds  ·  board watched  ·  night-team routine</a:t>
            </a:r>
            <a:endParaRPr lang="en-US" sz="1300" dirty="0"/>
          </a:p>
        </p:txBody>
      </p:sp>
      <p:sp>
        <p:nvSpPr>
          <p:cNvPr id="10" name="Text 8"/>
          <p:cNvSpPr/>
          <p:nvPr/>
        </p:nvSpPr>
        <p:spPr>
          <a:xfrm>
            <a:off x="3977640" y="2688336"/>
            <a:ext cx="6979615" cy="274320"/>
          </a:xfrm>
          <a:prstGeom prst="rect">
            <a:avLst/>
          </a:prstGeom>
          <a:noFill/>
          <a:ln/>
        </p:spPr>
        <p:txBody>
          <a:bodyPr wrap="square" lIns="0" tIns="0" rIns="0" bIns="0" rtlCol="0" anchor="t"/>
          <a:lstStyle/>
          <a:p>
            <a:pPr algn="l" indent="0" marL="0">
              <a:buNone/>
            </a:pPr>
            <a:r>
              <a:rPr lang="en-US" sz="1050" i="1" dirty="0">
                <a:solidFill>
                  <a:srgbClr val="83837B"/>
                </a:solidFill>
                <a:latin typeface="Calibri" pitchFamily="34" charset="0"/>
                <a:ea typeface="Calibri" pitchFamily="34" charset="-122"/>
                <a:cs typeface="Calibri" pitchFamily="34" charset="-120"/>
              </a:rPr>
              <a:t>Alerts are urgent, concrete, and immediately actionable.</a:t>
            </a:r>
            <a:endParaRPr lang="en-US" sz="1050" dirty="0"/>
          </a:p>
        </p:txBody>
      </p:sp>
      <p:sp>
        <p:nvSpPr>
          <p:cNvPr id="11" name="Shape 9"/>
          <p:cNvSpPr/>
          <p:nvPr/>
        </p:nvSpPr>
        <p:spPr>
          <a:xfrm>
            <a:off x="777240" y="3319272"/>
            <a:ext cx="10637215" cy="1024128"/>
          </a:xfrm>
          <a:prstGeom prst="roundRect">
            <a:avLst>
              <a:gd name="adj" fmla="val 8929"/>
            </a:avLst>
          </a:prstGeom>
          <a:solidFill>
            <a:srgbClr val="F8F8F5"/>
          </a:solidFill>
          <a:ln w="15875">
            <a:solidFill>
              <a:srgbClr val="E2E2DC"/>
            </a:solidFill>
            <a:prstDash val="solid"/>
          </a:ln>
        </p:spPr>
      </p:sp>
      <p:sp>
        <p:nvSpPr>
          <p:cNvPr id="12" name="Text 10"/>
          <p:cNvSpPr/>
          <p:nvPr/>
        </p:nvSpPr>
        <p:spPr>
          <a:xfrm>
            <a:off x="1143000" y="3502152"/>
            <a:ext cx="2194560" cy="365760"/>
          </a:xfrm>
          <a:prstGeom prst="rect">
            <a:avLst/>
          </a:prstGeom>
          <a:noFill/>
          <a:ln/>
        </p:spPr>
        <p:txBody>
          <a:bodyPr wrap="square" lIns="0" tIns="0" rIns="0" bIns="0" rtlCol="0" anchor="t"/>
          <a:lstStyle/>
          <a:p>
            <a:pPr algn="l" indent="0" marL="0">
              <a:buNone/>
            </a:pPr>
            <a:r>
              <a:rPr lang="en-US" sz="1600" b="1" dirty="0">
                <a:solidFill>
                  <a:srgbClr val="1B1B18"/>
                </a:solidFill>
                <a:latin typeface="Calibri" pitchFamily="34" charset="0"/>
                <a:ea typeface="Calibri" pitchFamily="34" charset="-122"/>
                <a:cs typeface="Calibri" pitchFamily="34" charset="-120"/>
              </a:rPr>
              <a:t>7 AM – 7 PM</a:t>
            </a:r>
            <a:endParaRPr lang="en-US" sz="1600" dirty="0"/>
          </a:p>
        </p:txBody>
      </p:sp>
      <p:sp>
        <p:nvSpPr>
          <p:cNvPr id="13" name="Text 11"/>
          <p:cNvSpPr/>
          <p:nvPr/>
        </p:nvSpPr>
        <p:spPr>
          <a:xfrm>
            <a:off x="1143000" y="3895344"/>
            <a:ext cx="2743200" cy="201168"/>
          </a:xfrm>
          <a:prstGeom prst="rect">
            <a:avLst/>
          </a:prstGeom>
          <a:noFill/>
          <a:ln/>
        </p:spPr>
        <p:txBody>
          <a:bodyPr wrap="square" lIns="0" tIns="0" rIns="0" bIns="0" rtlCol="0" anchor="ctr"/>
          <a:lstStyle/>
          <a:p>
            <a:pPr algn="l" indent="0" marL="0">
              <a:buNone/>
            </a:pPr>
            <a:r>
              <a:rPr lang="en-US" sz="950" b="1" spc="130" kern="0" dirty="0">
                <a:solidFill>
                  <a:srgbClr val="83837B"/>
                </a:solidFill>
                <a:latin typeface="Calibri" pitchFamily="34" charset="0"/>
                <a:ea typeface="Calibri" pitchFamily="34" charset="-122"/>
                <a:cs typeface="Calibri" pitchFamily="34" charset="-120"/>
              </a:rPr>
              <a:t>BARELY USED</a:t>
            </a:r>
            <a:endParaRPr lang="en-US" sz="950" dirty="0"/>
          </a:p>
        </p:txBody>
      </p:sp>
      <p:sp>
        <p:nvSpPr>
          <p:cNvPr id="14" name="Text 12"/>
          <p:cNvSpPr/>
          <p:nvPr/>
        </p:nvSpPr>
        <p:spPr>
          <a:xfrm>
            <a:off x="3977640" y="3529584"/>
            <a:ext cx="6979615" cy="310896"/>
          </a:xfrm>
          <a:prstGeom prst="rect">
            <a:avLst/>
          </a:prstGeom>
          <a:noFill/>
          <a:ln/>
        </p:spPr>
        <p:txBody>
          <a:bodyPr wrap="square" lIns="0" tIns="0" rIns="0" bIns="0" rtlCol="0" anchor="t"/>
          <a:lstStyle/>
          <a:p>
            <a:pPr algn="l" indent="0" marL="0">
              <a:buNone/>
            </a:pPr>
            <a:r>
              <a:rPr lang="en-US" sz="1300" dirty="0">
                <a:solidFill>
                  <a:srgbClr val="1B1B18"/>
                </a:solidFill>
                <a:latin typeface="Calibri" pitchFamily="34" charset="0"/>
                <a:ea typeface="Calibri" pitchFamily="34" charset="-122"/>
                <a:cs typeface="Calibri" pitchFamily="34" charset="-120"/>
              </a:rPr>
              <a:t>Assessments  ·  care conferences  ·  family visits  ·  care-level decisions</a:t>
            </a:r>
            <a:endParaRPr lang="en-US" sz="1300" dirty="0"/>
          </a:p>
        </p:txBody>
      </p:sp>
      <p:sp>
        <p:nvSpPr>
          <p:cNvPr id="15" name="Text 13"/>
          <p:cNvSpPr/>
          <p:nvPr/>
        </p:nvSpPr>
        <p:spPr>
          <a:xfrm>
            <a:off x="3977640" y="3858768"/>
            <a:ext cx="6979615" cy="274320"/>
          </a:xfrm>
          <a:prstGeom prst="rect">
            <a:avLst/>
          </a:prstGeom>
          <a:noFill/>
          <a:ln/>
        </p:spPr>
        <p:txBody>
          <a:bodyPr wrap="square" lIns="0" tIns="0" rIns="0" bIns="0" rtlCol="0" anchor="t"/>
          <a:lstStyle/>
          <a:p>
            <a:pPr algn="l" indent="0" marL="0">
              <a:buNone/>
            </a:pPr>
            <a:r>
              <a:rPr lang="en-US" sz="1050" i="1" dirty="0">
                <a:solidFill>
                  <a:srgbClr val="83837B"/>
                </a:solidFill>
                <a:latin typeface="Calibri" pitchFamily="34" charset="0"/>
                <a:ea typeface="Calibri" pitchFamily="34" charset="-122"/>
                <a:cs typeface="Calibri" pitchFamily="34" charset="-120"/>
              </a:rPr>
              <a:t>When resident needs are interpreted and documented.</a:t>
            </a:r>
            <a:endParaRPr lang="en-US" sz="1050" dirty="0"/>
          </a:p>
        </p:txBody>
      </p:sp>
      <p:sp>
        <p:nvSpPr>
          <p:cNvPr id="16" name="Text 14"/>
          <p:cNvSpPr/>
          <p:nvPr/>
        </p:nvSpPr>
        <p:spPr>
          <a:xfrm>
            <a:off x="777240" y="4709160"/>
            <a:ext cx="10637215" cy="365760"/>
          </a:xfrm>
          <a:prstGeom prst="rect">
            <a:avLst/>
          </a:prstGeom>
          <a:noFill/>
          <a:ln/>
        </p:spPr>
        <p:txBody>
          <a:bodyPr wrap="square" lIns="0" tIns="0" rIns="0" bIns="0" rtlCol="0" anchor="ctr"/>
          <a:lstStyle/>
          <a:p>
            <a:pPr algn="l" indent="0" marL="0">
              <a:lnSpc>
                <a:spcPct val="105000"/>
              </a:lnSpc>
              <a:buNone/>
            </a:pPr>
            <a:r>
              <a:rPr lang="en-US" sz="1500" dirty="0">
                <a:solidFill>
                  <a:srgbClr val="1B1B18"/>
                </a:solidFill>
                <a:latin typeface="Calibri" pitchFamily="34" charset="0"/>
                <a:ea typeface="Calibri" pitchFamily="34" charset="-122"/>
                <a:cs typeface="Calibri" pitchFamily="34" charset="-120"/>
              </a:rPr>
              <a:t>Teton is used when </a:t>
            </a:r>
            <a:pPr algn="l" indent="0" marL="0">
              <a:lnSpc>
                <a:spcPct val="105000"/>
              </a:lnSpc>
              <a:buNone/>
            </a:pPr>
            <a:r>
              <a:rPr lang="en-US" sz="1500" b="1" dirty="0">
                <a:solidFill>
                  <a:srgbClr val="5A6CE6"/>
                </a:solidFill>
                <a:latin typeface="Calibri" pitchFamily="34" charset="0"/>
                <a:ea typeface="Calibri" pitchFamily="34" charset="-122"/>
                <a:cs typeface="Calibri" pitchFamily="34" charset="-120"/>
              </a:rPr>
              <a:t>events</a:t>
            </a:r>
            <a:pPr algn="l" indent="0" marL="0">
              <a:lnSpc>
                <a:spcPct val="105000"/>
              </a:lnSpc>
              <a:buNone/>
            </a:pPr>
            <a:r>
              <a:rPr lang="en-US" sz="1500" dirty="0">
                <a:solidFill>
                  <a:srgbClr val="1B1B18"/>
                </a:solidFill>
                <a:latin typeface="Calibri" pitchFamily="34" charset="0"/>
                <a:ea typeface="Calibri" pitchFamily="34" charset="-122"/>
                <a:cs typeface="Calibri" pitchFamily="34" charset="-120"/>
              </a:rPr>
              <a:t> happen. The opportunity is when </a:t>
            </a:r>
            <a:pPr algn="l" indent="0" marL="0">
              <a:lnSpc>
                <a:spcPct val="105000"/>
              </a:lnSpc>
              <a:buNone/>
            </a:pPr>
            <a:r>
              <a:rPr lang="en-US" sz="1500" b="1" dirty="0">
                <a:solidFill>
                  <a:srgbClr val="5A6CE6"/>
                </a:solidFill>
                <a:latin typeface="Calibri" pitchFamily="34" charset="0"/>
                <a:ea typeface="Calibri" pitchFamily="34" charset="-122"/>
                <a:cs typeface="Calibri" pitchFamily="34" charset="-120"/>
              </a:rPr>
              <a:t>decisions</a:t>
            </a:r>
            <a:pPr algn="l" indent="0" marL="0">
              <a:lnSpc>
                <a:spcPct val="105000"/>
              </a:lnSpc>
              <a:buNone/>
            </a:pPr>
            <a:r>
              <a:rPr lang="en-US" sz="1500" dirty="0">
                <a:solidFill>
                  <a:srgbClr val="1B1B18"/>
                </a:solidFill>
                <a:latin typeface="Calibri" pitchFamily="34" charset="0"/>
                <a:ea typeface="Calibri" pitchFamily="34" charset="-122"/>
                <a:cs typeface="Calibri" pitchFamily="34" charset="-120"/>
              </a:rPr>
              <a:t> happen.</a:t>
            </a:r>
            <a:endParaRPr lang="en-US" sz="1500" dirty="0"/>
          </a:p>
        </p:txBody>
      </p:sp>
      <p:sp>
        <p:nvSpPr>
          <p:cNvPr id="17" name="Shape 15"/>
          <p:cNvSpPr/>
          <p:nvPr/>
        </p:nvSpPr>
        <p:spPr>
          <a:xfrm>
            <a:off x="777240" y="5550408"/>
            <a:ext cx="0" cy="581891"/>
          </a:xfrm>
          <a:prstGeom prst="line">
            <a:avLst/>
          </a:prstGeom>
          <a:noFill/>
          <a:ln w="31750">
            <a:solidFill>
              <a:srgbClr val="5A6CE6"/>
            </a:solidFill>
            <a:prstDash val="solid"/>
          </a:ln>
        </p:spPr>
      </p:sp>
      <p:sp>
        <p:nvSpPr>
          <p:cNvPr id="18" name="Text 16"/>
          <p:cNvSpPr/>
          <p:nvPr/>
        </p:nvSpPr>
        <p:spPr>
          <a:xfrm>
            <a:off x="1033272" y="5532120"/>
            <a:ext cx="10168128" cy="800100"/>
          </a:xfrm>
          <a:prstGeom prst="rect">
            <a:avLst/>
          </a:prstGeom>
          <a:noFill/>
          <a:ln/>
        </p:spPr>
        <p:txBody>
          <a:bodyPr wrap="square" lIns="0" tIns="0" rIns="0" bIns="0" rtlCol="0" anchor="t"/>
          <a:lstStyle/>
          <a:p>
            <a:pPr algn="l" indent="0" marL="0">
              <a:lnSpc>
                <a:spcPct val="112000"/>
              </a:lnSpc>
              <a:buNone/>
            </a:pPr>
            <a:r>
              <a:rPr lang="en-US" sz="1400" i="1" dirty="0">
                <a:solidFill>
                  <a:srgbClr val="1B1B18"/>
                </a:solidFill>
                <a:latin typeface="Calibri" pitchFamily="34" charset="0"/>
                <a:ea typeface="Calibri" pitchFamily="34" charset="-122"/>
                <a:cs typeface="Calibri" pitchFamily="34" charset="-120"/>
              </a:rPr>
              <a:t>For the night falls alone, yeah. But I'd feel like I was leaving most of the value on the table.</a:t>
            </a:r>
            <a:endParaRPr lang="en-US" sz="1400" dirty="0"/>
          </a:p>
        </p:txBody>
      </p:sp>
      <p:sp>
        <p:nvSpPr>
          <p:cNvPr id="19" name="Text 17"/>
          <p:cNvSpPr/>
          <p:nvPr/>
        </p:nvSpPr>
        <p:spPr>
          <a:xfrm>
            <a:off x="1033272" y="5943600"/>
            <a:ext cx="6400800" cy="237744"/>
          </a:xfrm>
          <a:prstGeom prst="rect">
            <a:avLst/>
          </a:prstGeom>
          <a:noFill/>
          <a:ln/>
        </p:spPr>
        <p:txBody>
          <a:bodyPr wrap="square" lIns="0" tIns="0" rIns="0" bIns="0" rtlCol="0" anchor="t"/>
          <a:lstStyle/>
          <a:p>
            <a:pPr algn="l" indent="0" marL="0">
              <a:buNone/>
            </a:pPr>
            <a:r>
              <a:rPr lang="en-US" sz="1000" dirty="0">
                <a:solidFill>
                  <a:srgbClr val="83837B"/>
                </a:solidFill>
                <a:latin typeface="Calibri" pitchFamily="34" charset="0"/>
                <a:ea typeface="Calibri" pitchFamily="34" charset="-122"/>
                <a:cs typeface="Calibri" pitchFamily="34" charset="-120"/>
              </a:rPr>
              <a:t>— Marcus, Executive Director</a:t>
            </a:r>
            <a:endParaRPr lang="en-US" sz="1000" dirty="0"/>
          </a:p>
        </p:txBody>
      </p:sp>
      <p:sp>
        <p:nvSpPr>
          <p:cNvPr id="20" name="Text 18"/>
          <p:cNvSpPr/>
          <p:nvPr/>
        </p:nvSpPr>
        <p:spPr>
          <a:xfrm>
            <a:off x="777240" y="6473952"/>
            <a:ext cx="5486400" cy="237744"/>
          </a:xfrm>
          <a:prstGeom prst="rect">
            <a:avLst/>
          </a:prstGeom>
          <a:noFill/>
          <a:ln/>
        </p:spPr>
        <p:txBody>
          <a:bodyPr wrap="square" lIns="0" tIns="0" rIns="0" bIns="0" rtlCol="0" anchor="ctr"/>
          <a:lstStyle/>
          <a:p>
            <a:pPr algn="l" indent="0" marL="0">
              <a:buNone/>
            </a:pPr>
            <a:r>
              <a:rPr lang="en-US" sz="850" dirty="0">
                <a:solidFill>
                  <a:srgbClr val="83837B"/>
                </a:solidFill>
                <a:latin typeface="Calibri" pitchFamily="34" charset="0"/>
                <a:ea typeface="Calibri" pitchFamily="34" charset="-122"/>
                <a:cs typeface="Calibri" pitchFamily="34" charset="-120"/>
              </a:rPr>
              <a:t>Teton  ·  Product recommendation</a:t>
            </a:r>
            <a:endParaRPr lang="en-US" sz="850" dirty="0"/>
          </a:p>
        </p:txBody>
      </p:sp>
      <p:sp>
        <p:nvSpPr>
          <p:cNvPr id="21" name="Text 19"/>
          <p:cNvSpPr/>
          <p:nvPr/>
        </p:nvSpPr>
        <p:spPr>
          <a:xfrm>
            <a:off x="10500055" y="6473952"/>
            <a:ext cx="914400" cy="237744"/>
          </a:xfrm>
          <a:prstGeom prst="rect">
            <a:avLst/>
          </a:prstGeom>
          <a:noFill/>
          <a:ln/>
        </p:spPr>
        <p:txBody>
          <a:bodyPr wrap="square" lIns="0" tIns="0" rIns="0" bIns="0" rtlCol="0" anchor="ctr"/>
          <a:lstStyle/>
          <a:p>
            <a:pPr algn="r" indent="0" marL="0">
              <a:buNone/>
            </a:pPr>
            <a:r>
              <a:rPr lang="en-US" sz="850" dirty="0">
                <a:solidFill>
                  <a:srgbClr val="83837B"/>
                </a:solidFill>
                <a:latin typeface="Calibri" pitchFamily="34" charset="0"/>
                <a:ea typeface="Calibri" pitchFamily="34" charset="-122"/>
                <a:cs typeface="Calibri" pitchFamily="34" charset="-120"/>
              </a:rPr>
              <a:t>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8F5"/>
        </a:solidFill>
      </p:bgPr>
    </p:bg>
    <p:spTree>
      <p:nvGrpSpPr>
        <p:cNvPr id="1" name=""/>
        <p:cNvGrpSpPr/>
        <p:nvPr/>
      </p:nvGrpSpPr>
      <p:grpSpPr>
        <a:xfrm>
          <a:off x="0" y="0"/>
          <a:ext cx="0" cy="0"/>
          <a:chOff x="0" y="0"/>
          <a:chExt cx="0" cy="0"/>
        </a:xfrm>
      </p:grpSpPr>
      <p:sp>
        <p:nvSpPr>
          <p:cNvPr id="2" name="Shape 0"/>
          <p:cNvSpPr/>
          <p:nvPr/>
        </p:nvSpPr>
        <p:spPr>
          <a:xfrm>
            <a:off x="777240" y="384048"/>
            <a:ext cx="100584" cy="100584"/>
          </a:xfrm>
          <a:prstGeom prst="ellipse">
            <a:avLst/>
          </a:prstGeom>
          <a:solidFill>
            <a:srgbClr val="5A6CE6"/>
          </a:solidFill>
          <a:ln/>
        </p:spPr>
      </p:sp>
      <p:sp>
        <p:nvSpPr>
          <p:cNvPr id="3" name="Text 1"/>
          <p:cNvSpPr/>
          <p:nvPr/>
        </p:nvSpPr>
        <p:spPr>
          <a:xfrm>
            <a:off x="978408" y="320040"/>
            <a:ext cx="9144000" cy="237744"/>
          </a:xfrm>
          <a:prstGeom prst="rect">
            <a:avLst/>
          </a:prstGeom>
          <a:noFill/>
          <a:ln/>
        </p:spPr>
        <p:txBody>
          <a:bodyPr wrap="square" lIns="0" tIns="0" rIns="0" bIns="0" rtlCol="0" anchor="ctr"/>
          <a:lstStyle/>
          <a:p>
            <a:pPr algn="l" indent="0" marL="0">
              <a:buNone/>
            </a:pPr>
            <a:r>
              <a:rPr lang="en-US" sz="1050" b="1" spc="160" kern="0" dirty="0">
                <a:solidFill>
                  <a:srgbClr val="83837B"/>
                </a:solidFill>
                <a:latin typeface="Calibri" pitchFamily="34" charset="0"/>
                <a:ea typeface="Calibri" pitchFamily="34" charset="-122"/>
                <a:cs typeface="Calibri" pitchFamily="34" charset="-120"/>
              </a:rPr>
              <a:t>THE OPPORTUNITY</a:t>
            </a:r>
            <a:endParaRPr lang="en-US" sz="1050" dirty="0"/>
          </a:p>
        </p:txBody>
      </p:sp>
      <p:sp>
        <p:nvSpPr>
          <p:cNvPr id="4" name="Text 2"/>
          <p:cNvSpPr/>
          <p:nvPr/>
        </p:nvSpPr>
        <p:spPr>
          <a:xfrm>
            <a:off x="777240" y="676656"/>
            <a:ext cx="10332720" cy="822960"/>
          </a:xfrm>
          <a:prstGeom prst="rect">
            <a:avLst/>
          </a:prstGeom>
          <a:noFill/>
          <a:ln/>
        </p:spPr>
        <p:txBody>
          <a:bodyPr wrap="square" lIns="0" tIns="0" rIns="0" bIns="0" rtlCol="0" anchor="t"/>
          <a:lstStyle/>
          <a:p>
            <a:pPr algn="l" indent="0" marL="0">
              <a:lnSpc>
                <a:spcPct val="102000"/>
              </a:lnSpc>
              <a:buNone/>
            </a:pPr>
            <a:r>
              <a:rPr lang="en-US" sz="2500" b="1" dirty="0">
                <a:solidFill>
                  <a:srgbClr val="1B1B18"/>
                </a:solidFill>
                <a:latin typeface="Calibri" pitchFamily="34" charset="0"/>
                <a:ea typeface="Calibri" pitchFamily="34" charset="-122"/>
                <a:cs typeface="Calibri" pitchFamily="34" charset="-120"/>
              </a:rPr>
              <a:t>The missed opportunity is gradual decline before crisis</a:t>
            </a:r>
            <a:endParaRPr lang="en-US" sz="2500" dirty="0"/>
          </a:p>
        </p:txBody>
      </p:sp>
      <p:sp>
        <p:nvSpPr>
          <p:cNvPr id="5" name="Text 3"/>
          <p:cNvSpPr/>
          <p:nvPr/>
        </p:nvSpPr>
        <p:spPr>
          <a:xfrm>
            <a:off x="777240" y="1481328"/>
            <a:ext cx="9875520" cy="502920"/>
          </a:xfrm>
          <a:prstGeom prst="rect">
            <a:avLst/>
          </a:prstGeom>
          <a:noFill/>
          <a:ln/>
        </p:spPr>
        <p:txBody>
          <a:bodyPr wrap="square" lIns="0" tIns="0" rIns="0" bIns="0" rtlCol="0" anchor="t"/>
          <a:lstStyle/>
          <a:p>
            <a:pPr algn="l" indent="0" marL="0">
              <a:lnSpc>
                <a:spcPct val="112000"/>
              </a:lnSpc>
              <a:buNone/>
            </a:pPr>
            <a:r>
              <a:rPr lang="en-US" sz="1300" dirty="0">
                <a:solidFill>
                  <a:srgbClr val="83837B"/>
                </a:solidFill>
                <a:latin typeface="Calibri" pitchFamily="34" charset="0"/>
                <a:ea typeface="Calibri" pitchFamily="34" charset="-122"/>
                <a:cs typeface="Calibri" pitchFamily="34" charset="-120"/>
              </a:rPr>
              <a:t>Teton may see the pattern weeks earlier, but the current workflow does not turn that pattern into review, documentation, or action.</a:t>
            </a:r>
            <a:endParaRPr lang="en-US" sz="1300" dirty="0"/>
          </a:p>
        </p:txBody>
      </p:sp>
      <p:sp>
        <p:nvSpPr>
          <p:cNvPr id="6" name="Shape 4"/>
          <p:cNvSpPr/>
          <p:nvPr/>
        </p:nvSpPr>
        <p:spPr>
          <a:xfrm>
            <a:off x="3221182" y="2148840"/>
            <a:ext cx="0" cy="1371600"/>
          </a:xfrm>
          <a:prstGeom prst="line">
            <a:avLst/>
          </a:prstGeom>
          <a:noFill/>
          <a:ln w="12700">
            <a:solidFill>
              <a:srgbClr val="5A6CE6"/>
            </a:solidFill>
            <a:prstDash val="solid"/>
          </a:ln>
        </p:spPr>
      </p:sp>
      <p:sp>
        <p:nvSpPr>
          <p:cNvPr id="7" name="Shape 5"/>
          <p:cNvSpPr/>
          <p:nvPr/>
        </p:nvSpPr>
        <p:spPr>
          <a:xfrm>
            <a:off x="11201400" y="2148840"/>
            <a:ext cx="0" cy="1965960"/>
          </a:xfrm>
          <a:prstGeom prst="line">
            <a:avLst/>
          </a:prstGeom>
          <a:noFill/>
          <a:ln w="12700">
            <a:solidFill>
              <a:srgbClr val="B0574C"/>
            </a:solidFill>
            <a:prstDash val="solid"/>
          </a:ln>
        </p:spPr>
      </p:sp>
      <p:sp>
        <p:nvSpPr>
          <p:cNvPr id="8" name="Text 6"/>
          <p:cNvSpPr/>
          <p:nvPr/>
        </p:nvSpPr>
        <p:spPr>
          <a:xfrm>
            <a:off x="777240" y="2487168"/>
            <a:ext cx="1463040" cy="201168"/>
          </a:xfrm>
          <a:prstGeom prst="rect">
            <a:avLst/>
          </a:prstGeom>
          <a:noFill/>
          <a:ln/>
        </p:spPr>
        <p:txBody>
          <a:bodyPr wrap="square" lIns="0" tIns="0" rIns="0" bIns="0" rtlCol="0" anchor="ctr"/>
          <a:lstStyle/>
          <a:p>
            <a:pPr algn="l" indent="0" marL="0">
              <a:buNone/>
            </a:pPr>
            <a:r>
              <a:rPr lang="en-US" sz="900" b="1" spc="130" kern="0" dirty="0">
                <a:solidFill>
                  <a:srgbClr val="83837B"/>
                </a:solidFill>
                <a:latin typeface="Calibri" pitchFamily="34" charset="0"/>
                <a:ea typeface="Calibri" pitchFamily="34" charset="-122"/>
                <a:cs typeface="Calibri" pitchFamily="34" charset="-120"/>
              </a:rPr>
              <a:t>TETON SIGNAL</a:t>
            </a:r>
            <a:endParaRPr lang="en-US" sz="900" dirty="0"/>
          </a:p>
        </p:txBody>
      </p:sp>
      <p:sp>
        <p:nvSpPr>
          <p:cNvPr id="9" name="Text 7"/>
          <p:cNvSpPr/>
          <p:nvPr/>
        </p:nvSpPr>
        <p:spPr>
          <a:xfrm>
            <a:off x="777240" y="3346704"/>
            <a:ext cx="1463040" cy="201168"/>
          </a:xfrm>
          <a:prstGeom prst="rect">
            <a:avLst/>
          </a:prstGeom>
          <a:noFill/>
          <a:ln/>
        </p:spPr>
        <p:txBody>
          <a:bodyPr wrap="square" lIns="0" tIns="0" rIns="0" bIns="0" rtlCol="0" anchor="ctr"/>
          <a:lstStyle/>
          <a:p>
            <a:pPr algn="l" indent="0" marL="0">
              <a:buNone/>
            </a:pPr>
            <a:r>
              <a:rPr lang="en-US" sz="900" b="1" spc="130" kern="0" dirty="0">
                <a:solidFill>
                  <a:srgbClr val="83837B"/>
                </a:solidFill>
                <a:latin typeface="Calibri" pitchFamily="34" charset="0"/>
                <a:ea typeface="Calibri" pitchFamily="34" charset="-122"/>
                <a:cs typeface="Calibri" pitchFamily="34" charset="-120"/>
              </a:rPr>
              <a:t>CARE TEAM</a:t>
            </a:r>
            <a:endParaRPr lang="en-US" sz="900" dirty="0"/>
          </a:p>
        </p:txBody>
      </p:sp>
      <p:sp>
        <p:nvSpPr>
          <p:cNvPr id="10" name="Text 8"/>
          <p:cNvSpPr/>
          <p:nvPr/>
        </p:nvSpPr>
        <p:spPr>
          <a:xfrm>
            <a:off x="777240" y="3913632"/>
            <a:ext cx="1463040" cy="201168"/>
          </a:xfrm>
          <a:prstGeom prst="rect">
            <a:avLst/>
          </a:prstGeom>
          <a:noFill/>
          <a:ln/>
        </p:spPr>
        <p:txBody>
          <a:bodyPr wrap="square" lIns="0" tIns="0" rIns="0" bIns="0" rtlCol="0" anchor="ctr"/>
          <a:lstStyle/>
          <a:p>
            <a:pPr algn="l" indent="0" marL="0">
              <a:buNone/>
            </a:pPr>
            <a:r>
              <a:rPr lang="en-US" sz="900" b="1" spc="130" kern="0" dirty="0">
                <a:solidFill>
                  <a:srgbClr val="83837B"/>
                </a:solidFill>
                <a:latin typeface="Calibri" pitchFamily="34" charset="0"/>
                <a:ea typeface="Calibri" pitchFamily="34" charset="-122"/>
                <a:cs typeface="Calibri" pitchFamily="34" charset="-120"/>
              </a:rPr>
              <a:t>OUTCOME</a:t>
            </a:r>
            <a:endParaRPr lang="en-US" sz="900" dirty="0"/>
          </a:p>
        </p:txBody>
      </p:sp>
      <p:sp>
        <p:nvSpPr>
          <p:cNvPr id="11" name="Shape 9"/>
          <p:cNvSpPr/>
          <p:nvPr/>
        </p:nvSpPr>
        <p:spPr>
          <a:xfrm flipV="1">
            <a:off x="2423160" y="2684819"/>
            <a:ext cx="798022" cy="100936"/>
          </a:xfrm>
          <a:prstGeom prst="line">
            <a:avLst/>
          </a:prstGeom>
          <a:noFill/>
          <a:ln w="28575">
            <a:solidFill>
              <a:srgbClr val="5A6CE6"/>
            </a:solidFill>
            <a:prstDash val="solid"/>
          </a:ln>
        </p:spPr>
      </p:sp>
      <p:sp>
        <p:nvSpPr>
          <p:cNvPr id="12" name="Shape 10"/>
          <p:cNvSpPr/>
          <p:nvPr/>
        </p:nvSpPr>
        <p:spPr>
          <a:xfrm flipV="1">
            <a:off x="3221182" y="2569464"/>
            <a:ext cx="1596044" cy="115355"/>
          </a:xfrm>
          <a:prstGeom prst="line">
            <a:avLst/>
          </a:prstGeom>
          <a:noFill/>
          <a:ln w="28575">
            <a:solidFill>
              <a:srgbClr val="5A6CE6"/>
            </a:solidFill>
            <a:prstDash val="solid"/>
          </a:ln>
        </p:spPr>
      </p:sp>
      <p:sp>
        <p:nvSpPr>
          <p:cNvPr id="13" name="Shape 11"/>
          <p:cNvSpPr/>
          <p:nvPr/>
        </p:nvSpPr>
        <p:spPr>
          <a:xfrm flipV="1">
            <a:off x="4817225" y="2454109"/>
            <a:ext cx="1596044" cy="115355"/>
          </a:xfrm>
          <a:prstGeom prst="line">
            <a:avLst/>
          </a:prstGeom>
          <a:noFill/>
          <a:ln w="28575">
            <a:solidFill>
              <a:srgbClr val="5A6CE6"/>
            </a:solidFill>
            <a:prstDash val="solid"/>
          </a:ln>
        </p:spPr>
      </p:sp>
      <p:sp>
        <p:nvSpPr>
          <p:cNvPr id="14" name="Shape 12"/>
          <p:cNvSpPr/>
          <p:nvPr/>
        </p:nvSpPr>
        <p:spPr>
          <a:xfrm flipV="1">
            <a:off x="6413269" y="2338754"/>
            <a:ext cx="1596044" cy="115355"/>
          </a:xfrm>
          <a:prstGeom prst="line">
            <a:avLst/>
          </a:prstGeom>
          <a:noFill/>
          <a:ln w="28575">
            <a:solidFill>
              <a:srgbClr val="5A6CE6"/>
            </a:solidFill>
            <a:prstDash val="solid"/>
          </a:ln>
        </p:spPr>
      </p:sp>
      <p:sp>
        <p:nvSpPr>
          <p:cNvPr id="15" name="Shape 13"/>
          <p:cNvSpPr/>
          <p:nvPr/>
        </p:nvSpPr>
        <p:spPr>
          <a:xfrm flipV="1">
            <a:off x="8009313" y="2252238"/>
            <a:ext cx="1596044" cy="86516"/>
          </a:xfrm>
          <a:prstGeom prst="line">
            <a:avLst/>
          </a:prstGeom>
          <a:noFill/>
          <a:ln w="28575">
            <a:solidFill>
              <a:srgbClr val="5A6CE6"/>
            </a:solidFill>
            <a:prstDash val="solid"/>
          </a:ln>
        </p:spPr>
      </p:sp>
      <p:sp>
        <p:nvSpPr>
          <p:cNvPr id="16" name="Shape 14"/>
          <p:cNvSpPr/>
          <p:nvPr/>
        </p:nvSpPr>
        <p:spPr>
          <a:xfrm>
            <a:off x="9605356" y="2252238"/>
            <a:ext cx="1596044" cy="0"/>
          </a:xfrm>
          <a:prstGeom prst="line">
            <a:avLst/>
          </a:prstGeom>
          <a:noFill/>
          <a:ln w="28575">
            <a:solidFill>
              <a:srgbClr val="5A6CE6"/>
            </a:solidFill>
            <a:prstDash val="solid"/>
          </a:ln>
        </p:spPr>
      </p:sp>
      <p:sp>
        <p:nvSpPr>
          <p:cNvPr id="17" name="Shape 15"/>
          <p:cNvSpPr/>
          <p:nvPr/>
        </p:nvSpPr>
        <p:spPr>
          <a:xfrm>
            <a:off x="2382012" y="2744607"/>
            <a:ext cx="82296" cy="82296"/>
          </a:xfrm>
          <a:prstGeom prst="ellipse">
            <a:avLst/>
          </a:prstGeom>
          <a:solidFill>
            <a:srgbClr val="5A6CE6"/>
          </a:solidFill>
          <a:ln/>
        </p:spPr>
      </p:sp>
      <p:sp>
        <p:nvSpPr>
          <p:cNvPr id="18" name="Shape 16"/>
          <p:cNvSpPr/>
          <p:nvPr/>
        </p:nvSpPr>
        <p:spPr>
          <a:xfrm>
            <a:off x="3180034" y="2643671"/>
            <a:ext cx="82296" cy="82296"/>
          </a:xfrm>
          <a:prstGeom prst="ellipse">
            <a:avLst/>
          </a:prstGeom>
          <a:solidFill>
            <a:srgbClr val="5A6CE6"/>
          </a:solidFill>
          <a:ln/>
        </p:spPr>
      </p:sp>
      <p:sp>
        <p:nvSpPr>
          <p:cNvPr id="19" name="Shape 17"/>
          <p:cNvSpPr/>
          <p:nvPr/>
        </p:nvSpPr>
        <p:spPr>
          <a:xfrm>
            <a:off x="4776077" y="2528316"/>
            <a:ext cx="82296" cy="82296"/>
          </a:xfrm>
          <a:prstGeom prst="ellipse">
            <a:avLst/>
          </a:prstGeom>
          <a:solidFill>
            <a:srgbClr val="5A6CE6"/>
          </a:solidFill>
          <a:ln/>
        </p:spPr>
      </p:sp>
      <p:sp>
        <p:nvSpPr>
          <p:cNvPr id="20" name="Shape 18"/>
          <p:cNvSpPr/>
          <p:nvPr/>
        </p:nvSpPr>
        <p:spPr>
          <a:xfrm>
            <a:off x="6372121" y="2412961"/>
            <a:ext cx="82296" cy="82296"/>
          </a:xfrm>
          <a:prstGeom prst="ellipse">
            <a:avLst/>
          </a:prstGeom>
          <a:solidFill>
            <a:srgbClr val="5A6CE6"/>
          </a:solidFill>
          <a:ln/>
        </p:spPr>
      </p:sp>
      <p:sp>
        <p:nvSpPr>
          <p:cNvPr id="21" name="Shape 19"/>
          <p:cNvSpPr/>
          <p:nvPr/>
        </p:nvSpPr>
        <p:spPr>
          <a:xfrm>
            <a:off x="7968165" y="2297606"/>
            <a:ext cx="82296" cy="82296"/>
          </a:xfrm>
          <a:prstGeom prst="ellipse">
            <a:avLst/>
          </a:prstGeom>
          <a:solidFill>
            <a:srgbClr val="5A6CE6"/>
          </a:solidFill>
          <a:ln/>
        </p:spPr>
      </p:sp>
      <p:sp>
        <p:nvSpPr>
          <p:cNvPr id="22" name="Shape 20"/>
          <p:cNvSpPr/>
          <p:nvPr/>
        </p:nvSpPr>
        <p:spPr>
          <a:xfrm>
            <a:off x="9564208" y="2211090"/>
            <a:ext cx="82296" cy="82296"/>
          </a:xfrm>
          <a:prstGeom prst="ellipse">
            <a:avLst/>
          </a:prstGeom>
          <a:solidFill>
            <a:srgbClr val="5A6CE6"/>
          </a:solidFill>
          <a:ln/>
        </p:spPr>
      </p:sp>
      <p:sp>
        <p:nvSpPr>
          <p:cNvPr id="23" name="Shape 21"/>
          <p:cNvSpPr/>
          <p:nvPr/>
        </p:nvSpPr>
        <p:spPr>
          <a:xfrm>
            <a:off x="11160252" y="2211090"/>
            <a:ext cx="82296" cy="82296"/>
          </a:xfrm>
          <a:prstGeom prst="ellipse">
            <a:avLst/>
          </a:prstGeom>
          <a:solidFill>
            <a:srgbClr val="5A6CE6"/>
          </a:solidFill>
          <a:ln/>
        </p:spPr>
      </p:sp>
      <p:sp>
        <p:nvSpPr>
          <p:cNvPr id="24" name="Shape 22"/>
          <p:cNvSpPr/>
          <p:nvPr/>
        </p:nvSpPr>
        <p:spPr>
          <a:xfrm>
            <a:off x="3143458" y="2607095"/>
            <a:ext cx="155448" cy="155448"/>
          </a:xfrm>
          <a:prstGeom prst="ellipse">
            <a:avLst/>
          </a:prstGeom>
          <a:solidFill>
            <a:srgbClr val="F8F8F5"/>
          </a:solidFill>
          <a:ln w="25400">
            <a:solidFill>
              <a:srgbClr val="5A6CE6"/>
            </a:solidFill>
            <a:prstDash val="solid"/>
          </a:ln>
        </p:spPr>
      </p:sp>
      <p:sp>
        <p:nvSpPr>
          <p:cNvPr id="25" name="Text 23"/>
          <p:cNvSpPr/>
          <p:nvPr/>
        </p:nvSpPr>
        <p:spPr>
          <a:xfrm>
            <a:off x="3385774" y="2231136"/>
            <a:ext cx="3108960" cy="219456"/>
          </a:xfrm>
          <a:prstGeom prst="rect">
            <a:avLst/>
          </a:prstGeom>
          <a:noFill/>
          <a:ln/>
        </p:spPr>
        <p:txBody>
          <a:bodyPr wrap="square" lIns="0" tIns="0" rIns="0" bIns="0" rtlCol="0" anchor="t"/>
          <a:lstStyle/>
          <a:p>
            <a:pPr algn="l" indent="0" marL="0">
              <a:buNone/>
            </a:pPr>
            <a:r>
              <a:rPr lang="en-US" sz="950" b="1" dirty="0">
                <a:solidFill>
                  <a:srgbClr val="5A6CE6"/>
                </a:solidFill>
                <a:latin typeface="Calibri" pitchFamily="34" charset="0"/>
                <a:ea typeface="Calibri" pitchFamily="34" charset="-122"/>
                <a:cs typeface="Calibri" pitchFamily="34" charset="-120"/>
              </a:rPr>
              <a:t>Pattern detectable · week 2</a:t>
            </a:r>
            <a:endParaRPr lang="en-US" sz="950" dirty="0"/>
          </a:p>
        </p:txBody>
      </p:sp>
      <p:sp>
        <p:nvSpPr>
          <p:cNvPr id="26" name="Shape 24"/>
          <p:cNvSpPr/>
          <p:nvPr/>
        </p:nvSpPr>
        <p:spPr>
          <a:xfrm>
            <a:off x="3221182" y="3246120"/>
            <a:ext cx="7980218" cy="310896"/>
          </a:xfrm>
          <a:prstGeom prst="roundRect">
            <a:avLst>
              <a:gd name="adj" fmla="val 17647"/>
            </a:avLst>
          </a:prstGeom>
          <a:solidFill>
            <a:srgbClr val="EEEEE9"/>
          </a:solidFill>
          <a:ln/>
        </p:spPr>
      </p:sp>
      <p:sp>
        <p:nvSpPr>
          <p:cNvPr id="27" name="Text 25"/>
          <p:cNvSpPr/>
          <p:nvPr/>
        </p:nvSpPr>
        <p:spPr>
          <a:xfrm>
            <a:off x="3221182" y="3246120"/>
            <a:ext cx="7980218" cy="310896"/>
          </a:xfrm>
          <a:prstGeom prst="rect">
            <a:avLst/>
          </a:prstGeom>
          <a:noFill/>
          <a:ln/>
        </p:spPr>
        <p:txBody>
          <a:bodyPr wrap="square" lIns="0" tIns="0" rIns="0" bIns="0" rtlCol="0" anchor="ctr"/>
          <a:lstStyle/>
          <a:p>
            <a:pPr algn="ctr" indent="0" marL="0">
              <a:buNone/>
            </a:pPr>
            <a:r>
              <a:rPr lang="en-US" sz="1100" dirty="0">
                <a:solidFill>
                  <a:srgbClr val="83837B"/>
                </a:solidFill>
                <a:latin typeface="Calibri" pitchFamily="34" charset="0"/>
                <a:ea typeface="Calibri" pitchFamily="34" charset="-122"/>
                <a:cs typeface="Calibri" pitchFamily="34" charset="-120"/>
              </a:rPr>
              <a:t>No owner  ·  not documented  ·  no reassessment</a:t>
            </a:r>
            <a:endParaRPr lang="en-US" sz="1100" dirty="0"/>
          </a:p>
        </p:txBody>
      </p:sp>
      <p:sp>
        <p:nvSpPr>
          <p:cNvPr id="28" name="Shape 26"/>
          <p:cNvSpPr/>
          <p:nvPr/>
        </p:nvSpPr>
        <p:spPr>
          <a:xfrm>
            <a:off x="11128248" y="3877056"/>
            <a:ext cx="146304" cy="146304"/>
          </a:xfrm>
          <a:prstGeom prst="ellipse">
            <a:avLst/>
          </a:prstGeom>
          <a:solidFill>
            <a:srgbClr val="B0574C"/>
          </a:solidFill>
          <a:ln/>
        </p:spPr>
      </p:sp>
      <p:sp>
        <p:nvSpPr>
          <p:cNvPr id="29" name="Text 27"/>
          <p:cNvSpPr/>
          <p:nvPr/>
        </p:nvSpPr>
        <p:spPr>
          <a:xfrm>
            <a:off x="5669280" y="3840480"/>
            <a:ext cx="5312664" cy="237744"/>
          </a:xfrm>
          <a:prstGeom prst="rect">
            <a:avLst/>
          </a:prstGeom>
          <a:noFill/>
          <a:ln/>
        </p:spPr>
        <p:txBody>
          <a:bodyPr wrap="square" lIns="0" tIns="0" rIns="0" bIns="0" rtlCol="0" anchor="ctr"/>
          <a:lstStyle/>
          <a:p>
            <a:pPr algn="r" indent="0" marL="0">
              <a:buNone/>
            </a:pPr>
            <a:r>
              <a:rPr lang="en-US" sz="1150" b="1" dirty="0">
                <a:solidFill>
                  <a:srgbClr val="B0574C"/>
                </a:solidFill>
                <a:latin typeface="Calibri" pitchFamily="34" charset="0"/>
                <a:ea typeface="Calibri" pitchFamily="34" charset="-122"/>
                <a:cs typeface="Calibri" pitchFamily="34" charset="-120"/>
              </a:rPr>
              <a:t>Week 12 — fall, hospitalization, reassessment</a:t>
            </a:r>
            <a:endParaRPr lang="en-US" sz="1150" dirty="0"/>
          </a:p>
        </p:txBody>
      </p:sp>
      <p:sp>
        <p:nvSpPr>
          <p:cNvPr id="30" name="Shape 28"/>
          <p:cNvSpPr/>
          <p:nvPr/>
        </p:nvSpPr>
        <p:spPr>
          <a:xfrm>
            <a:off x="2423160" y="4261104"/>
            <a:ext cx="8778240" cy="0"/>
          </a:xfrm>
          <a:prstGeom prst="line">
            <a:avLst/>
          </a:prstGeom>
          <a:noFill/>
          <a:ln w="9525">
            <a:solidFill>
              <a:srgbClr val="E2E2DC"/>
            </a:solidFill>
            <a:prstDash val="solid"/>
          </a:ln>
        </p:spPr>
      </p:sp>
      <p:sp>
        <p:nvSpPr>
          <p:cNvPr id="31" name="Text 29"/>
          <p:cNvSpPr/>
          <p:nvPr/>
        </p:nvSpPr>
        <p:spPr>
          <a:xfrm>
            <a:off x="1783080" y="4297680"/>
            <a:ext cx="1280160" cy="201168"/>
          </a:xfrm>
          <a:prstGeom prst="rect">
            <a:avLst/>
          </a:prstGeom>
          <a:noFill/>
          <a:ln/>
        </p:spPr>
        <p:txBody>
          <a:bodyPr wrap="square" lIns="0" tIns="0" rIns="0" bIns="0" rtlCol="0" anchor="t"/>
          <a:lstStyle/>
          <a:p>
            <a:pPr algn="l" indent="0" marL="0">
              <a:buNone/>
            </a:pPr>
            <a:r>
              <a:rPr lang="en-US" sz="850" dirty="0">
                <a:solidFill>
                  <a:srgbClr val="83837B"/>
                </a:solidFill>
                <a:latin typeface="Calibri" pitchFamily="34" charset="0"/>
                <a:ea typeface="Calibri" pitchFamily="34" charset="-122"/>
                <a:cs typeface="Calibri" pitchFamily="34" charset="-120"/>
              </a:rPr>
              <a:t>Week 1</a:t>
            </a:r>
            <a:endParaRPr lang="en-US" sz="850" dirty="0"/>
          </a:p>
        </p:txBody>
      </p:sp>
      <p:sp>
        <p:nvSpPr>
          <p:cNvPr id="32" name="Text 30"/>
          <p:cNvSpPr/>
          <p:nvPr/>
        </p:nvSpPr>
        <p:spPr>
          <a:xfrm>
            <a:off x="5773189" y="4297680"/>
            <a:ext cx="1280160" cy="201168"/>
          </a:xfrm>
          <a:prstGeom prst="rect">
            <a:avLst/>
          </a:prstGeom>
          <a:noFill/>
          <a:ln/>
        </p:spPr>
        <p:txBody>
          <a:bodyPr wrap="square" lIns="0" tIns="0" rIns="0" bIns="0" rtlCol="0" anchor="t"/>
          <a:lstStyle/>
          <a:p>
            <a:pPr algn="ctr" indent="0" marL="0">
              <a:buNone/>
            </a:pPr>
            <a:r>
              <a:rPr lang="en-US" sz="850" dirty="0">
                <a:solidFill>
                  <a:srgbClr val="83837B"/>
                </a:solidFill>
                <a:latin typeface="Calibri" pitchFamily="34" charset="0"/>
                <a:ea typeface="Calibri" pitchFamily="34" charset="-122"/>
                <a:cs typeface="Calibri" pitchFamily="34" charset="-120"/>
              </a:rPr>
              <a:t>Week 6</a:t>
            </a:r>
            <a:endParaRPr lang="en-US" sz="850" dirty="0"/>
          </a:p>
        </p:txBody>
      </p:sp>
      <p:sp>
        <p:nvSpPr>
          <p:cNvPr id="33" name="Text 31"/>
          <p:cNvSpPr/>
          <p:nvPr/>
        </p:nvSpPr>
        <p:spPr>
          <a:xfrm>
            <a:off x="10561320" y="4297680"/>
            <a:ext cx="1280160" cy="201168"/>
          </a:xfrm>
          <a:prstGeom prst="rect">
            <a:avLst/>
          </a:prstGeom>
          <a:noFill/>
          <a:ln/>
        </p:spPr>
        <p:txBody>
          <a:bodyPr wrap="square" lIns="0" tIns="0" rIns="0" bIns="0" rtlCol="0" anchor="t"/>
          <a:lstStyle/>
          <a:p>
            <a:pPr algn="r" indent="0" marL="0">
              <a:buNone/>
            </a:pPr>
            <a:r>
              <a:rPr lang="en-US" sz="850" dirty="0">
                <a:solidFill>
                  <a:srgbClr val="83837B"/>
                </a:solidFill>
                <a:latin typeface="Calibri" pitchFamily="34" charset="0"/>
                <a:ea typeface="Calibri" pitchFamily="34" charset="-122"/>
                <a:cs typeface="Calibri" pitchFamily="34" charset="-120"/>
              </a:rPr>
              <a:t>Week 12</a:t>
            </a:r>
            <a:endParaRPr lang="en-US" sz="850" dirty="0"/>
          </a:p>
        </p:txBody>
      </p:sp>
      <p:sp>
        <p:nvSpPr>
          <p:cNvPr id="34" name="Text 32"/>
          <p:cNvSpPr/>
          <p:nvPr/>
        </p:nvSpPr>
        <p:spPr>
          <a:xfrm>
            <a:off x="777240" y="4681728"/>
            <a:ext cx="10637215" cy="274320"/>
          </a:xfrm>
          <a:prstGeom prst="rect">
            <a:avLst/>
          </a:prstGeom>
          <a:noFill/>
          <a:ln/>
        </p:spPr>
        <p:txBody>
          <a:bodyPr wrap="square" lIns="0" tIns="0" rIns="0" bIns="0" rtlCol="0" anchor="ctr"/>
          <a:lstStyle/>
          <a:p>
            <a:pPr algn="l" indent="0" marL="0">
              <a:buNone/>
            </a:pPr>
            <a:r>
              <a:rPr lang="en-US" sz="1150" b="1" dirty="0">
                <a:solidFill>
                  <a:srgbClr val="1B1B18"/>
                </a:solidFill>
                <a:latin typeface="Calibri" pitchFamily="34" charset="0"/>
                <a:ea typeface="Calibri" pitchFamily="34" charset="-122"/>
                <a:cs typeface="Calibri" pitchFamily="34" charset="-120"/>
              </a:rPr>
              <a:t>What earlier review would have changed:  </a:t>
            </a:r>
            <a:pPr algn="l" indent="0" marL="0">
              <a:buNone/>
            </a:pPr>
            <a:r>
              <a:rPr lang="en-US" sz="1150" dirty="0">
                <a:solidFill>
                  <a:srgbClr val="83837B"/>
                </a:solidFill>
                <a:latin typeface="Calibri" pitchFamily="34" charset="0"/>
                <a:ea typeface="Calibri" pitchFamily="34" charset="-122"/>
                <a:cs typeface="Calibri" pitchFamily="34" charset="-120"/>
              </a:rPr>
              <a:t>care plan · family conversation · revenue alignment · renewal proof</a:t>
            </a:r>
            <a:endParaRPr lang="en-US" sz="1150" dirty="0"/>
          </a:p>
        </p:txBody>
      </p:sp>
      <p:sp>
        <p:nvSpPr>
          <p:cNvPr id="35" name="Shape 33"/>
          <p:cNvSpPr/>
          <p:nvPr/>
        </p:nvSpPr>
        <p:spPr>
          <a:xfrm>
            <a:off x="777240" y="5276088"/>
            <a:ext cx="0" cy="581891"/>
          </a:xfrm>
          <a:prstGeom prst="line">
            <a:avLst/>
          </a:prstGeom>
          <a:noFill/>
          <a:ln w="31750">
            <a:solidFill>
              <a:srgbClr val="5A6CE6"/>
            </a:solidFill>
            <a:prstDash val="solid"/>
          </a:ln>
        </p:spPr>
      </p:sp>
      <p:sp>
        <p:nvSpPr>
          <p:cNvPr id="36" name="Text 34"/>
          <p:cNvSpPr/>
          <p:nvPr/>
        </p:nvSpPr>
        <p:spPr>
          <a:xfrm>
            <a:off x="1033272" y="5257800"/>
            <a:ext cx="10168128" cy="800100"/>
          </a:xfrm>
          <a:prstGeom prst="rect">
            <a:avLst/>
          </a:prstGeom>
          <a:noFill/>
          <a:ln/>
        </p:spPr>
        <p:txBody>
          <a:bodyPr wrap="square" lIns="0" tIns="0" rIns="0" bIns="0" rtlCol="0" anchor="t"/>
          <a:lstStyle/>
          <a:p>
            <a:pPr algn="l" indent="0" marL="0">
              <a:lnSpc>
                <a:spcPct val="112000"/>
              </a:lnSpc>
              <a:buNone/>
            </a:pPr>
            <a:r>
              <a:rPr lang="en-US" sz="1400" i="1" dirty="0">
                <a:solidFill>
                  <a:srgbClr val="1B1B18"/>
                </a:solidFill>
                <a:latin typeface="Calibri" pitchFamily="34" charset="0"/>
                <a:ea typeface="Calibri" pitchFamily="34" charset="-122"/>
                <a:cs typeface="Calibri" pitchFamily="34" charset="-120"/>
              </a:rPr>
              <a:t>If we'd caught it in week two instead of week twelve, that's a different care plan, a different conversation with the family, a different revenue line.</a:t>
            </a:r>
            <a:endParaRPr lang="en-US" sz="1400" dirty="0"/>
          </a:p>
        </p:txBody>
      </p:sp>
      <p:sp>
        <p:nvSpPr>
          <p:cNvPr id="37" name="Text 35"/>
          <p:cNvSpPr/>
          <p:nvPr/>
        </p:nvSpPr>
        <p:spPr>
          <a:xfrm>
            <a:off x="1033272" y="5943600"/>
            <a:ext cx="6400800" cy="219456"/>
          </a:xfrm>
          <a:prstGeom prst="rect">
            <a:avLst/>
          </a:prstGeom>
          <a:noFill/>
          <a:ln/>
        </p:spPr>
        <p:txBody>
          <a:bodyPr wrap="square" lIns="0" tIns="0" rIns="0" bIns="0" rtlCol="0" anchor="t"/>
          <a:lstStyle/>
          <a:p>
            <a:pPr algn="l" indent="0" marL="0">
              <a:buNone/>
            </a:pPr>
            <a:r>
              <a:rPr lang="en-US" sz="1000" dirty="0">
                <a:solidFill>
                  <a:srgbClr val="83837B"/>
                </a:solidFill>
                <a:latin typeface="Calibri" pitchFamily="34" charset="0"/>
                <a:ea typeface="Calibri" pitchFamily="34" charset="-122"/>
                <a:cs typeface="Calibri" pitchFamily="34" charset="-120"/>
              </a:rPr>
              <a:t>— Dana, VP Health Services</a:t>
            </a:r>
            <a:endParaRPr lang="en-US" sz="1000" dirty="0"/>
          </a:p>
        </p:txBody>
      </p:sp>
      <p:sp>
        <p:nvSpPr>
          <p:cNvPr id="38" name="Text 36"/>
          <p:cNvSpPr/>
          <p:nvPr/>
        </p:nvSpPr>
        <p:spPr>
          <a:xfrm>
            <a:off x="777240" y="6217920"/>
            <a:ext cx="10637215" cy="219456"/>
          </a:xfrm>
          <a:prstGeom prst="rect">
            <a:avLst/>
          </a:prstGeom>
          <a:noFill/>
          <a:ln/>
        </p:spPr>
        <p:txBody>
          <a:bodyPr wrap="square" lIns="0" tIns="0" rIns="0" bIns="0" rtlCol="0" anchor="t"/>
          <a:lstStyle/>
          <a:p>
            <a:pPr algn="l" indent="0" marL="0">
              <a:buNone/>
            </a:pPr>
            <a:r>
              <a:rPr lang="en-US" sz="800" dirty="0">
                <a:solidFill>
                  <a:srgbClr val="83837B"/>
                </a:solidFill>
                <a:latin typeface="Calibri" pitchFamily="34" charset="0"/>
                <a:ea typeface="Calibri" pitchFamily="34" charset="-122"/>
                <a:cs typeface="Calibri" pitchFamily="34" charset="-120"/>
              </a:rPr>
              <a:t>EHR flags reflect only what's charted; ~2/3 of clinical leaders report acuity is underreported (ASHA / August Health, 2025). Under-leveling sizing is illustrative.</a:t>
            </a:r>
            <a:endParaRPr lang="en-US" sz="800" dirty="0"/>
          </a:p>
        </p:txBody>
      </p:sp>
      <p:sp>
        <p:nvSpPr>
          <p:cNvPr id="39" name="Text 37"/>
          <p:cNvSpPr/>
          <p:nvPr/>
        </p:nvSpPr>
        <p:spPr>
          <a:xfrm>
            <a:off x="777240" y="6473952"/>
            <a:ext cx="5486400" cy="237744"/>
          </a:xfrm>
          <a:prstGeom prst="rect">
            <a:avLst/>
          </a:prstGeom>
          <a:noFill/>
          <a:ln/>
        </p:spPr>
        <p:txBody>
          <a:bodyPr wrap="square" lIns="0" tIns="0" rIns="0" bIns="0" rtlCol="0" anchor="ctr"/>
          <a:lstStyle/>
          <a:p>
            <a:pPr algn="l" indent="0" marL="0">
              <a:buNone/>
            </a:pPr>
            <a:r>
              <a:rPr lang="en-US" sz="850" dirty="0">
                <a:solidFill>
                  <a:srgbClr val="83837B"/>
                </a:solidFill>
                <a:latin typeface="Calibri" pitchFamily="34" charset="0"/>
                <a:ea typeface="Calibri" pitchFamily="34" charset="-122"/>
                <a:cs typeface="Calibri" pitchFamily="34" charset="-120"/>
              </a:rPr>
              <a:t>Teton  ·  Product recommendation</a:t>
            </a:r>
            <a:endParaRPr lang="en-US" sz="850" dirty="0"/>
          </a:p>
        </p:txBody>
      </p:sp>
      <p:sp>
        <p:nvSpPr>
          <p:cNvPr id="40" name="Text 38"/>
          <p:cNvSpPr/>
          <p:nvPr/>
        </p:nvSpPr>
        <p:spPr>
          <a:xfrm>
            <a:off x="10500055" y="6473952"/>
            <a:ext cx="914400" cy="237744"/>
          </a:xfrm>
          <a:prstGeom prst="rect">
            <a:avLst/>
          </a:prstGeom>
          <a:noFill/>
          <a:ln/>
        </p:spPr>
        <p:txBody>
          <a:bodyPr wrap="square" lIns="0" tIns="0" rIns="0" bIns="0" rtlCol="0" anchor="ctr"/>
          <a:lstStyle/>
          <a:p>
            <a:pPr algn="r" indent="0" marL="0">
              <a:buNone/>
            </a:pPr>
            <a:r>
              <a:rPr lang="en-US" sz="850" dirty="0">
                <a:solidFill>
                  <a:srgbClr val="83837B"/>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8F5"/>
        </a:solidFill>
      </p:bgPr>
    </p:bg>
    <p:spTree>
      <p:nvGrpSpPr>
        <p:cNvPr id="1" name=""/>
        <p:cNvGrpSpPr/>
        <p:nvPr/>
      </p:nvGrpSpPr>
      <p:grpSpPr>
        <a:xfrm>
          <a:off x="0" y="0"/>
          <a:ext cx="0" cy="0"/>
          <a:chOff x="0" y="0"/>
          <a:chExt cx="0" cy="0"/>
        </a:xfrm>
      </p:grpSpPr>
      <p:sp>
        <p:nvSpPr>
          <p:cNvPr id="2" name="Shape 0"/>
          <p:cNvSpPr/>
          <p:nvPr/>
        </p:nvSpPr>
        <p:spPr>
          <a:xfrm>
            <a:off x="777240" y="384048"/>
            <a:ext cx="100584" cy="100584"/>
          </a:xfrm>
          <a:prstGeom prst="ellipse">
            <a:avLst/>
          </a:prstGeom>
          <a:solidFill>
            <a:srgbClr val="5A6CE6"/>
          </a:solidFill>
          <a:ln/>
        </p:spPr>
      </p:sp>
      <p:sp>
        <p:nvSpPr>
          <p:cNvPr id="3" name="Text 1"/>
          <p:cNvSpPr/>
          <p:nvPr/>
        </p:nvSpPr>
        <p:spPr>
          <a:xfrm>
            <a:off x="978408" y="320040"/>
            <a:ext cx="9144000" cy="237744"/>
          </a:xfrm>
          <a:prstGeom prst="rect">
            <a:avLst/>
          </a:prstGeom>
          <a:noFill/>
          <a:ln/>
        </p:spPr>
        <p:txBody>
          <a:bodyPr wrap="square" lIns="0" tIns="0" rIns="0" bIns="0" rtlCol="0" anchor="ctr"/>
          <a:lstStyle/>
          <a:p>
            <a:pPr algn="l" indent="0" marL="0">
              <a:buNone/>
            </a:pPr>
            <a:r>
              <a:rPr lang="en-US" sz="1050" b="1" spc="160" kern="0" dirty="0">
                <a:solidFill>
                  <a:srgbClr val="83837B"/>
                </a:solidFill>
                <a:latin typeface="Calibri" pitchFamily="34" charset="0"/>
                <a:ea typeface="Calibri" pitchFamily="34" charset="-122"/>
                <a:cs typeface="Calibri" pitchFamily="34" charset="-120"/>
              </a:rPr>
              <a:t>THE BET</a:t>
            </a:r>
            <a:endParaRPr lang="en-US" sz="1050" dirty="0"/>
          </a:p>
        </p:txBody>
      </p:sp>
      <p:sp>
        <p:nvSpPr>
          <p:cNvPr id="4" name="Text 2"/>
          <p:cNvSpPr/>
          <p:nvPr/>
        </p:nvSpPr>
        <p:spPr>
          <a:xfrm>
            <a:off x="777240" y="676656"/>
            <a:ext cx="10332720" cy="822960"/>
          </a:xfrm>
          <a:prstGeom prst="rect">
            <a:avLst/>
          </a:prstGeom>
          <a:noFill/>
          <a:ln/>
        </p:spPr>
        <p:txBody>
          <a:bodyPr wrap="square" lIns="0" tIns="0" rIns="0" bIns="0" rtlCol="0" anchor="t"/>
          <a:lstStyle/>
          <a:p>
            <a:pPr algn="l" indent="0" marL="0">
              <a:lnSpc>
                <a:spcPct val="102000"/>
              </a:lnSpc>
              <a:buNone/>
            </a:pPr>
            <a:r>
              <a:rPr lang="en-US" sz="2500" b="1" dirty="0">
                <a:solidFill>
                  <a:srgbClr val="1B1B18"/>
                </a:solidFill>
                <a:latin typeface="Calibri" pitchFamily="34" charset="0"/>
                <a:ea typeface="Calibri" pitchFamily="34" charset="-122"/>
                <a:cs typeface="Calibri" pitchFamily="34" charset="-120"/>
              </a:rPr>
              <a:t>The six-month bet should be change-of-condition review</a:t>
            </a:r>
            <a:endParaRPr lang="en-US" sz="2500" dirty="0"/>
          </a:p>
        </p:txBody>
      </p:sp>
      <p:sp>
        <p:nvSpPr>
          <p:cNvPr id="5" name="Text 3"/>
          <p:cNvSpPr/>
          <p:nvPr/>
        </p:nvSpPr>
        <p:spPr>
          <a:xfrm>
            <a:off x="777240" y="1481328"/>
            <a:ext cx="9875520" cy="502920"/>
          </a:xfrm>
          <a:prstGeom prst="rect">
            <a:avLst/>
          </a:prstGeom>
          <a:noFill/>
          <a:ln/>
        </p:spPr>
        <p:txBody>
          <a:bodyPr wrap="square" lIns="0" tIns="0" rIns="0" bIns="0" rtlCol="0" anchor="t"/>
          <a:lstStyle/>
          <a:p>
            <a:pPr algn="l" indent="0" marL="0">
              <a:lnSpc>
                <a:spcPct val="112000"/>
              </a:lnSpc>
              <a:buNone/>
            </a:pPr>
            <a:r>
              <a:rPr lang="en-US" sz="1300" dirty="0">
                <a:solidFill>
                  <a:srgbClr val="83837B"/>
                </a:solidFill>
                <a:latin typeface="Calibri" pitchFamily="34" charset="0"/>
                <a:ea typeface="Calibri" pitchFamily="34" charset="-122"/>
                <a:cs typeface="Calibri" pitchFamily="34" charset="-120"/>
              </a:rPr>
              <a:t>One narrow workflow best fits the customer pain, the engineering constraint, and the adoption risk.</a:t>
            </a:r>
            <a:endParaRPr lang="en-US" sz="1300" dirty="0"/>
          </a:p>
        </p:txBody>
      </p:sp>
      <p:sp>
        <p:nvSpPr>
          <p:cNvPr id="6" name="Shape 4"/>
          <p:cNvSpPr/>
          <p:nvPr/>
        </p:nvSpPr>
        <p:spPr>
          <a:xfrm>
            <a:off x="777240" y="2121408"/>
            <a:ext cx="3301898" cy="0"/>
          </a:xfrm>
          <a:prstGeom prst="line">
            <a:avLst/>
          </a:prstGeom>
          <a:noFill/>
          <a:ln w="9525">
            <a:solidFill>
              <a:srgbClr val="E2E2DC"/>
            </a:solidFill>
            <a:prstDash val="solid"/>
          </a:ln>
        </p:spPr>
      </p:sp>
      <p:sp>
        <p:nvSpPr>
          <p:cNvPr id="7" name="Text 5"/>
          <p:cNvSpPr/>
          <p:nvPr/>
        </p:nvSpPr>
        <p:spPr>
          <a:xfrm>
            <a:off x="777240" y="2231136"/>
            <a:ext cx="3301898" cy="201168"/>
          </a:xfrm>
          <a:prstGeom prst="rect">
            <a:avLst/>
          </a:prstGeom>
          <a:noFill/>
          <a:ln/>
        </p:spPr>
        <p:txBody>
          <a:bodyPr wrap="square" lIns="0" tIns="0" rIns="0" bIns="0" rtlCol="0" anchor="ctr"/>
          <a:lstStyle/>
          <a:p>
            <a:pPr algn="l" indent="0" marL="0">
              <a:buNone/>
            </a:pPr>
            <a:r>
              <a:rPr lang="en-US" sz="950" b="1" spc="130" kern="0" dirty="0">
                <a:solidFill>
                  <a:srgbClr val="83837B"/>
                </a:solidFill>
                <a:latin typeface="Calibri" pitchFamily="34" charset="0"/>
                <a:ea typeface="Calibri" pitchFamily="34" charset="-122"/>
                <a:cs typeface="Calibri" pitchFamily="34" charset="-120"/>
              </a:rPr>
              <a:t>TOO NARROW</a:t>
            </a:r>
            <a:endParaRPr lang="en-US" sz="950" dirty="0"/>
          </a:p>
        </p:txBody>
      </p:sp>
      <p:sp>
        <p:nvSpPr>
          <p:cNvPr id="8" name="Text 6"/>
          <p:cNvSpPr/>
          <p:nvPr/>
        </p:nvSpPr>
        <p:spPr>
          <a:xfrm>
            <a:off x="777240" y="2468880"/>
            <a:ext cx="3301898" cy="457200"/>
          </a:xfrm>
          <a:prstGeom prst="rect">
            <a:avLst/>
          </a:prstGeom>
          <a:noFill/>
          <a:ln/>
        </p:spPr>
        <p:txBody>
          <a:bodyPr wrap="square" lIns="0" tIns="0" rIns="0" bIns="0" rtlCol="0" anchor="t"/>
          <a:lstStyle/>
          <a:p>
            <a:pPr algn="l" indent="0" marL="0">
              <a:lnSpc>
                <a:spcPct val="105000"/>
              </a:lnSpc>
              <a:buNone/>
            </a:pPr>
            <a:r>
              <a:rPr lang="en-US" sz="1200" b="1" dirty="0">
                <a:solidFill>
                  <a:srgbClr val="1B1B18"/>
                </a:solidFill>
                <a:latin typeface="Calibri" pitchFamily="34" charset="0"/>
                <a:ea typeface="Calibri" pitchFamily="34" charset="-122"/>
                <a:cs typeface="Calibri" pitchFamily="34" charset="-120"/>
              </a:rPr>
              <a:t>Doesn't reach daytime decisions</a:t>
            </a:r>
            <a:endParaRPr lang="en-US" sz="1200" dirty="0"/>
          </a:p>
        </p:txBody>
      </p:sp>
      <p:sp>
        <p:nvSpPr>
          <p:cNvPr id="9" name="Text 7"/>
          <p:cNvSpPr/>
          <p:nvPr/>
        </p:nvSpPr>
        <p:spPr>
          <a:xfrm>
            <a:off x="777240" y="2962656"/>
            <a:ext cx="3301898" cy="457200"/>
          </a:xfrm>
          <a:prstGeom prst="rect">
            <a:avLst/>
          </a:prstGeom>
          <a:noFill/>
          <a:ln/>
        </p:spPr>
        <p:txBody>
          <a:bodyPr wrap="square" lIns="0" tIns="0" rIns="0" bIns="0" rtlCol="0" anchor="t"/>
          <a:lstStyle/>
          <a:p>
            <a:pPr algn="l" indent="0" marL="0">
              <a:lnSpc>
                <a:spcPct val="108000"/>
              </a:lnSpc>
              <a:buNone/>
            </a:pPr>
            <a:r>
              <a:rPr lang="en-US" sz="1050" dirty="0">
                <a:solidFill>
                  <a:srgbClr val="83837B"/>
                </a:solidFill>
                <a:latin typeface="Calibri" pitchFamily="34" charset="0"/>
                <a:ea typeface="Calibri" pitchFamily="34" charset="-122"/>
                <a:cs typeface="Calibri" pitchFamily="34" charset="-120"/>
              </a:rPr>
              <a:t>Fall-accuracy work · Day-shift adoption push</a:t>
            </a:r>
            <a:endParaRPr lang="en-US" sz="1050" dirty="0"/>
          </a:p>
        </p:txBody>
      </p:sp>
      <p:sp>
        <p:nvSpPr>
          <p:cNvPr id="10" name="Shape 8"/>
          <p:cNvSpPr/>
          <p:nvPr/>
        </p:nvSpPr>
        <p:spPr>
          <a:xfrm>
            <a:off x="4444898" y="2121408"/>
            <a:ext cx="3301898" cy="0"/>
          </a:xfrm>
          <a:prstGeom prst="line">
            <a:avLst/>
          </a:prstGeom>
          <a:noFill/>
          <a:ln w="9525">
            <a:solidFill>
              <a:srgbClr val="E2E2DC"/>
            </a:solidFill>
            <a:prstDash val="solid"/>
          </a:ln>
        </p:spPr>
      </p:sp>
      <p:sp>
        <p:nvSpPr>
          <p:cNvPr id="11" name="Text 9"/>
          <p:cNvSpPr/>
          <p:nvPr/>
        </p:nvSpPr>
        <p:spPr>
          <a:xfrm>
            <a:off x="4444898" y="2231136"/>
            <a:ext cx="3301898" cy="201168"/>
          </a:xfrm>
          <a:prstGeom prst="rect">
            <a:avLst/>
          </a:prstGeom>
          <a:noFill/>
          <a:ln/>
        </p:spPr>
        <p:txBody>
          <a:bodyPr wrap="square" lIns="0" tIns="0" rIns="0" bIns="0" rtlCol="0" anchor="ctr"/>
          <a:lstStyle/>
          <a:p>
            <a:pPr algn="l" indent="0" marL="0">
              <a:buNone/>
            </a:pPr>
            <a:r>
              <a:rPr lang="en-US" sz="950" b="1" spc="130" kern="0" dirty="0">
                <a:solidFill>
                  <a:srgbClr val="83837B"/>
                </a:solidFill>
                <a:latin typeface="Calibri" pitchFamily="34" charset="0"/>
                <a:ea typeface="Calibri" pitchFamily="34" charset="-122"/>
                <a:cs typeface="Calibri" pitchFamily="34" charset="-120"/>
              </a:rPr>
              <a:t>TOO RISKY</a:t>
            </a:r>
            <a:endParaRPr lang="en-US" sz="950" dirty="0"/>
          </a:p>
        </p:txBody>
      </p:sp>
      <p:sp>
        <p:nvSpPr>
          <p:cNvPr id="12" name="Text 10"/>
          <p:cNvSpPr/>
          <p:nvPr/>
        </p:nvSpPr>
        <p:spPr>
          <a:xfrm>
            <a:off x="4444898" y="2468880"/>
            <a:ext cx="3301898" cy="457200"/>
          </a:xfrm>
          <a:prstGeom prst="rect">
            <a:avLst/>
          </a:prstGeom>
          <a:noFill/>
          <a:ln/>
        </p:spPr>
        <p:txBody>
          <a:bodyPr wrap="square" lIns="0" tIns="0" rIns="0" bIns="0" rtlCol="0" anchor="t"/>
          <a:lstStyle/>
          <a:p>
            <a:pPr algn="l" indent="0" marL="0">
              <a:lnSpc>
                <a:spcPct val="105000"/>
              </a:lnSpc>
              <a:buNone/>
            </a:pPr>
            <a:r>
              <a:rPr lang="en-US" sz="1200" b="1" dirty="0">
                <a:solidFill>
                  <a:srgbClr val="1B1B18"/>
                </a:solidFill>
                <a:latin typeface="Calibri" pitchFamily="34" charset="0"/>
                <a:ea typeface="Calibri" pitchFamily="34" charset="-122"/>
                <a:cs typeface="Calibri" pitchFamily="34" charset="-120"/>
              </a:rPr>
              <a:t>Trust &amp; privacy risk before the workflow is proven</a:t>
            </a:r>
            <a:endParaRPr lang="en-US" sz="1200" dirty="0"/>
          </a:p>
        </p:txBody>
      </p:sp>
      <p:sp>
        <p:nvSpPr>
          <p:cNvPr id="13" name="Text 11"/>
          <p:cNvSpPr/>
          <p:nvPr/>
        </p:nvSpPr>
        <p:spPr>
          <a:xfrm>
            <a:off x="4444898" y="2962656"/>
            <a:ext cx="3301898" cy="457200"/>
          </a:xfrm>
          <a:prstGeom prst="rect">
            <a:avLst/>
          </a:prstGeom>
          <a:noFill/>
          <a:ln/>
        </p:spPr>
        <p:txBody>
          <a:bodyPr wrap="square" lIns="0" tIns="0" rIns="0" bIns="0" rtlCol="0" anchor="t"/>
          <a:lstStyle/>
          <a:p>
            <a:pPr algn="l" indent="0" marL="0">
              <a:lnSpc>
                <a:spcPct val="108000"/>
              </a:lnSpc>
              <a:buNone/>
            </a:pPr>
            <a:r>
              <a:rPr lang="en-US" sz="1050" dirty="0">
                <a:solidFill>
                  <a:srgbClr val="83837B"/>
                </a:solidFill>
                <a:latin typeface="Calibri" pitchFamily="34" charset="0"/>
                <a:ea typeface="Calibri" pitchFamily="34" charset="-122"/>
                <a:cs typeface="Calibri" pitchFamily="34" charset="-120"/>
              </a:rPr>
              <a:t>Family live-view · Automated care-level</a:t>
            </a:r>
            <a:endParaRPr lang="en-US" sz="1050" dirty="0"/>
          </a:p>
        </p:txBody>
      </p:sp>
      <p:sp>
        <p:nvSpPr>
          <p:cNvPr id="14" name="Shape 12"/>
          <p:cNvSpPr/>
          <p:nvPr/>
        </p:nvSpPr>
        <p:spPr>
          <a:xfrm>
            <a:off x="8112557" y="2121408"/>
            <a:ext cx="3301898" cy="0"/>
          </a:xfrm>
          <a:prstGeom prst="line">
            <a:avLst/>
          </a:prstGeom>
          <a:noFill/>
          <a:ln w="9525">
            <a:solidFill>
              <a:srgbClr val="E2E2DC"/>
            </a:solidFill>
            <a:prstDash val="solid"/>
          </a:ln>
        </p:spPr>
      </p:sp>
      <p:sp>
        <p:nvSpPr>
          <p:cNvPr id="15" name="Text 13"/>
          <p:cNvSpPr/>
          <p:nvPr/>
        </p:nvSpPr>
        <p:spPr>
          <a:xfrm>
            <a:off x="8112557" y="2231136"/>
            <a:ext cx="3301898" cy="201168"/>
          </a:xfrm>
          <a:prstGeom prst="rect">
            <a:avLst/>
          </a:prstGeom>
          <a:noFill/>
          <a:ln/>
        </p:spPr>
        <p:txBody>
          <a:bodyPr wrap="square" lIns="0" tIns="0" rIns="0" bIns="0" rtlCol="0" anchor="ctr"/>
          <a:lstStyle/>
          <a:p>
            <a:pPr algn="l" indent="0" marL="0">
              <a:buNone/>
            </a:pPr>
            <a:r>
              <a:rPr lang="en-US" sz="950" b="1" spc="130" kern="0" dirty="0">
                <a:solidFill>
                  <a:srgbClr val="83837B"/>
                </a:solidFill>
                <a:latin typeface="Calibri" pitchFamily="34" charset="0"/>
                <a:ea typeface="Calibri" pitchFamily="34" charset="-122"/>
                <a:cs typeface="Calibri" pitchFamily="34" charset="-120"/>
              </a:rPr>
              <a:t>TOO BROAD</a:t>
            </a:r>
            <a:endParaRPr lang="en-US" sz="950" dirty="0"/>
          </a:p>
        </p:txBody>
      </p:sp>
      <p:sp>
        <p:nvSpPr>
          <p:cNvPr id="16" name="Text 14"/>
          <p:cNvSpPr/>
          <p:nvPr/>
        </p:nvSpPr>
        <p:spPr>
          <a:xfrm>
            <a:off x="8112557" y="2468880"/>
            <a:ext cx="3301898" cy="457200"/>
          </a:xfrm>
          <a:prstGeom prst="rect">
            <a:avLst/>
          </a:prstGeom>
          <a:noFill/>
          <a:ln/>
        </p:spPr>
        <p:txBody>
          <a:bodyPr wrap="square" lIns="0" tIns="0" rIns="0" bIns="0" rtlCol="0" anchor="t"/>
          <a:lstStyle/>
          <a:p>
            <a:pPr algn="l" indent="0" marL="0">
              <a:lnSpc>
                <a:spcPct val="105000"/>
              </a:lnSpc>
              <a:buNone/>
            </a:pPr>
            <a:r>
              <a:rPr lang="en-US" sz="1200" b="1" dirty="0">
                <a:solidFill>
                  <a:srgbClr val="1B1B18"/>
                </a:solidFill>
                <a:latin typeface="Calibri" pitchFamily="34" charset="0"/>
                <a:ea typeface="Calibri" pitchFamily="34" charset="-122"/>
                <a:cs typeface="Calibri" pitchFamily="34" charset="-120"/>
              </a:rPr>
              <a:t>Bigger than a six-month bet</a:t>
            </a:r>
            <a:endParaRPr lang="en-US" sz="1200" dirty="0"/>
          </a:p>
        </p:txBody>
      </p:sp>
      <p:sp>
        <p:nvSpPr>
          <p:cNvPr id="17" name="Text 15"/>
          <p:cNvSpPr/>
          <p:nvPr/>
        </p:nvSpPr>
        <p:spPr>
          <a:xfrm>
            <a:off x="8112557" y="2962656"/>
            <a:ext cx="3301898" cy="457200"/>
          </a:xfrm>
          <a:prstGeom prst="rect">
            <a:avLst/>
          </a:prstGeom>
          <a:noFill/>
          <a:ln/>
        </p:spPr>
        <p:txBody>
          <a:bodyPr wrap="square" lIns="0" tIns="0" rIns="0" bIns="0" rtlCol="0" anchor="t"/>
          <a:lstStyle/>
          <a:p>
            <a:pPr algn="l" indent="0" marL="0">
              <a:lnSpc>
                <a:spcPct val="108000"/>
              </a:lnSpc>
              <a:buNone/>
            </a:pPr>
            <a:r>
              <a:rPr lang="en-US" sz="1050" dirty="0">
                <a:solidFill>
                  <a:srgbClr val="83837B"/>
                </a:solidFill>
                <a:latin typeface="Calibri" pitchFamily="34" charset="0"/>
                <a:ea typeface="Calibri" pitchFamily="34" charset="-122"/>
                <a:cs typeface="Calibri" pitchFamily="34" charset="-120"/>
              </a:rPr>
              <a:t>Full multi-EHR integration</a:t>
            </a:r>
            <a:endParaRPr lang="en-US" sz="1050" dirty="0"/>
          </a:p>
        </p:txBody>
      </p:sp>
      <p:sp>
        <p:nvSpPr>
          <p:cNvPr id="18" name="Shape 16"/>
          <p:cNvSpPr/>
          <p:nvPr/>
        </p:nvSpPr>
        <p:spPr>
          <a:xfrm>
            <a:off x="777240" y="3840480"/>
            <a:ext cx="10637215" cy="1371600"/>
          </a:xfrm>
          <a:prstGeom prst="roundRect">
            <a:avLst>
              <a:gd name="adj" fmla="val 8000"/>
            </a:avLst>
          </a:prstGeom>
          <a:solidFill>
            <a:srgbClr val="EDEFFB"/>
          </a:solidFill>
          <a:ln/>
        </p:spPr>
      </p:sp>
      <p:sp>
        <p:nvSpPr>
          <p:cNvPr id="19" name="Text 17"/>
          <p:cNvSpPr/>
          <p:nvPr/>
        </p:nvSpPr>
        <p:spPr>
          <a:xfrm>
            <a:off x="1143000" y="4059936"/>
            <a:ext cx="3657600" cy="201168"/>
          </a:xfrm>
          <a:prstGeom prst="rect">
            <a:avLst/>
          </a:prstGeom>
          <a:noFill/>
          <a:ln/>
        </p:spPr>
        <p:txBody>
          <a:bodyPr wrap="square" lIns="0" tIns="0" rIns="0" bIns="0" rtlCol="0" anchor="ctr"/>
          <a:lstStyle/>
          <a:p>
            <a:pPr algn="l" indent="0" marL="0">
              <a:buNone/>
            </a:pPr>
            <a:r>
              <a:rPr lang="en-US" sz="1000" b="1" spc="130" kern="0" dirty="0">
                <a:solidFill>
                  <a:srgbClr val="5A6CE6"/>
                </a:solidFill>
                <a:latin typeface="Calibri" pitchFamily="34" charset="0"/>
                <a:ea typeface="Calibri" pitchFamily="34" charset="-122"/>
                <a:cs typeface="Calibri" pitchFamily="34" charset="-120"/>
              </a:rPr>
              <a:t>CHOSEN BET</a:t>
            </a:r>
            <a:endParaRPr lang="en-US" sz="1000" dirty="0"/>
          </a:p>
        </p:txBody>
      </p:sp>
      <p:sp>
        <p:nvSpPr>
          <p:cNvPr id="20" name="Text 18"/>
          <p:cNvSpPr/>
          <p:nvPr/>
        </p:nvSpPr>
        <p:spPr>
          <a:xfrm>
            <a:off x="1143000" y="4297680"/>
            <a:ext cx="9905695" cy="411480"/>
          </a:xfrm>
          <a:prstGeom prst="rect">
            <a:avLst/>
          </a:prstGeom>
          <a:noFill/>
          <a:ln/>
        </p:spPr>
        <p:txBody>
          <a:bodyPr wrap="square" lIns="0" tIns="0" rIns="0" bIns="0" rtlCol="0" anchor="t"/>
          <a:lstStyle/>
          <a:p>
            <a:pPr algn="l" indent="0" marL="0">
              <a:buNone/>
            </a:pPr>
            <a:r>
              <a:rPr lang="en-US" sz="2200" b="1" dirty="0">
                <a:solidFill>
                  <a:srgbClr val="1B1B18"/>
                </a:solidFill>
                <a:latin typeface="Calibri" pitchFamily="34" charset="0"/>
                <a:ea typeface="Calibri" pitchFamily="34" charset="-122"/>
                <a:cs typeface="Calibri" pitchFamily="34" charset="-120"/>
              </a:rPr>
              <a:t>Change-of-condition review</a:t>
            </a:r>
            <a:endParaRPr lang="en-US" sz="2200" dirty="0"/>
          </a:p>
        </p:txBody>
      </p:sp>
      <p:sp>
        <p:nvSpPr>
          <p:cNvPr id="21" name="Text 19"/>
          <p:cNvSpPr/>
          <p:nvPr/>
        </p:nvSpPr>
        <p:spPr>
          <a:xfrm>
            <a:off x="1143000" y="4791456"/>
            <a:ext cx="9905695" cy="365760"/>
          </a:xfrm>
          <a:prstGeom prst="rect">
            <a:avLst/>
          </a:prstGeom>
          <a:noFill/>
          <a:ln/>
        </p:spPr>
        <p:txBody>
          <a:bodyPr wrap="square" lIns="0" tIns="0" rIns="0" bIns="0" rtlCol="0" anchor="t"/>
          <a:lstStyle/>
          <a:p>
            <a:pPr algn="l" indent="0" marL="0">
              <a:lnSpc>
                <a:spcPct val="105000"/>
              </a:lnSpc>
              <a:buNone/>
            </a:pPr>
            <a:r>
              <a:rPr lang="en-US" sz="1400" dirty="0">
                <a:solidFill>
                  <a:srgbClr val="1B1B18"/>
                </a:solidFill>
                <a:latin typeface="Calibri" pitchFamily="34" charset="0"/>
                <a:ea typeface="Calibri" pitchFamily="34" charset="-122"/>
                <a:cs typeface="Calibri" pitchFamily="34" charset="-120"/>
              </a:rPr>
              <a:t>Surface evidence that a resident may need review. A nurse decides what happens next.</a:t>
            </a:r>
            <a:endParaRPr lang="en-US" sz="1400" dirty="0"/>
          </a:p>
        </p:txBody>
      </p:sp>
      <p:sp>
        <p:nvSpPr>
          <p:cNvPr id="22" name="Shape 20"/>
          <p:cNvSpPr/>
          <p:nvPr/>
        </p:nvSpPr>
        <p:spPr>
          <a:xfrm>
            <a:off x="777240" y="5614416"/>
            <a:ext cx="10637215" cy="0"/>
          </a:xfrm>
          <a:prstGeom prst="line">
            <a:avLst/>
          </a:prstGeom>
          <a:noFill/>
          <a:ln w="9525">
            <a:solidFill>
              <a:srgbClr val="E2E2DC"/>
            </a:solidFill>
            <a:prstDash val="solid"/>
          </a:ln>
        </p:spPr>
      </p:sp>
      <p:sp>
        <p:nvSpPr>
          <p:cNvPr id="23" name="Text 21"/>
          <p:cNvSpPr/>
          <p:nvPr/>
        </p:nvSpPr>
        <p:spPr>
          <a:xfrm>
            <a:off x="777240" y="5742432"/>
            <a:ext cx="10637215" cy="457200"/>
          </a:xfrm>
          <a:prstGeom prst="rect">
            <a:avLst/>
          </a:prstGeom>
          <a:noFill/>
          <a:ln/>
        </p:spPr>
        <p:txBody>
          <a:bodyPr wrap="square" lIns="0" tIns="0" rIns="0" bIns="0" rtlCol="0" anchor="ctr"/>
          <a:lstStyle/>
          <a:p>
            <a:pPr algn="l" indent="0" marL="0">
              <a:buNone/>
            </a:pPr>
            <a:r>
              <a:rPr lang="en-US" sz="1200" b="1" dirty="0">
                <a:solidFill>
                  <a:srgbClr val="5A6CE6"/>
                </a:solidFill>
                <a:latin typeface="Calibri" pitchFamily="34" charset="0"/>
                <a:ea typeface="Calibri" pitchFamily="34" charset="-122"/>
                <a:cs typeface="Calibri" pitchFamily="34" charset="-120"/>
              </a:rPr>
              <a:t>Guardrail   </a:t>
            </a:r>
            <a:pPr algn="l" indent="0" marL="0">
              <a:buNone/>
            </a:pPr>
            <a:r>
              <a:rPr lang="en-US" sz="1200" dirty="0">
                <a:solidFill>
                  <a:srgbClr val="1B1B18"/>
                </a:solidFill>
                <a:latin typeface="Calibri" pitchFamily="34" charset="0"/>
                <a:ea typeface="Calibri" pitchFamily="34" charset="-122"/>
                <a:cs typeface="Calibri" pitchFamily="34" charset="-120"/>
              </a:rPr>
              <a:t>Teton identifies review-worthy evidence. The care team makes the clinical and billing decision.</a:t>
            </a:r>
            <a:endParaRPr lang="en-US" sz="1200" dirty="0"/>
          </a:p>
        </p:txBody>
      </p:sp>
      <p:sp>
        <p:nvSpPr>
          <p:cNvPr id="24" name="Text 22"/>
          <p:cNvSpPr/>
          <p:nvPr/>
        </p:nvSpPr>
        <p:spPr>
          <a:xfrm>
            <a:off x="777240" y="6473952"/>
            <a:ext cx="5486400" cy="237744"/>
          </a:xfrm>
          <a:prstGeom prst="rect">
            <a:avLst/>
          </a:prstGeom>
          <a:noFill/>
          <a:ln/>
        </p:spPr>
        <p:txBody>
          <a:bodyPr wrap="square" lIns="0" tIns="0" rIns="0" bIns="0" rtlCol="0" anchor="ctr"/>
          <a:lstStyle/>
          <a:p>
            <a:pPr algn="l" indent="0" marL="0">
              <a:buNone/>
            </a:pPr>
            <a:r>
              <a:rPr lang="en-US" sz="850" dirty="0">
                <a:solidFill>
                  <a:srgbClr val="83837B"/>
                </a:solidFill>
                <a:latin typeface="Calibri" pitchFamily="34" charset="0"/>
                <a:ea typeface="Calibri" pitchFamily="34" charset="-122"/>
                <a:cs typeface="Calibri" pitchFamily="34" charset="-120"/>
              </a:rPr>
              <a:t>Teton  ·  Product recommendation</a:t>
            </a:r>
            <a:endParaRPr lang="en-US" sz="850" dirty="0"/>
          </a:p>
        </p:txBody>
      </p:sp>
      <p:sp>
        <p:nvSpPr>
          <p:cNvPr id="25" name="Text 23"/>
          <p:cNvSpPr/>
          <p:nvPr/>
        </p:nvSpPr>
        <p:spPr>
          <a:xfrm>
            <a:off x="10500055" y="6473952"/>
            <a:ext cx="914400" cy="237744"/>
          </a:xfrm>
          <a:prstGeom prst="rect">
            <a:avLst/>
          </a:prstGeom>
          <a:noFill/>
          <a:ln/>
        </p:spPr>
        <p:txBody>
          <a:bodyPr wrap="square" lIns="0" tIns="0" rIns="0" bIns="0" rtlCol="0" anchor="ctr"/>
          <a:lstStyle/>
          <a:p>
            <a:pPr algn="r" indent="0" marL="0">
              <a:buNone/>
            </a:pPr>
            <a:r>
              <a:rPr lang="en-US" sz="850" dirty="0">
                <a:solidFill>
                  <a:srgbClr val="83837B"/>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8F5"/>
        </a:solidFill>
      </p:bgPr>
    </p:bg>
    <p:spTree>
      <p:nvGrpSpPr>
        <p:cNvPr id="1" name=""/>
        <p:cNvGrpSpPr/>
        <p:nvPr/>
      </p:nvGrpSpPr>
      <p:grpSpPr>
        <a:xfrm>
          <a:off x="0" y="0"/>
          <a:ext cx="0" cy="0"/>
          <a:chOff x="0" y="0"/>
          <a:chExt cx="0" cy="0"/>
        </a:xfrm>
      </p:grpSpPr>
      <p:sp>
        <p:nvSpPr>
          <p:cNvPr id="2" name="Shape 0"/>
          <p:cNvSpPr/>
          <p:nvPr/>
        </p:nvSpPr>
        <p:spPr>
          <a:xfrm>
            <a:off x="777240" y="384048"/>
            <a:ext cx="100584" cy="100584"/>
          </a:xfrm>
          <a:prstGeom prst="ellipse">
            <a:avLst/>
          </a:prstGeom>
          <a:solidFill>
            <a:srgbClr val="5A6CE6"/>
          </a:solidFill>
          <a:ln/>
        </p:spPr>
      </p:sp>
      <p:sp>
        <p:nvSpPr>
          <p:cNvPr id="3" name="Text 1"/>
          <p:cNvSpPr/>
          <p:nvPr/>
        </p:nvSpPr>
        <p:spPr>
          <a:xfrm>
            <a:off x="978408" y="320040"/>
            <a:ext cx="9144000" cy="237744"/>
          </a:xfrm>
          <a:prstGeom prst="rect">
            <a:avLst/>
          </a:prstGeom>
          <a:noFill/>
          <a:ln/>
        </p:spPr>
        <p:txBody>
          <a:bodyPr wrap="square" lIns="0" tIns="0" rIns="0" bIns="0" rtlCol="0" anchor="ctr"/>
          <a:lstStyle/>
          <a:p>
            <a:pPr algn="l" indent="0" marL="0">
              <a:buNone/>
            </a:pPr>
            <a:r>
              <a:rPr lang="en-US" sz="1050" b="1" spc="160" kern="0" dirty="0">
                <a:solidFill>
                  <a:srgbClr val="83837B"/>
                </a:solidFill>
                <a:latin typeface="Calibri" pitchFamily="34" charset="0"/>
                <a:ea typeface="Calibri" pitchFamily="34" charset="-122"/>
                <a:cs typeface="Calibri" pitchFamily="34" charset="-120"/>
              </a:rPr>
              <a:t>PRODUCT DIRECTION</a:t>
            </a:r>
            <a:endParaRPr lang="en-US" sz="1050" dirty="0"/>
          </a:p>
        </p:txBody>
      </p:sp>
      <p:sp>
        <p:nvSpPr>
          <p:cNvPr id="4" name="Text 2"/>
          <p:cNvSpPr/>
          <p:nvPr/>
        </p:nvSpPr>
        <p:spPr>
          <a:xfrm>
            <a:off x="777240" y="676656"/>
            <a:ext cx="10332720" cy="822960"/>
          </a:xfrm>
          <a:prstGeom prst="rect">
            <a:avLst/>
          </a:prstGeom>
          <a:noFill/>
          <a:ln/>
        </p:spPr>
        <p:txBody>
          <a:bodyPr wrap="square" lIns="0" tIns="0" rIns="0" bIns="0" rtlCol="0" anchor="t"/>
          <a:lstStyle/>
          <a:p>
            <a:pPr algn="l" indent="0" marL="0">
              <a:lnSpc>
                <a:spcPct val="102000"/>
              </a:lnSpc>
              <a:buNone/>
            </a:pPr>
            <a:r>
              <a:rPr lang="en-US" sz="2500" b="1" dirty="0">
                <a:solidFill>
                  <a:srgbClr val="1B1B18"/>
                </a:solidFill>
                <a:latin typeface="Calibri" pitchFamily="34" charset="0"/>
                <a:ea typeface="Calibri" pitchFamily="34" charset="-122"/>
                <a:cs typeface="Calibri" pitchFamily="34" charset="-120"/>
              </a:rPr>
              <a:t>Turn ambient signals into reviewed care evidence</a:t>
            </a:r>
            <a:endParaRPr lang="en-US" sz="2500" dirty="0"/>
          </a:p>
        </p:txBody>
      </p:sp>
      <p:sp>
        <p:nvSpPr>
          <p:cNvPr id="5" name="Text 3"/>
          <p:cNvSpPr/>
          <p:nvPr/>
        </p:nvSpPr>
        <p:spPr>
          <a:xfrm>
            <a:off x="777240" y="1481328"/>
            <a:ext cx="9875520" cy="502920"/>
          </a:xfrm>
          <a:prstGeom prst="rect">
            <a:avLst/>
          </a:prstGeom>
          <a:noFill/>
          <a:ln/>
        </p:spPr>
        <p:txBody>
          <a:bodyPr wrap="square" lIns="0" tIns="0" rIns="0" bIns="0" rtlCol="0" anchor="t"/>
          <a:lstStyle/>
          <a:p>
            <a:pPr algn="l" indent="0" marL="0">
              <a:lnSpc>
                <a:spcPct val="112000"/>
              </a:lnSpc>
              <a:buNone/>
            </a:pPr>
            <a:r>
              <a:rPr lang="en-US" sz="1300" dirty="0">
                <a:solidFill>
                  <a:srgbClr val="83837B"/>
                </a:solidFill>
                <a:latin typeface="Calibri" pitchFamily="34" charset="0"/>
                <a:ea typeface="Calibri" pitchFamily="34" charset="-122"/>
                <a:cs typeface="Calibri" pitchFamily="34" charset="-120"/>
              </a:rPr>
              <a:t>Detect a meaningful change, route it to a clinical owner, and document the reviewed outcome.</a:t>
            </a:r>
            <a:endParaRPr lang="en-US" sz="1300" dirty="0"/>
          </a:p>
        </p:txBody>
      </p:sp>
      <p:sp>
        <p:nvSpPr>
          <p:cNvPr id="6" name="Text 4"/>
          <p:cNvSpPr/>
          <p:nvPr/>
        </p:nvSpPr>
        <p:spPr>
          <a:xfrm>
            <a:off x="777240" y="1938528"/>
            <a:ext cx="1371600" cy="274320"/>
          </a:xfrm>
          <a:prstGeom prst="rect">
            <a:avLst/>
          </a:prstGeom>
          <a:noFill/>
          <a:ln/>
        </p:spPr>
        <p:txBody>
          <a:bodyPr wrap="square" lIns="0" tIns="0" rIns="0" bIns="0" rtlCol="0" anchor="t"/>
          <a:lstStyle/>
          <a:p>
            <a:pPr algn="l" indent="0" marL="0">
              <a:buNone/>
            </a:pPr>
            <a:r>
              <a:rPr lang="en-US" sz="1350" b="1" dirty="0">
                <a:solidFill>
                  <a:srgbClr val="1B1B18"/>
                </a:solidFill>
                <a:latin typeface="Calibri" pitchFamily="34" charset="0"/>
                <a:ea typeface="Calibri" pitchFamily="34" charset="-122"/>
                <a:cs typeface="Calibri" pitchFamily="34" charset="-120"/>
              </a:rPr>
              <a:t>Detect</a:t>
            </a:r>
            <a:endParaRPr lang="en-US" sz="1350" dirty="0"/>
          </a:p>
        </p:txBody>
      </p:sp>
      <p:sp>
        <p:nvSpPr>
          <p:cNvPr id="7" name="Text 5"/>
          <p:cNvSpPr/>
          <p:nvPr/>
        </p:nvSpPr>
        <p:spPr>
          <a:xfrm>
            <a:off x="1947672" y="1938528"/>
            <a:ext cx="457200" cy="274320"/>
          </a:xfrm>
          <a:prstGeom prst="rect">
            <a:avLst/>
          </a:prstGeom>
          <a:noFill/>
          <a:ln/>
        </p:spPr>
        <p:txBody>
          <a:bodyPr wrap="square" lIns="0" tIns="0" rIns="0" bIns="0" rtlCol="0" anchor="t"/>
          <a:lstStyle/>
          <a:p>
            <a:pPr algn="l" indent="0" marL="0">
              <a:buNone/>
            </a:pPr>
            <a:r>
              <a:rPr lang="en-US" sz="1400" b="1" dirty="0">
                <a:solidFill>
                  <a:srgbClr val="5A6CE6"/>
                </a:solidFill>
                <a:latin typeface="Calibri" pitchFamily="34" charset="0"/>
                <a:ea typeface="Calibri" pitchFamily="34" charset="-122"/>
                <a:cs typeface="Calibri" pitchFamily="34" charset="-120"/>
              </a:rPr>
              <a:t>→</a:t>
            </a:r>
            <a:endParaRPr lang="en-US" sz="1400" dirty="0"/>
          </a:p>
        </p:txBody>
      </p:sp>
      <p:sp>
        <p:nvSpPr>
          <p:cNvPr id="8" name="Text 6"/>
          <p:cNvSpPr/>
          <p:nvPr/>
        </p:nvSpPr>
        <p:spPr>
          <a:xfrm>
            <a:off x="2404872" y="1938528"/>
            <a:ext cx="1371600" cy="274320"/>
          </a:xfrm>
          <a:prstGeom prst="rect">
            <a:avLst/>
          </a:prstGeom>
          <a:noFill/>
          <a:ln/>
        </p:spPr>
        <p:txBody>
          <a:bodyPr wrap="square" lIns="0" tIns="0" rIns="0" bIns="0" rtlCol="0" anchor="t"/>
          <a:lstStyle/>
          <a:p>
            <a:pPr algn="l" indent="0" marL="0">
              <a:buNone/>
            </a:pPr>
            <a:r>
              <a:rPr lang="en-US" sz="1350" b="1" dirty="0">
                <a:solidFill>
                  <a:srgbClr val="1B1B18"/>
                </a:solidFill>
                <a:latin typeface="Calibri" pitchFamily="34" charset="0"/>
                <a:ea typeface="Calibri" pitchFamily="34" charset="-122"/>
                <a:cs typeface="Calibri" pitchFamily="34" charset="-120"/>
              </a:rPr>
              <a:t>Review</a:t>
            </a:r>
            <a:endParaRPr lang="en-US" sz="1350" dirty="0"/>
          </a:p>
        </p:txBody>
      </p:sp>
      <p:sp>
        <p:nvSpPr>
          <p:cNvPr id="9" name="Text 7"/>
          <p:cNvSpPr/>
          <p:nvPr/>
        </p:nvSpPr>
        <p:spPr>
          <a:xfrm>
            <a:off x="3575304" y="1938528"/>
            <a:ext cx="457200" cy="274320"/>
          </a:xfrm>
          <a:prstGeom prst="rect">
            <a:avLst/>
          </a:prstGeom>
          <a:noFill/>
          <a:ln/>
        </p:spPr>
        <p:txBody>
          <a:bodyPr wrap="square" lIns="0" tIns="0" rIns="0" bIns="0" rtlCol="0" anchor="t"/>
          <a:lstStyle/>
          <a:p>
            <a:pPr algn="l" indent="0" marL="0">
              <a:buNone/>
            </a:pPr>
            <a:r>
              <a:rPr lang="en-US" sz="1400" b="1" dirty="0">
                <a:solidFill>
                  <a:srgbClr val="5A6CE6"/>
                </a:solidFill>
                <a:latin typeface="Calibri" pitchFamily="34" charset="0"/>
                <a:ea typeface="Calibri" pitchFamily="34" charset="-122"/>
                <a:cs typeface="Calibri" pitchFamily="34" charset="-120"/>
              </a:rPr>
              <a:t>→</a:t>
            </a:r>
            <a:endParaRPr lang="en-US" sz="1400" dirty="0"/>
          </a:p>
        </p:txBody>
      </p:sp>
      <p:sp>
        <p:nvSpPr>
          <p:cNvPr id="10" name="Text 8"/>
          <p:cNvSpPr/>
          <p:nvPr/>
        </p:nvSpPr>
        <p:spPr>
          <a:xfrm>
            <a:off x="4032504" y="1938528"/>
            <a:ext cx="1371600" cy="274320"/>
          </a:xfrm>
          <a:prstGeom prst="rect">
            <a:avLst/>
          </a:prstGeom>
          <a:noFill/>
          <a:ln/>
        </p:spPr>
        <p:txBody>
          <a:bodyPr wrap="square" lIns="0" tIns="0" rIns="0" bIns="0" rtlCol="0" anchor="t"/>
          <a:lstStyle/>
          <a:p>
            <a:pPr algn="l" indent="0" marL="0">
              <a:buNone/>
            </a:pPr>
            <a:r>
              <a:rPr lang="en-US" sz="1350" b="1" dirty="0">
                <a:solidFill>
                  <a:srgbClr val="1B1B18"/>
                </a:solidFill>
                <a:latin typeface="Calibri" pitchFamily="34" charset="0"/>
                <a:ea typeface="Calibri" pitchFamily="34" charset="-122"/>
                <a:cs typeface="Calibri" pitchFamily="34" charset="-120"/>
              </a:rPr>
              <a:t>Document</a:t>
            </a:r>
            <a:endParaRPr lang="en-US" sz="1350" dirty="0"/>
          </a:p>
        </p:txBody>
      </p:sp>
      <p:sp>
        <p:nvSpPr>
          <p:cNvPr id="11" name="Text 9"/>
          <p:cNvSpPr/>
          <p:nvPr/>
        </p:nvSpPr>
        <p:spPr>
          <a:xfrm>
            <a:off x="5202936" y="1938528"/>
            <a:ext cx="457200" cy="274320"/>
          </a:xfrm>
          <a:prstGeom prst="rect">
            <a:avLst/>
          </a:prstGeom>
          <a:noFill/>
          <a:ln/>
        </p:spPr>
        <p:txBody>
          <a:bodyPr wrap="square" lIns="0" tIns="0" rIns="0" bIns="0" rtlCol="0" anchor="t"/>
          <a:lstStyle/>
          <a:p>
            <a:pPr algn="l" indent="0" marL="0">
              <a:buNone/>
            </a:pPr>
            <a:r>
              <a:rPr lang="en-US" sz="1400" b="1" dirty="0">
                <a:solidFill>
                  <a:srgbClr val="5A6CE6"/>
                </a:solidFill>
                <a:latin typeface="Calibri" pitchFamily="34" charset="0"/>
                <a:ea typeface="Calibri" pitchFamily="34" charset="-122"/>
                <a:cs typeface="Calibri" pitchFamily="34" charset="-120"/>
              </a:rPr>
              <a:t>→</a:t>
            </a:r>
            <a:endParaRPr lang="en-US" sz="1400" dirty="0"/>
          </a:p>
        </p:txBody>
      </p:sp>
      <p:sp>
        <p:nvSpPr>
          <p:cNvPr id="12" name="Text 10"/>
          <p:cNvSpPr/>
          <p:nvPr/>
        </p:nvSpPr>
        <p:spPr>
          <a:xfrm>
            <a:off x="5660136" y="1938528"/>
            <a:ext cx="1371600" cy="274320"/>
          </a:xfrm>
          <a:prstGeom prst="rect">
            <a:avLst/>
          </a:prstGeom>
          <a:noFill/>
          <a:ln/>
        </p:spPr>
        <p:txBody>
          <a:bodyPr wrap="square" lIns="0" tIns="0" rIns="0" bIns="0" rtlCol="0" anchor="t"/>
          <a:lstStyle/>
          <a:p>
            <a:pPr algn="l" indent="0" marL="0">
              <a:buNone/>
            </a:pPr>
            <a:r>
              <a:rPr lang="en-US" sz="1350" b="1" dirty="0">
                <a:solidFill>
                  <a:srgbClr val="1B1B18"/>
                </a:solidFill>
                <a:latin typeface="Calibri" pitchFamily="34" charset="0"/>
                <a:ea typeface="Calibri" pitchFamily="34" charset="-122"/>
                <a:cs typeface="Calibri" pitchFamily="34" charset="-120"/>
              </a:rPr>
              <a:t>Explain</a:t>
            </a:r>
            <a:endParaRPr lang="en-US" sz="1350" dirty="0"/>
          </a:p>
        </p:txBody>
      </p:sp>
      <p:sp>
        <p:nvSpPr>
          <p:cNvPr id="13" name="Shape 11"/>
          <p:cNvSpPr/>
          <p:nvPr/>
        </p:nvSpPr>
        <p:spPr>
          <a:xfrm>
            <a:off x="777240" y="2514600"/>
            <a:ext cx="7086600" cy="3246120"/>
          </a:xfrm>
          <a:prstGeom prst="roundRect">
            <a:avLst>
              <a:gd name="adj" fmla="val 3380"/>
            </a:avLst>
          </a:prstGeom>
          <a:solidFill>
            <a:srgbClr val="F8F8F5"/>
          </a:solidFill>
          <a:ln w="15875">
            <a:solidFill>
              <a:srgbClr val="E2E2DC"/>
            </a:solidFill>
            <a:prstDash val="solid"/>
          </a:ln>
          <a:effectLst>
            <a:outerShdw sx="100000" sy="100000" kx="0" ky="0" algn="bl" rotWithShape="0" blurRad="114300" dist="38100" dir="5400000">
              <a:srgbClr val="20232A">
                <a:alpha val="10000"/>
              </a:srgbClr>
            </a:outerShdw>
          </a:effectLst>
        </p:spPr>
      </p:sp>
      <p:sp>
        <p:nvSpPr>
          <p:cNvPr id="14" name="Text 12"/>
          <p:cNvSpPr/>
          <p:nvPr/>
        </p:nvSpPr>
        <p:spPr>
          <a:xfrm>
            <a:off x="1106424" y="2770632"/>
            <a:ext cx="2743200" cy="201168"/>
          </a:xfrm>
          <a:prstGeom prst="rect">
            <a:avLst/>
          </a:prstGeom>
          <a:noFill/>
          <a:ln/>
        </p:spPr>
        <p:txBody>
          <a:bodyPr wrap="square" lIns="0" tIns="0" rIns="0" bIns="0" rtlCol="0" anchor="ctr"/>
          <a:lstStyle/>
          <a:p>
            <a:pPr algn="l" indent="0" marL="0">
              <a:buNone/>
            </a:pPr>
            <a:r>
              <a:rPr lang="en-US" sz="900" b="1" spc="130" kern="0" dirty="0">
                <a:solidFill>
                  <a:srgbClr val="83837B"/>
                </a:solidFill>
                <a:latin typeface="Calibri" pitchFamily="34" charset="0"/>
                <a:ea typeface="Calibri" pitchFamily="34" charset="-122"/>
                <a:cs typeface="Calibri" pitchFamily="34" charset="-120"/>
              </a:rPr>
              <a:t>SUGGESTED REVIEW</a:t>
            </a:r>
            <a:endParaRPr lang="en-US" sz="900" dirty="0"/>
          </a:p>
        </p:txBody>
      </p:sp>
      <p:sp>
        <p:nvSpPr>
          <p:cNvPr id="15" name="Text 13"/>
          <p:cNvSpPr/>
          <p:nvPr/>
        </p:nvSpPr>
        <p:spPr>
          <a:xfrm>
            <a:off x="1106424" y="2971800"/>
            <a:ext cx="5257800" cy="365760"/>
          </a:xfrm>
          <a:prstGeom prst="rect">
            <a:avLst/>
          </a:prstGeom>
          <a:noFill/>
          <a:ln/>
        </p:spPr>
        <p:txBody>
          <a:bodyPr wrap="square" lIns="0" tIns="0" rIns="0" bIns="0" rtlCol="0" anchor="t"/>
          <a:lstStyle/>
          <a:p>
            <a:pPr algn="l" indent="0" marL="0">
              <a:buNone/>
            </a:pPr>
            <a:r>
              <a:rPr lang="en-US" sz="1700" b="1" dirty="0">
                <a:solidFill>
                  <a:srgbClr val="1B1B18"/>
                </a:solidFill>
                <a:latin typeface="Calibri" pitchFamily="34" charset="0"/>
                <a:ea typeface="Calibri" pitchFamily="34" charset="-122"/>
                <a:cs typeface="Calibri" pitchFamily="34" charset="-120"/>
              </a:rPr>
              <a:t>E. Alvarez  ·  Room 312</a:t>
            </a:r>
            <a:endParaRPr lang="en-US" sz="1700" dirty="0"/>
          </a:p>
        </p:txBody>
      </p:sp>
      <p:sp>
        <p:nvSpPr>
          <p:cNvPr id="16" name="Text 14"/>
          <p:cNvSpPr/>
          <p:nvPr/>
        </p:nvSpPr>
        <p:spPr>
          <a:xfrm>
            <a:off x="6126480" y="2971800"/>
            <a:ext cx="1408176" cy="329184"/>
          </a:xfrm>
          <a:prstGeom prst="rect">
            <a:avLst/>
          </a:prstGeom>
          <a:noFill/>
          <a:ln/>
        </p:spPr>
        <p:txBody>
          <a:bodyPr wrap="square" lIns="0" tIns="0" rIns="0" bIns="0" rtlCol="0" anchor="ctr"/>
          <a:lstStyle/>
          <a:p>
            <a:pPr algn="r" indent="0" marL="0">
              <a:buNone/>
            </a:pPr>
            <a:r>
              <a:rPr lang="en-US" sz="1050" b="1" dirty="0">
                <a:solidFill>
                  <a:srgbClr val="5A6CE6"/>
                </a:solidFill>
                <a:latin typeface="Calibri" pitchFamily="34" charset="0"/>
                <a:ea typeface="Calibri" pitchFamily="34" charset="-122"/>
                <a:cs typeface="Calibri" pitchFamily="34" charset="-120"/>
              </a:rPr>
              <a:t>Priority: high</a:t>
            </a:r>
            <a:endParaRPr lang="en-US" sz="1050" dirty="0"/>
          </a:p>
        </p:txBody>
      </p:sp>
      <p:sp>
        <p:nvSpPr>
          <p:cNvPr id="17" name="Text 15"/>
          <p:cNvSpPr/>
          <p:nvPr/>
        </p:nvSpPr>
        <p:spPr>
          <a:xfrm>
            <a:off x="1106424" y="3483864"/>
            <a:ext cx="2743200" cy="201168"/>
          </a:xfrm>
          <a:prstGeom prst="rect">
            <a:avLst/>
          </a:prstGeom>
          <a:noFill/>
          <a:ln/>
        </p:spPr>
        <p:txBody>
          <a:bodyPr wrap="square" lIns="0" tIns="0" rIns="0" bIns="0" rtlCol="0" anchor="ctr"/>
          <a:lstStyle/>
          <a:p>
            <a:pPr algn="l" indent="0" marL="0">
              <a:buNone/>
            </a:pPr>
            <a:r>
              <a:rPr lang="en-US" sz="900" b="1" spc="130" kern="0" dirty="0">
                <a:solidFill>
                  <a:srgbClr val="83837B"/>
                </a:solidFill>
                <a:latin typeface="Calibri" pitchFamily="34" charset="0"/>
                <a:ea typeface="Calibri" pitchFamily="34" charset="-122"/>
                <a:cs typeface="Calibri" pitchFamily="34" charset="-120"/>
              </a:rPr>
              <a:t>WHY SURFACED</a:t>
            </a:r>
            <a:endParaRPr lang="en-US" sz="900" dirty="0"/>
          </a:p>
        </p:txBody>
      </p:sp>
      <p:sp>
        <p:nvSpPr>
          <p:cNvPr id="18" name="Text 16"/>
          <p:cNvSpPr/>
          <p:nvPr/>
        </p:nvSpPr>
        <p:spPr>
          <a:xfrm>
            <a:off x="1106424" y="3685032"/>
            <a:ext cx="6428232" cy="640080"/>
          </a:xfrm>
          <a:prstGeom prst="rect">
            <a:avLst/>
          </a:prstGeom>
          <a:noFill/>
          <a:ln/>
        </p:spPr>
        <p:txBody>
          <a:bodyPr wrap="square" lIns="0" tIns="0" rIns="0" bIns="0" rtlCol="0" anchor="t"/>
          <a:lstStyle/>
          <a:p>
            <a:pPr algn="l" indent="0" marL="0">
              <a:lnSpc>
                <a:spcPct val="110000"/>
              </a:lnSpc>
              <a:buNone/>
            </a:pPr>
            <a:r>
              <a:rPr lang="en-US" sz="1250" dirty="0">
                <a:solidFill>
                  <a:srgbClr val="1B1B18"/>
                </a:solidFill>
                <a:latin typeface="Calibri" pitchFamily="34" charset="0"/>
                <a:ea typeface="Calibri" pitchFamily="34" charset="-122"/>
                <a:cs typeface="Calibri" pitchFamily="34" charset="-120"/>
              </a:rPr>
              <a:t>Nighttime rising increased from 1.2 to 4.6 per night over six weeks. Staff-supported room entries increased. Two possible unwitnessed events.</a:t>
            </a:r>
            <a:endParaRPr lang="en-US" sz="1250" dirty="0"/>
          </a:p>
        </p:txBody>
      </p:sp>
      <p:sp>
        <p:nvSpPr>
          <p:cNvPr id="19" name="Text 17"/>
          <p:cNvSpPr/>
          <p:nvPr/>
        </p:nvSpPr>
        <p:spPr>
          <a:xfrm>
            <a:off x="1106424" y="4343400"/>
            <a:ext cx="6428232" cy="237744"/>
          </a:xfrm>
          <a:prstGeom prst="rect">
            <a:avLst/>
          </a:prstGeom>
          <a:noFill/>
          <a:ln/>
        </p:spPr>
        <p:txBody>
          <a:bodyPr wrap="square" lIns="0" tIns="0" rIns="0" bIns="0" rtlCol="0" anchor="t"/>
          <a:lstStyle/>
          <a:p>
            <a:pPr algn="l" indent="0" marL="0">
              <a:buNone/>
            </a:pPr>
            <a:r>
              <a:rPr lang="en-US" sz="1000" i="1" dirty="0">
                <a:solidFill>
                  <a:srgbClr val="83837B"/>
                </a:solidFill>
                <a:latin typeface="Calibri" pitchFamily="34" charset="0"/>
                <a:ea typeface="Calibri" pitchFamily="34" charset="-122"/>
                <a:cs typeface="Calibri" pitchFamily="34" charset="-120"/>
              </a:rPr>
              <a:t>Evidence period: May 18 – Jun 29</a:t>
            </a:r>
            <a:endParaRPr lang="en-US" sz="1000" dirty="0"/>
          </a:p>
        </p:txBody>
      </p:sp>
      <p:sp>
        <p:nvSpPr>
          <p:cNvPr id="20" name="Shape 18"/>
          <p:cNvSpPr/>
          <p:nvPr/>
        </p:nvSpPr>
        <p:spPr>
          <a:xfrm>
            <a:off x="1106424" y="4727448"/>
            <a:ext cx="6428232" cy="0"/>
          </a:xfrm>
          <a:prstGeom prst="line">
            <a:avLst/>
          </a:prstGeom>
          <a:noFill/>
          <a:ln w="9525">
            <a:solidFill>
              <a:srgbClr val="E2E2DC"/>
            </a:solidFill>
            <a:prstDash val="solid"/>
          </a:ln>
        </p:spPr>
      </p:sp>
      <p:sp>
        <p:nvSpPr>
          <p:cNvPr id="21" name="Text 19"/>
          <p:cNvSpPr/>
          <p:nvPr/>
        </p:nvSpPr>
        <p:spPr>
          <a:xfrm>
            <a:off x="1106424" y="4837176"/>
            <a:ext cx="2743200" cy="201168"/>
          </a:xfrm>
          <a:prstGeom prst="rect">
            <a:avLst/>
          </a:prstGeom>
          <a:noFill/>
          <a:ln/>
        </p:spPr>
        <p:txBody>
          <a:bodyPr wrap="square" lIns="0" tIns="0" rIns="0" bIns="0" rtlCol="0" anchor="ctr"/>
          <a:lstStyle/>
          <a:p>
            <a:pPr algn="l" indent="0" marL="0">
              <a:buNone/>
            </a:pPr>
            <a:r>
              <a:rPr lang="en-US" sz="900" b="1" spc="130" kern="0" dirty="0">
                <a:solidFill>
                  <a:srgbClr val="83837B"/>
                </a:solidFill>
                <a:latin typeface="Calibri" pitchFamily="34" charset="0"/>
                <a:ea typeface="Calibri" pitchFamily="34" charset="-122"/>
                <a:cs typeface="Calibri" pitchFamily="34" charset="-120"/>
              </a:rPr>
              <a:t>REVIEW DECISION</a:t>
            </a:r>
            <a:endParaRPr lang="en-US" sz="900" dirty="0"/>
          </a:p>
        </p:txBody>
      </p:sp>
      <p:sp>
        <p:nvSpPr>
          <p:cNvPr id="22" name="Shape 20"/>
          <p:cNvSpPr/>
          <p:nvPr/>
        </p:nvSpPr>
        <p:spPr>
          <a:xfrm>
            <a:off x="1143000" y="5120640"/>
            <a:ext cx="82296" cy="82296"/>
          </a:xfrm>
          <a:prstGeom prst="ellipse">
            <a:avLst/>
          </a:prstGeom>
          <a:solidFill>
            <a:srgbClr val="5A6CE6"/>
          </a:solidFill>
          <a:ln/>
        </p:spPr>
      </p:sp>
      <p:sp>
        <p:nvSpPr>
          <p:cNvPr id="23" name="Text 21"/>
          <p:cNvSpPr/>
          <p:nvPr/>
        </p:nvSpPr>
        <p:spPr>
          <a:xfrm>
            <a:off x="1344168" y="5074920"/>
            <a:ext cx="6172200" cy="219456"/>
          </a:xfrm>
          <a:prstGeom prst="rect">
            <a:avLst/>
          </a:prstGeom>
          <a:noFill/>
          <a:ln/>
        </p:spPr>
        <p:txBody>
          <a:bodyPr wrap="square" lIns="0" tIns="0" rIns="0" bIns="0" rtlCol="0" anchor="ctr"/>
          <a:lstStyle/>
          <a:p>
            <a:pPr algn="l" indent="0" marL="0">
              <a:buNone/>
            </a:pPr>
            <a:r>
              <a:rPr lang="en-US" sz="1150" b="1" dirty="0">
                <a:solidFill>
                  <a:srgbClr val="1B1B18"/>
                </a:solidFill>
                <a:latin typeface="Calibri" pitchFamily="34" charset="0"/>
                <a:ea typeface="Calibri" pitchFamily="34" charset="-122"/>
                <a:cs typeface="Calibri" pitchFamily="34" charset="-120"/>
              </a:rPr>
              <a:t>Start change-of-condition review</a:t>
            </a:r>
            <a:endParaRPr lang="en-US" sz="1150" dirty="0"/>
          </a:p>
        </p:txBody>
      </p:sp>
      <p:sp>
        <p:nvSpPr>
          <p:cNvPr id="24" name="Shape 22"/>
          <p:cNvSpPr/>
          <p:nvPr/>
        </p:nvSpPr>
        <p:spPr>
          <a:xfrm>
            <a:off x="1143000" y="5340096"/>
            <a:ext cx="82296" cy="82296"/>
          </a:xfrm>
          <a:prstGeom prst="ellipse">
            <a:avLst/>
          </a:prstGeom>
          <a:solidFill>
            <a:srgbClr val="C7C7C1"/>
          </a:solidFill>
          <a:ln/>
        </p:spPr>
      </p:sp>
      <p:sp>
        <p:nvSpPr>
          <p:cNvPr id="25" name="Text 23"/>
          <p:cNvSpPr/>
          <p:nvPr/>
        </p:nvSpPr>
        <p:spPr>
          <a:xfrm>
            <a:off x="1344168" y="5294376"/>
            <a:ext cx="6172200" cy="219456"/>
          </a:xfrm>
          <a:prstGeom prst="rect">
            <a:avLst/>
          </a:prstGeom>
          <a:noFill/>
          <a:ln/>
        </p:spPr>
        <p:txBody>
          <a:bodyPr wrap="square" lIns="0" tIns="0" rIns="0" bIns="0" rtlCol="0" anchor="ctr"/>
          <a:lstStyle/>
          <a:p>
            <a:pPr algn="l" indent="0" marL="0">
              <a:buNone/>
            </a:pPr>
            <a:r>
              <a:rPr lang="en-US" sz="1150" dirty="0">
                <a:solidFill>
                  <a:srgbClr val="83837B"/>
                </a:solidFill>
                <a:latin typeface="Calibri" pitchFamily="34" charset="0"/>
                <a:ea typeface="Calibri" pitchFamily="34" charset="-122"/>
                <a:cs typeface="Calibri" pitchFamily="34" charset="-120"/>
              </a:rPr>
              <a:t>Monitor for two weeks</a:t>
            </a:r>
            <a:endParaRPr lang="en-US" sz="1150" dirty="0"/>
          </a:p>
        </p:txBody>
      </p:sp>
      <p:sp>
        <p:nvSpPr>
          <p:cNvPr id="26" name="Shape 24"/>
          <p:cNvSpPr/>
          <p:nvPr/>
        </p:nvSpPr>
        <p:spPr>
          <a:xfrm>
            <a:off x="1143000" y="5559552"/>
            <a:ext cx="82296" cy="82296"/>
          </a:xfrm>
          <a:prstGeom prst="ellipse">
            <a:avLst/>
          </a:prstGeom>
          <a:solidFill>
            <a:srgbClr val="C7C7C1"/>
          </a:solidFill>
          <a:ln/>
        </p:spPr>
      </p:sp>
      <p:sp>
        <p:nvSpPr>
          <p:cNvPr id="27" name="Text 25"/>
          <p:cNvSpPr/>
          <p:nvPr/>
        </p:nvSpPr>
        <p:spPr>
          <a:xfrm>
            <a:off x="1344168" y="5513832"/>
            <a:ext cx="6172200" cy="219456"/>
          </a:xfrm>
          <a:prstGeom prst="rect">
            <a:avLst/>
          </a:prstGeom>
          <a:noFill/>
          <a:ln/>
        </p:spPr>
        <p:txBody>
          <a:bodyPr wrap="square" lIns="0" tIns="0" rIns="0" bIns="0" rtlCol="0" anchor="ctr"/>
          <a:lstStyle/>
          <a:p>
            <a:pPr algn="l" indent="0" marL="0">
              <a:buNone/>
            </a:pPr>
            <a:r>
              <a:rPr lang="en-US" sz="1150" dirty="0">
                <a:solidFill>
                  <a:srgbClr val="83837B"/>
                </a:solidFill>
                <a:latin typeface="Calibri" pitchFamily="34" charset="0"/>
                <a:ea typeface="Calibri" pitchFamily="34" charset="-122"/>
                <a:cs typeface="Calibri" pitchFamily="34" charset="-120"/>
              </a:rPr>
              <a:t>Dismiss with reason</a:t>
            </a:r>
            <a:endParaRPr lang="en-US" sz="1150" dirty="0"/>
          </a:p>
        </p:txBody>
      </p:sp>
      <p:sp>
        <p:nvSpPr>
          <p:cNvPr id="28" name="Text 26"/>
          <p:cNvSpPr/>
          <p:nvPr/>
        </p:nvSpPr>
        <p:spPr>
          <a:xfrm>
            <a:off x="8275320" y="2770632"/>
            <a:ext cx="3139135" cy="201168"/>
          </a:xfrm>
          <a:prstGeom prst="rect">
            <a:avLst/>
          </a:prstGeom>
          <a:noFill/>
          <a:ln/>
        </p:spPr>
        <p:txBody>
          <a:bodyPr wrap="square" lIns="0" tIns="0" rIns="0" bIns="0" rtlCol="0" anchor="ctr"/>
          <a:lstStyle/>
          <a:p>
            <a:pPr algn="l" indent="0" marL="0">
              <a:buNone/>
            </a:pPr>
            <a:r>
              <a:rPr lang="en-US" sz="950" b="1" spc="130" kern="0" dirty="0">
                <a:solidFill>
                  <a:srgbClr val="83837B"/>
                </a:solidFill>
                <a:latin typeface="Calibri" pitchFamily="34" charset="0"/>
                <a:ea typeface="Calibri" pitchFamily="34" charset="-122"/>
                <a:cs typeface="Calibri" pitchFamily="34" charset="-120"/>
              </a:rPr>
              <a:t>DOCUMENTATION</a:t>
            </a:r>
            <a:endParaRPr lang="en-US" sz="950" dirty="0"/>
          </a:p>
        </p:txBody>
      </p:sp>
      <p:sp>
        <p:nvSpPr>
          <p:cNvPr id="29" name="Text 27"/>
          <p:cNvSpPr/>
          <p:nvPr/>
        </p:nvSpPr>
        <p:spPr>
          <a:xfrm>
            <a:off x="8275320" y="2990088"/>
            <a:ext cx="3139135" cy="640080"/>
          </a:xfrm>
          <a:prstGeom prst="rect">
            <a:avLst/>
          </a:prstGeom>
          <a:noFill/>
          <a:ln/>
        </p:spPr>
        <p:txBody>
          <a:bodyPr wrap="square" lIns="0" tIns="0" rIns="0" bIns="0" rtlCol="0" anchor="t"/>
          <a:lstStyle/>
          <a:p>
            <a:pPr algn="l" indent="0" marL="0">
              <a:lnSpc>
                <a:spcPct val="110000"/>
              </a:lnSpc>
              <a:buNone/>
            </a:pPr>
            <a:r>
              <a:rPr lang="en-US" sz="1250" dirty="0">
                <a:solidFill>
                  <a:srgbClr val="1B1B18"/>
                </a:solidFill>
                <a:latin typeface="Calibri" pitchFamily="34" charset="0"/>
                <a:ea typeface="Calibri" pitchFamily="34" charset="-122"/>
                <a:cs typeface="Calibri" pitchFamily="34" charset="-120"/>
              </a:rPr>
              <a:t>The confirmed review is written to the August Health / EHR record.</a:t>
            </a:r>
            <a:endParaRPr lang="en-US" sz="1250" dirty="0"/>
          </a:p>
        </p:txBody>
      </p:sp>
      <p:sp>
        <p:nvSpPr>
          <p:cNvPr id="30" name="Shape 28"/>
          <p:cNvSpPr/>
          <p:nvPr/>
        </p:nvSpPr>
        <p:spPr>
          <a:xfrm>
            <a:off x="8275320" y="3831336"/>
            <a:ext cx="3139135" cy="0"/>
          </a:xfrm>
          <a:prstGeom prst="line">
            <a:avLst/>
          </a:prstGeom>
          <a:noFill/>
          <a:ln w="9525">
            <a:solidFill>
              <a:srgbClr val="E2E2DC"/>
            </a:solidFill>
            <a:prstDash val="solid"/>
          </a:ln>
        </p:spPr>
      </p:sp>
      <p:sp>
        <p:nvSpPr>
          <p:cNvPr id="31" name="Text 29"/>
          <p:cNvSpPr/>
          <p:nvPr/>
        </p:nvSpPr>
        <p:spPr>
          <a:xfrm>
            <a:off x="8275320" y="3977640"/>
            <a:ext cx="3139135" cy="201168"/>
          </a:xfrm>
          <a:prstGeom prst="rect">
            <a:avLst/>
          </a:prstGeom>
          <a:noFill/>
          <a:ln/>
        </p:spPr>
        <p:txBody>
          <a:bodyPr wrap="square" lIns="0" tIns="0" rIns="0" bIns="0" rtlCol="0" anchor="ctr"/>
          <a:lstStyle/>
          <a:p>
            <a:pPr algn="l" indent="0" marL="0">
              <a:buNone/>
            </a:pPr>
            <a:r>
              <a:rPr lang="en-US" sz="950" b="1" spc="130" kern="0" dirty="0">
                <a:solidFill>
                  <a:srgbClr val="83837B"/>
                </a:solidFill>
                <a:latin typeface="Calibri" pitchFamily="34" charset="0"/>
                <a:ea typeface="Calibri" pitchFamily="34" charset="-122"/>
                <a:cs typeface="Calibri" pitchFamily="34" charset="-120"/>
              </a:rPr>
              <a:t>ADOPTION</a:t>
            </a:r>
            <a:endParaRPr lang="en-US" sz="950" dirty="0"/>
          </a:p>
        </p:txBody>
      </p:sp>
      <p:sp>
        <p:nvSpPr>
          <p:cNvPr id="32" name="Text 30"/>
          <p:cNvSpPr/>
          <p:nvPr/>
        </p:nvSpPr>
        <p:spPr>
          <a:xfrm>
            <a:off x="8275320" y="4197096"/>
            <a:ext cx="3139135" cy="1280160"/>
          </a:xfrm>
          <a:prstGeom prst="rect">
            <a:avLst/>
          </a:prstGeom>
          <a:noFill/>
          <a:ln/>
        </p:spPr>
        <p:txBody>
          <a:bodyPr wrap="square" lIns="0" tIns="0" rIns="0" bIns="0" rtlCol="0" anchor="t"/>
          <a:lstStyle/>
          <a:p>
            <a:pPr algn="l" indent="0" marL="0">
              <a:lnSpc>
                <a:spcPct val="114000"/>
              </a:lnSpc>
              <a:buNone/>
            </a:pPr>
            <a:r>
              <a:rPr lang="en-US" sz="1250" dirty="0">
                <a:solidFill>
                  <a:srgbClr val="1B1B18"/>
                </a:solidFill>
                <a:latin typeface="Calibri" pitchFamily="34" charset="0"/>
                <a:ea typeface="Calibri" pitchFamily="34" charset="-122"/>
                <a:cs typeface="Calibri" pitchFamily="34" charset="-120"/>
              </a:rPr>
              <a:t>One clinical owner. One existing cadence. Not a new dashboard for every floor caregiver.</a:t>
            </a:r>
            <a:endParaRPr lang="en-US" sz="1250" dirty="0"/>
          </a:p>
        </p:txBody>
      </p:sp>
      <p:sp>
        <p:nvSpPr>
          <p:cNvPr id="33" name="Text 31"/>
          <p:cNvSpPr/>
          <p:nvPr/>
        </p:nvSpPr>
        <p:spPr>
          <a:xfrm>
            <a:off x="777240" y="6473952"/>
            <a:ext cx="5486400" cy="237744"/>
          </a:xfrm>
          <a:prstGeom prst="rect">
            <a:avLst/>
          </a:prstGeom>
          <a:noFill/>
          <a:ln/>
        </p:spPr>
        <p:txBody>
          <a:bodyPr wrap="square" lIns="0" tIns="0" rIns="0" bIns="0" rtlCol="0" anchor="ctr"/>
          <a:lstStyle/>
          <a:p>
            <a:pPr algn="l" indent="0" marL="0">
              <a:buNone/>
            </a:pPr>
            <a:r>
              <a:rPr lang="en-US" sz="850" dirty="0">
                <a:solidFill>
                  <a:srgbClr val="83837B"/>
                </a:solidFill>
                <a:latin typeface="Calibri" pitchFamily="34" charset="0"/>
                <a:ea typeface="Calibri" pitchFamily="34" charset="-122"/>
                <a:cs typeface="Calibri" pitchFamily="34" charset="-120"/>
              </a:rPr>
              <a:t>Teton  ·  Product recommendation</a:t>
            </a:r>
            <a:endParaRPr lang="en-US" sz="850" dirty="0"/>
          </a:p>
        </p:txBody>
      </p:sp>
      <p:sp>
        <p:nvSpPr>
          <p:cNvPr id="34" name="Text 32"/>
          <p:cNvSpPr/>
          <p:nvPr/>
        </p:nvSpPr>
        <p:spPr>
          <a:xfrm>
            <a:off x="10500055" y="6473952"/>
            <a:ext cx="914400" cy="237744"/>
          </a:xfrm>
          <a:prstGeom prst="rect">
            <a:avLst/>
          </a:prstGeom>
          <a:noFill/>
          <a:ln/>
        </p:spPr>
        <p:txBody>
          <a:bodyPr wrap="square" lIns="0" tIns="0" rIns="0" bIns="0" rtlCol="0" anchor="ctr"/>
          <a:lstStyle/>
          <a:p>
            <a:pPr algn="r" indent="0" marL="0">
              <a:buNone/>
            </a:pPr>
            <a:r>
              <a:rPr lang="en-US" sz="850" dirty="0">
                <a:solidFill>
                  <a:srgbClr val="83837B"/>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8F5"/>
        </a:solidFill>
      </p:bgPr>
    </p:bg>
    <p:spTree>
      <p:nvGrpSpPr>
        <p:cNvPr id="1" name=""/>
        <p:cNvGrpSpPr/>
        <p:nvPr/>
      </p:nvGrpSpPr>
      <p:grpSpPr>
        <a:xfrm>
          <a:off x="0" y="0"/>
          <a:ext cx="0" cy="0"/>
          <a:chOff x="0" y="0"/>
          <a:chExt cx="0" cy="0"/>
        </a:xfrm>
      </p:grpSpPr>
      <p:sp>
        <p:nvSpPr>
          <p:cNvPr id="2" name="Shape 0"/>
          <p:cNvSpPr/>
          <p:nvPr/>
        </p:nvSpPr>
        <p:spPr>
          <a:xfrm>
            <a:off x="777240" y="384048"/>
            <a:ext cx="100584" cy="100584"/>
          </a:xfrm>
          <a:prstGeom prst="ellipse">
            <a:avLst/>
          </a:prstGeom>
          <a:solidFill>
            <a:srgbClr val="5A6CE6"/>
          </a:solidFill>
          <a:ln/>
        </p:spPr>
      </p:sp>
      <p:sp>
        <p:nvSpPr>
          <p:cNvPr id="3" name="Text 1"/>
          <p:cNvSpPr/>
          <p:nvPr/>
        </p:nvSpPr>
        <p:spPr>
          <a:xfrm>
            <a:off x="978408" y="320040"/>
            <a:ext cx="9144000" cy="237744"/>
          </a:xfrm>
          <a:prstGeom prst="rect">
            <a:avLst/>
          </a:prstGeom>
          <a:noFill/>
          <a:ln/>
        </p:spPr>
        <p:txBody>
          <a:bodyPr wrap="square" lIns="0" tIns="0" rIns="0" bIns="0" rtlCol="0" anchor="ctr"/>
          <a:lstStyle/>
          <a:p>
            <a:pPr algn="l" indent="0" marL="0">
              <a:buNone/>
            </a:pPr>
            <a:r>
              <a:rPr lang="en-US" sz="1050" b="1" spc="160" kern="0" dirty="0">
                <a:solidFill>
                  <a:srgbClr val="83837B"/>
                </a:solidFill>
                <a:latin typeface="Calibri" pitchFamily="34" charset="0"/>
                <a:ea typeface="Calibri" pitchFamily="34" charset="-122"/>
                <a:cs typeface="Calibri" pitchFamily="34" charset="-120"/>
              </a:rPr>
              <a:t>DE-RISKING</a:t>
            </a:r>
            <a:endParaRPr lang="en-US" sz="1050" dirty="0"/>
          </a:p>
        </p:txBody>
      </p:sp>
      <p:sp>
        <p:nvSpPr>
          <p:cNvPr id="4" name="Text 2"/>
          <p:cNvSpPr/>
          <p:nvPr/>
        </p:nvSpPr>
        <p:spPr>
          <a:xfrm>
            <a:off x="777240" y="676656"/>
            <a:ext cx="10332720" cy="822960"/>
          </a:xfrm>
          <a:prstGeom prst="rect">
            <a:avLst/>
          </a:prstGeom>
          <a:noFill/>
          <a:ln/>
        </p:spPr>
        <p:txBody>
          <a:bodyPr wrap="square" lIns="0" tIns="0" rIns="0" bIns="0" rtlCol="0" anchor="t"/>
          <a:lstStyle/>
          <a:p>
            <a:pPr algn="l" indent="0" marL="0">
              <a:lnSpc>
                <a:spcPct val="102000"/>
              </a:lnSpc>
              <a:buNone/>
            </a:pPr>
            <a:r>
              <a:rPr lang="en-US" sz="2500" b="1" dirty="0">
                <a:solidFill>
                  <a:srgbClr val="1B1B18"/>
                </a:solidFill>
                <a:latin typeface="Calibri" pitchFamily="34" charset="0"/>
                <a:ea typeface="Calibri" pitchFamily="34" charset="-122"/>
                <a:cs typeface="Calibri" pitchFamily="34" charset="-120"/>
              </a:rPr>
              <a:t>What must be true before we scale the build</a:t>
            </a:r>
            <a:endParaRPr lang="en-US" sz="2500" dirty="0"/>
          </a:p>
        </p:txBody>
      </p:sp>
      <p:sp>
        <p:nvSpPr>
          <p:cNvPr id="5" name="Text 3"/>
          <p:cNvSpPr/>
          <p:nvPr/>
        </p:nvSpPr>
        <p:spPr>
          <a:xfrm>
            <a:off x="777240" y="1481328"/>
            <a:ext cx="9875520" cy="502920"/>
          </a:xfrm>
          <a:prstGeom prst="rect">
            <a:avLst/>
          </a:prstGeom>
          <a:noFill/>
          <a:ln/>
        </p:spPr>
        <p:txBody>
          <a:bodyPr wrap="square" lIns="0" tIns="0" rIns="0" bIns="0" rtlCol="0" anchor="t"/>
          <a:lstStyle/>
          <a:p>
            <a:pPr algn="l" indent="0" marL="0">
              <a:lnSpc>
                <a:spcPct val="112000"/>
              </a:lnSpc>
              <a:buNone/>
            </a:pPr>
            <a:r>
              <a:rPr lang="en-US" sz="1300" dirty="0">
                <a:solidFill>
                  <a:srgbClr val="83837B"/>
                </a:solidFill>
                <a:latin typeface="Calibri" pitchFamily="34" charset="0"/>
                <a:ea typeface="Calibri" pitchFamily="34" charset="-122"/>
                <a:cs typeface="Calibri" pitchFamily="34" charset="-120"/>
              </a:rPr>
              <a:t>Signal quality gates the bet. Workflow fit shapes the product. Behavior change proves value.</a:t>
            </a:r>
            <a:endParaRPr lang="en-US" sz="1300" dirty="0"/>
          </a:p>
        </p:txBody>
      </p:sp>
      <p:sp>
        <p:nvSpPr>
          <p:cNvPr id="6" name="Text 4"/>
          <p:cNvSpPr/>
          <p:nvPr/>
        </p:nvSpPr>
        <p:spPr>
          <a:xfrm>
            <a:off x="777240" y="2011680"/>
            <a:ext cx="457200" cy="365760"/>
          </a:xfrm>
          <a:prstGeom prst="rect">
            <a:avLst/>
          </a:prstGeom>
          <a:noFill/>
          <a:ln/>
        </p:spPr>
        <p:txBody>
          <a:bodyPr wrap="square" lIns="0" tIns="0" rIns="0" bIns="0" rtlCol="0" anchor="t"/>
          <a:lstStyle/>
          <a:p>
            <a:pPr algn="l" indent="0" marL="0">
              <a:buNone/>
            </a:pPr>
            <a:r>
              <a:rPr lang="en-US" sz="2000" b="1" dirty="0">
                <a:solidFill>
                  <a:srgbClr val="5A6CE6"/>
                </a:solidFill>
                <a:latin typeface="Calibri" pitchFamily="34" charset="0"/>
                <a:ea typeface="Calibri" pitchFamily="34" charset="-122"/>
                <a:cs typeface="Calibri" pitchFamily="34" charset="-120"/>
              </a:rPr>
              <a:t>1</a:t>
            </a:r>
            <a:endParaRPr lang="en-US" sz="2000" dirty="0"/>
          </a:p>
        </p:txBody>
      </p:sp>
      <p:sp>
        <p:nvSpPr>
          <p:cNvPr id="7" name="Text 5"/>
          <p:cNvSpPr/>
          <p:nvPr/>
        </p:nvSpPr>
        <p:spPr>
          <a:xfrm>
            <a:off x="1234440" y="2103120"/>
            <a:ext cx="3179978" cy="201168"/>
          </a:xfrm>
          <a:prstGeom prst="rect">
            <a:avLst/>
          </a:prstGeom>
          <a:noFill/>
          <a:ln/>
        </p:spPr>
        <p:txBody>
          <a:bodyPr wrap="square" lIns="0" tIns="0" rIns="0" bIns="0" rtlCol="0" anchor="ctr"/>
          <a:lstStyle/>
          <a:p>
            <a:pPr algn="l" indent="0" marL="0">
              <a:buNone/>
            </a:pPr>
            <a:r>
              <a:rPr lang="en-US" sz="950" b="1" spc="130" kern="0" dirty="0">
                <a:solidFill>
                  <a:srgbClr val="83837B"/>
                </a:solidFill>
                <a:latin typeface="Calibri" pitchFamily="34" charset="0"/>
                <a:ea typeface="Calibri" pitchFamily="34" charset="-122"/>
                <a:cs typeface="Calibri" pitchFamily="34" charset="-120"/>
              </a:rPr>
              <a:t>GATE · SIGNAL</a:t>
            </a:r>
            <a:endParaRPr lang="en-US" sz="950" dirty="0"/>
          </a:p>
        </p:txBody>
      </p:sp>
      <p:sp>
        <p:nvSpPr>
          <p:cNvPr id="8" name="Text 6"/>
          <p:cNvSpPr/>
          <p:nvPr/>
        </p:nvSpPr>
        <p:spPr>
          <a:xfrm>
            <a:off x="777240" y="2542032"/>
            <a:ext cx="3179978" cy="731520"/>
          </a:xfrm>
          <a:prstGeom prst="rect">
            <a:avLst/>
          </a:prstGeom>
          <a:noFill/>
          <a:ln/>
        </p:spPr>
        <p:txBody>
          <a:bodyPr wrap="square" lIns="0" tIns="0" rIns="0" bIns="0" rtlCol="0" anchor="t"/>
          <a:lstStyle/>
          <a:p>
            <a:pPr algn="l" indent="0" marL="0">
              <a:lnSpc>
                <a:spcPct val="106000"/>
              </a:lnSpc>
              <a:buNone/>
            </a:pPr>
            <a:r>
              <a:rPr lang="en-US" sz="1350" b="1" dirty="0">
                <a:solidFill>
                  <a:srgbClr val="1B1B18"/>
                </a:solidFill>
                <a:latin typeface="Calibri" pitchFamily="34" charset="0"/>
                <a:ea typeface="Calibri" pitchFamily="34" charset="-122"/>
                <a:cs typeface="Calibri" pitchFamily="34" charset="-120"/>
              </a:rPr>
              <a:t>Can Teton identify meaningful decline weeks before a crisis?</a:t>
            </a:r>
            <a:endParaRPr lang="en-US" sz="1350" dirty="0"/>
          </a:p>
        </p:txBody>
      </p:sp>
      <p:sp>
        <p:nvSpPr>
          <p:cNvPr id="9" name="Text 7"/>
          <p:cNvSpPr/>
          <p:nvPr/>
        </p:nvSpPr>
        <p:spPr>
          <a:xfrm>
            <a:off x="777240" y="3364992"/>
            <a:ext cx="3179978" cy="201168"/>
          </a:xfrm>
          <a:prstGeom prst="rect">
            <a:avLst/>
          </a:prstGeom>
          <a:noFill/>
          <a:ln/>
        </p:spPr>
        <p:txBody>
          <a:bodyPr wrap="square" lIns="0" tIns="0" rIns="0" bIns="0" rtlCol="0" anchor="ctr"/>
          <a:lstStyle/>
          <a:p>
            <a:pPr algn="l" indent="0" marL="0">
              <a:buNone/>
            </a:pPr>
            <a:r>
              <a:rPr lang="en-US" sz="850" b="1" spc="130" kern="0" dirty="0">
                <a:solidFill>
                  <a:srgbClr val="83837B"/>
                </a:solidFill>
                <a:latin typeface="Calibri" pitchFamily="34" charset="0"/>
                <a:ea typeface="Calibri" pitchFamily="34" charset="-122"/>
                <a:cs typeface="Calibri" pitchFamily="34" charset="-120"/>
              </a:rPr>
              <a:t>TEST</a:t>
            </a:r>
            <a:endParaRPr lang="en-US" sz="850" dirty="0"/>
          </a:p>
        </p:txBody>
      </p:sp>
      <p:sp>
        <p:nvSpPr>
          <p:cNvPr id="10" name="Text 8"/>
          <p:cNvSpPr/>
          <p:nvPr/>
        </p:nvSpPr>
        <p:spPr>
          <a:xfrm>
            <a:off x="777240" y="3566160"/>
            <a:ext cx="3179978" cy="914400"/>
          </a:xfrm>
          <a:prstGeom prst="rect">
            <a:avLst/>
          </a:prstGeom>
          <a:noFill/>
          <a:ln/>
        </p:spPr>
        <p:txBody>
          <a:bodyPr wrap="square" lIns="0" tIns="0" rIns="0" bIns="0" rtlCol="0" anchor="t"/>
          <a:lstStyle/>
          <a:p>
            <a:pPr algn="l" indent="0" marL="0">
              <a:lnSpc>
                <a:spcPct val="110000"/>
              </a:lnSpc>
              <a:buNone/>
            </a:pPr>
            <a:r>
              <a:rPr lang="en-US" sz="1100" dirty="0">
                <a:solidFill>
                  <a:srgbClr val="83837B"/>
                </a:solidFill>
                <a:latin typeface="Calibri" pitchFamily="34" charset="0"/>
                <a:ea typeface="Calibri" pitchFamily="34" charset="-122"/>
                <a:cs typeface="Calibri" pitchFamily="34" charset="-120"/>
              </a:rPr>
              <a:t>Retrospective review of care-level changes, falls, hospitalizations, and change-of-condition events across two to three buildings.</a:t>
            </a:r>
            <a:endParaRPr lang="en-US" sz="1100" dirty="0"/>
          </a:p>
        </p:txBody>
      </p:sp>
      <p:sp>
        <p:nvSpPr>
          <p:cNvPr id="11" name="Text 9"/>
          <p:cNvSpPr/>
          <p:nvPr/>
        </p:nvSpPr>
        <p:spPr>
          <a:xfrm>
            <a:off x="777240" y="4498848"/>
            <a:ext cx="3179978" cy="201168"/>
          </a:xfrm>
          <a:prstGeom prst="rect">
            <a:avLst/>
          </a:prstGeom>
          <a:noFill/>
          <a:ln/>
        </p:spPr>
        <p:txBody>
          <a:bodyPr wrap="square" lIns="0" tIns="0" rIns="0" bIns="0" rtlCol="0" anchor="ctr"/>
          <a:lstStyle/>
          <a:p>
            <a:pPr algn="l" indent="0" marL="0">
              <a:buNone/>
            </a:pPr>
            <a:r>
              <a:rPr lang="en-US" sz="850" b="1" spc="130" kern="0" dirty="0">
                <a:solidFill>
                  <a:srgbClr val="5A6CE6"/>
                </a:solidFill>
                <a:latin typeface="Calibri" pitchFamily="34" charset="0"/>
                <a:ea typeface="Calibri" pitchFamily="34" charset="-122"/>
                <a:cs typeface="Calibri" pitchFamily="34" charset="-120"/>
              </a:rPr>
              <a:t>PROCEED IF</a:t>
            </a:r>
            <a:endParaRPr lang="en-US" sz="850" dirty="0"/>
          </a:p>
        </p:txBody>
      </p:sp>
      <p:sp>
        <p:nvSpPr>
          <p:cNvPr id="12" name="Text 10"/>
          <p:cNvSpPr/>
          <p:nvPr/>
        </p:nvSpPr>
        <p:spPr>
          <a:xfrm>
            <a:off x="777240" y="4700016"/>
            <a:ext cx="3179978" cy="731520"/>
          </a:xfrm>
          <a:prstGeom prst="rect">
            <a:avLst/>
          </a:prstGeom>
          <a:noFill/>
          <a:ln/>
        </p:spPr>
        <p:txBody>
          <a:bodyPr wrap="square" lIns="0" tIns="0" rIns="0" bIns="0" rtlCol="0" anchor="t"/>
          <a:lstStyle/>
          <a:p>
            <a:pPr algn="l" indent="0" marL="0">
              <a:lnSpc>
                <a:spcPct val="110000"/>
              </a:lnSpc>
              <a:buNone/>
            </a:pPr>
            <a:r>
              <a:rPr lang="en-US" sz="1100" dirty="0">
                <a:solidFill>
                  <a:srgbClr val="1B1B18"/>
                </a:solidFill>
                <a:latin typeface="Calibri" pitchFamily="34" charset="0"/>
                <a:ea typeface="Calibri" pitchFamily="34" charset="-122"/>
                <a:cs typeface="Calibri" pitchFamily="34" charset="-120"/>
              </a:rPr>
              <a:t>Clinical reviewers agree the signal would have warranted earlier review.</a:t>
            </a:r>
            <a:endParaRPr lang="en-US" sz="1100" dirty="0"/>
          </a:p>
        </p:txBody>
      </p:sp>
      <p:sp>
        <p:nvSpPr>
          <p:cNvPr id="13" name="Shape 11"/>
          <p:cNvSpPr/>
          <p:nvPr/>
        </p:nvSpPr>
        <p:spPr>
          <a:xfrm>
            <a:off x="4231538" y="2011680"/>
            <a:ext cx="0" cy="2926080"/>
          </a:xfrm>
          <a:prstGeom prst="line">
            <a:avLst/>
          </a:prstGeom>
          <a:noFill/>
          <a:ln w="9525">
            <a:solidFill>
              <a:srgbClr val="E2E2DC"/>
            </a:solidFill>
            <a:prstDash val="solid"/>
          </a:ln>
        </p:spPr>
      </p:sp>
      <p:sp>
        <p:nvSpPr>
          <p:cNvPr id="14" name="Text 12"/>
          <p:cNvSpPr/>
          <p:nvPr/>
        </p:nvSpPr>
        <p:spPr>
          <a:xfrm>
            <a:off x="4505858" y="2011680"/>
            <a:ext cx="457200" cy="365760"/>
          </a:xfrm>
          <a:prstGeom prst="rect">
            <a:avLst/>
          </a:prstGeom>
          <a:noFill/>
          <a:ln/>
        </p:spPr>
        <p:txBody>
          <a:bodyPr wrap="square" lIns="0" tIns="0" rIns="0" bIns="0" rtlCol="0" anchor="t"/>
          <a:lstStyle/>
          <a:p>
            <a:pPr algn="l" indent="0" marL="0">
              <a:buNone/>
            </a:pPr>
            <a:r>
              <a:rPr lang="en-US" sz="2000" b="1" dirty="0">
                <a:solidFill>
                  <a:srgbClr val="5A6CE6"/>
                </a:solidFill>
                <a:latin typeface="Calibri" pitchFamily="34" charset="0"/>
                <a:ea typeface="Calibri" pitchFamily="34" charset="-122"/>
                <a:cs typeface="Calibri" pitchFamily="34" charset="-120"/>
              </a:rPr>
              <a:t>2</a:t>
            </a:r>
            <a:endParaRPr lang="en-US" sz="2000" dirty="0"/>
          </a:p>
        </p:txBody>
      </p:sp>
      <p:sp>
        <p:nvSpPr>
          <p:cNvPr id="15" name="Text 13"/>
          <p:cNvSpPr/>
          <p:nvPr/>
        </p:nvSpPr>
        <p:spPr>
          <a:xfrm>
            <a:off x="4963058" y="2103120"/>
            <a:ext cx="3179978" cy="201168"/>
          </a:xfrm>
          <a:prstGeom prst="rect">
            <a:avLst/>
          </a:prstGeom>
          <a:noFill/>
          <a:ln/>
        </p:spPr>
        <p:txBody>
          <a:bodyPr wrap="square" lIns="0" tIns="0" rIns="0" bIns="0" rtlCol="0" anchor="ctr"/>
          <a:lstStyle/>
          <a:p>
            <a:pPr algn="l" indent="0" marL="0">
              <a:buNone/>
            </a:pPr>
            <a:r>
              <a:rPr lang="en-US" sz="950" b="1" spc="130" kern="0" dirty="0">
                <a:solidFill>
                  <a:srgbClr val="83837B"/>
                </a:solidFill>
                <a:latin typeface="Calibri" pitchFamily="34" charset="0"/>
                <a:ea typeface="Calibri" pitchFamily="34" charset="-122"/>
                <a:cs typeface="Calibri" pitchFamily="34" charset="-120"/>
              </a:rPr>
              <a:t>GATE · WORKFLOW</a:t>
            </a:r>
            <a:endParaRPr lang="en-US" sz="950" dirty="0"/>
          </a:p>
        </p:txBody>
      </p:sp>
      <p:sp>
        <p:nvSpPr>
          <p:cNvPr id="16" name="Text 14"/>
          <p:cNvSpPr/>
          <p:nvPr/>
        </p:nvSpPr>
        <p:spPr>
          <a:xfrm>
            <a:off x="4505858" y="2542032"/>
            <a:ext cx="3179978" cy="731520"/>
          </a:xfrm>
          <a:prstGeom prst="rect">
            <a:avLst/>
          </a:prstGeom>
          <a:noFill/>
          <a:ln/>
        </p:spPr>
        <p:txBody>
          <a:bodyPr wrap="square" lIns="0" tIns="0" rIns="0" bIns="0" rtlCol="0" anchor="t"/>
          <a:lstStyle/>
          <a:p>
            <a:pPr algn="l" indent="0" marL="0">
              <a:lnSpc>
                <a:spcPct val="106000"/>
              </a:lnSpc>
              <a:buNone/>
            </a:pPr>
            <a:r>
              <a:rPr lang="en-US" sz="1350" b="1" dirty="0">
                <a:solidFill>
                  <a:srgbClr val="1B1B18"/>
                </a:solidFill>
                <a:latin typeface="Calibri" pitchFamily="34" charset="0"/>
                <a:ea typeface="Calibri" pitchFamily="34" charset="-122"/>
                <a:cs typeface="Calibri" pitchFamily="34" charset="-120"/>
              </a:rPr>
              <a:t>Can one named role review candidates inside an existing cadence?</a:t>
            </a:r>
            <a:endParaRPr lang="en-US" sz="1350" dirty="0"/>
          </a:p>
        </p:txBody>
      </p:sp>
      <p:sp>
        <p:nvSpPr>
          <p:cNvPr id="17" name="Text 15"/>
          <p:cNvSpPr/>
          <p:nvPr/>
        </p:nvSpPr>
        <p:spPr>
          <a:xfrm>
            <a:off x="4505858" y="3364992"/>
            <a:ext cx="3179978" cy="201168"/>
          </a:xfrm>
          <a:prstGeom prst="rect">
            <a:avLst/>
          </a:prstGeom>
          <a:noFill/>
          <a:ln/>
        </p:spPr>
        <p:txBody>
          <a:bodyPr wrap="square" lIns="0" tIns="0" rIns="0" bIns="0" rtlCol="0" anchor="ctr"/>
          <a:lstStyle/>
          <a:p>
            <a:pPr algn="l" indent="0" marL="0">
              <a:buNone/>
            </a:pPr>
            <a:r>
              <a:rPr lang="en-US" sz="850" b="1" spc="130" kern="0" dirty="0">
                <a:solidFill>
                  <a:srgbClr val="83837B"/>
                </a:solidFill>
                <a:latin typeface="Calibri" pitchFamily="34" charset="0"/>
                <a:ea typeface="Calibri" pitchFamily="34" charset="-122"/>
                <a:cs typeface="Calibri" pitchFamily="34" charset="-120"/>
              </a:rPr>
              <a:t>TEST</a:t>
            </a:r>
            <a:endParaRPr lang="en-US" sz="850" dirty="0"/>
          </a:p>
        </p:txBody>
      </p:sp>
      <p:sp>
        <p:nvSpPr>
          <p:cNvPr id="18" name="Text 16"/>
          <p:cNvSpPr/>
          <p:nvPr/>
        </p:nvSpPr>
        <p:spPr>
          <a:xfrm>
            <a:off x="4505858" y="3566160"/>
            <a:ext cx="3179978" cy="914400"/>
          </a:xfrm>
          <a:prstGeom prst="rect">
            <a:avLst/>
          </a:prstGeom>
          <a:noFill/>
          <a:ln/>
        </p:spPr>
        <p:txBody>
          <a:bodyPr wrap="square" lIns="0" tIns="0" rIns="0" bIns="0" rtlCol="0" anchor="t"/>
          <a:lstStyle/>
          <a:p>
            <a:pPr algn="l" indent="0" marL="0">
              <a:lnSpc>
                <a:spcPct val="110000"/>
              </a:lnSpc>
              <a:buNone/>
            </a:pPr>
            <a:r>
              <a:rPr lang="en-US" sz="1100" dirty="0">
                <a:solidFill>
                  <a:srgbClr val="83837B"/>
                </a:solidFill>
                <a:latin typeface="Calibri" pitchFamily="34" charset="0"/>
                <a:ea typeface="Calibri" pitchFamily="34" charset="-122"/>
                <a:cs typeface="Calibri" pitchFamily="34" charset="-120"/>
              </a:rPr>
              <a:t>Shadow huddles, reassessments, and family-conference prep to see where review would fit.</a:t>
            </a:r>
            <a:endParaRPr lang="en-US" sz="1100" dirty="0"/>
          </a:p>
        </p:txBody>
      </p:sp>
      <p:sp>
        <p:nvSpPr>
          <p:cNvPr id="19" name="Text 17"/>
          <p:cNvSpPr/>
          <p:nvPr/>
        </p:nvSpPr>
        <p:spPr>
          <a:xfrm>
            <a:off x="4505858" y="4498848"/>
            <a:ext cx="3179978" cy="201168"/>
          </a:xfrm>
          <a:prstGeom prst="rect">
            <a:avLst/>
          </a:prstGeom>
          <a:noFill/>
          <a:ln/>
        </p:spPr>
        <p:txBody>
          <a:bodyPr wrap="square" lIns="0" tIns="0" rIns="0" bIns="0" rtlCol="0" anchor="ctr"/>
          <a:lstStyle/>
          <a:p>
            <a:pPr algn="l" indent="0" marL="0">
              <a:buNone/>
            </a:pPr>
            <a:r>
              <a:rPr lang="en-US" sz="850" b="1" spc="130" kern="0" dirty="0">
                <a:solidFill>
                  <a:srgbClr val="5A6CE6"/>
                </a:solidFill>
                <a:latin typeface="Calibri" pitchFamily="34" charset="0"/>
                <a:ea typeface="Calibri" pitchFamily="34" charset="-122"/>
                <a:cs typeface="Calibri" pitchFamily="34" charset="-120"/>
              </a:rPr>
              <a:t>PROCEED IF</a:t>
            </a:r>
            <a:endParaRPr lang="en-US" sz="850" dirty="0"/>
          </a:p>
        </p:txBody>
      </p:sp>
      <p:sp>
        <p:nvSpPr>
          <p:cNvPr id="20" name="Text 18"/>
          <p:cNvSpPr/>
          <p:nvPr/>
        </p:nvSpPr>
        <p:spPr>
          <a:xfrm>
            <a:off x="4505858" y="4700016"/>
            <a:ext cx="3179978" cy="731520"/>
          </a:xfrm>
          <a:prstGeom prst="rect">
            <a:avLst/>
          </a:prstGeom>
          <a:noFill/>
          <a:ln/>
        </p:spPr>
        <p:txBody>
          <a:bodyPr wrap="square" lIns="0" tIns="0" rIns="0" bIns="0" rtlCol="0" anchor="t"/>
          <a:lstStyle/>
          <a:p>
            <a:pPr algn="l" indent="0" marL="0">
              <a:lnSpc>
                <a:spcPct val="110000"/>
              </a:lnSpc>
              <a:buNone/>
            </a:pPr>
            <a:r>
              <a:rPr lang="en-US" sz="1100" dirty="0">
                <a:solidFill>
                  <a:srgbClr val="1B1B18"/>
                </a:solidFill>
                <a:latin typeface="Calibri" pitchFamily="34" charset="0"/>
                <a:ea typeface="Calibri" pitchFamily="34" charset="-122"/>
                <a:cs typeface="Calibri" pitchFamily="34" charset="-120"/>
              </a:rPr>
              <a:t>A clinical owner reviews a small shortlist without creating another inbox.</a:t>
            </a:r>
            <a:endParaRPr lang="en-US" sz="1100" dirty="0"/>
          </a:p>
        </p:txBody>
      </p:sp>
      <p:sp>
        <p:nvSpPr>
          <p:cNvPr id="21" name="Shape 19"/>
          <p:cNvSpPr/>
          <p:nvPr/>
        </p:nvSpPr>
        <p:spPr>
          <a:xfrm>
            <a:off x="7960157" y="2011680"/>
            <a:ext cx="0" cy="2926080"/>
          </a:xfrm>
          <a:prstGeom prst="line">
            <a:avLst/>
          </a:prstGeom>
          <a:noFill/>
          <a:ln w="9525">
            <a:solidFill>
              <a:srgbClr val="E2E2DC"/>
            </a:solidFill>
            <a:prstDash val="solid"/>
          </a:ln>
        </p:spPr>
      </p:sp>
      <p:sp>
        <p:nvSpPr>
          <p:cNvPr id="22" name="Text 20"/>
          <p:cNvSpPr/>
          <p:nvPr/>
        </p:nvSpPr>
        <p:spPr>
          <a:xfrm>
            <a:off x="8234477" y="2011680"/>
            <a:ext cx="457200" cy="365760"/>
          </a:xfrm>
          <a:prstGeom prst="rect">
            <a:avLst/>
          </a:prstGeom>
          <a:noFill/>
          <a:ln/>
        </p:spPr>
        <p:txBody>
          <a:bodyPr wrap="square" lIns="0" tIns="0" rIns="0" bIns="0" rtlCol="0" anchor="t"/>
          <a:lstStyle/>
          <a:p>
            <a:pPr algn="l" indent="0" marL="0">
              <a:buNone/>
            </a:pPr>
            <a:r>
              <a:rPr lang="en-US" sz="2000" b="1" dirty="0">
                <a:solidFill>
                  <a:srgbClr val="5A6CE6"/>
                </a:solidFill>
                <a:latin typeface="Calibri" pitchFamily="34" charset="0"/>
                <a:ea typeface="Calibri" pitchFamily="34" charset="-122"/>
                <a:cs typeface="Calibri" pitchFamily="34" charset="-120"/>
              </a:rPr>
              <a:t>3</a:t>
            </a:r>
            <a:endParaRPr lang="en-US" sz="2000" dirty="0"/>
          </a:p>
        </p:txBody>
      </p:sp>
      <p:sp>
        <p:nvSpPr>
          <p:cNvPr id="23" name="Text 21"/>
          <p:cNvSpPr/>
          <p:nvPr/>
        </p:nvSpPr>
        <p:spPr>
          <a:xfrm>
            <a:off x="8691677" y="2103120"/>
            <a:ext cx="3179978" cy="201168"/>
          </a:xfrm>
          <a:prstGeom prst="rect">
            <a:avLst/>
          </a:prstGeom>
          <a:noFill/>
          <a:ln/>
        </p:spPr>
        <p:txBody>
          <a:bodyPr wrap="square" lIns="0" tIns="0" rIns="0" bIns="0" rtlCol="0" anchor="ctr"/>
          <a:lstStyle/>
          <a:p>
            <a:pPr algn="l" indent="0" marL="0">
              <a:buNone/>
            </a:pPr>
            <a:r>
              <a:rPr lang="en-US" sz="950" b="1" spc="130" kern="0" dirty="0">
                <a:solidFill>
                  <a:srgbClr val="83837B"/>
                </a:solidFill>
                <a:latin typeface="Calibri" pitchFamily="34" charset="0"/>
                <a:ea typeface="Calibri" pitchFamily="34" charset="-122"/>
                <a:cs typeface="Calibri" pitchFamily="34" charset="-120"/>
              </a:rPr>
              <a:t>GATE · ACTION</a:t>
            </a:r>
            <a:endParaRPr lang="en-US" sz="950" dirty="0"/>
          </a:p>
        </p:txBody>
      </p:sp>
      <p:sp>
        <p:nvSpPr>
          <p:cNvPr id="24" name="Text 22"/>
          <p:cNvSpPr/>
          <p:nvPr/>
        </p:nvSpPr>
        <p:spPr>
          <a:xfrm>
            <a:off x="8234477" y="2542032"/>
            <a:ext cx="3179978" cy="731520"/>
          </a:xfrm>
          <a:prstGeom prst="rect">
            <a:avLst/>
          </a:prstGeom>
          <a:noFill/>
          <a:ln/>
        </p:spPr>
        <p:txBody>
          <a:bodyPr wrap="square" lIns="0" tIns="0" rIns="0" bIns="0" rtlCol="0" anchor="t"/>
          <a:lstStyle/>
          <a:p>
            <a:pPr algn="l" indent="0" marL="0">
              <a:lnSpc>
                <a:spcPct val="106000"/>
              </a:lnSpc>
              <a:buNone/>
            </a:pPr>
            <a:r>
              <a:rPr lang="en-US" sz="1350" b="1" dirty="0">
                <a:solidFill>
                  <a:srgbClr val="1B1B18"/>
                </a:solidFill>
                <a:latin typeface="Calibri" pitchFamily="34" charset="0"/>
                <a:ea typeface="Calibri" pitchFamily="34" charset="-122"/>
                <a:cs typeface="Calibri" pitchFamily="34" charset="-120"/>
              </a:rPr>
              <a:t>Does reviewed evidence change what staff do?</a:t>
            </a:r>
            <a:endParaRPr lang="en-US" sz="1350" dirty="0"/>
          </a:p>
        </p:txBody>
      </p:sp>
      <p:sp>
        <p:nvSpPr>
          <p:cNvPr id="25" name="Text 23"/>
          <p:cNvSpPr/>
          <p:nvPr/>
        </p:nvSpPr>
        <p:spPr>
          <a:xfrm>
            <a:off x="8234477" y="3364992"/>
            <a:ext cx="3179978" cy="201168"/>
          </a:xfrm>
          <a:prstGeom prst="rect">
            <a:avLst/>
          </a:prstGeom>
          <a:noFill/>
          <a:ln/>
        </p:spPr>
        <p:txBody>
          <a:bodyPr wrap="square" lIns="0" tIns="0" rIns="0" bIns="0" rtlCol="0" anchor="ctr"/>
          <a:lstStyle/>
          <a:p>
            <a:pPr algn="l" indent="0" marL="0">
              <a:buNone/>
            </a:pPr>
            <a:r>
              <a:rPr lang="en-US" sz="850" b="1" spc="130" kern="0" dirty="0">
                <a:solidFill>
                  <a:srgbClr val="83837B"/>
                </a:solidFill>
                <a:latin typeface="Calibri" pitchFamily="34" charset="0"/>
                <a:ea typeface="Calibri" pitchFamily="34" charset="-122"/>
                <a:cs typeface="Calibri" pitchFamily="34" charset="-120"/>
              </a:rPr>
              <a:t>TEST</a:t>
            </a:r>
            <a:endParaRPr lang="en-US" sz="850" dirty="0"/>
          </a:p>
        </p:txBody>
      </p:sp>
      <p:sp>
        <p:nvSpPr>
          <p:cNvPr id="26" name="Text 24"/>
          <p:cNvSpPr/>
          <p:nvPr/>
        </p:nvSpPr>
        <p:spPr>
          <a:xfrm>
            <a:off x="8234477" y="3566160"/>
            <a:ext cx="3179978" cy="914400"/>
          </a:xfrm>
          <a:prstGeom prst="rect">
            <a:avLst/>
          </a:prstGeom>
          <a:noFill/>
          <a:ln/>
        </p:spPr>
        <p:txBody>
          <a:bodyPr wrap="square" lIns="0" tIns="0" rIns="0" bIns="0" rtlCol="0" anchor="t"/>
          <a:lstStyle/>
          <a:p>
            <a:pPr algn="l" indent="0" marL="0">
              <a:lnSpc>
                <a:spcPct val="110000"/>
              </a:lnSpc>
              <a:buNone/>
            </a:pPr>
            <a:r>
              <a:rPr lang="en-US" sz="1100" dirty="0">
                <a:solidFill>
                  <a:srgbClr val="83837B"/>
                </a:solidFill>
                <a:latin typeface="Calibri" pitchFamily="34" charset="0"/>
                <a:ea typeface="Calibri" pitchFamily="34" charset="-122"/>
                <a:cs typeface="Calibri" pitchFamily="34" charset="-120"/>
              </a:rPr>
              <a:t>Concierge pilot with hand-built weekly candidates in one to two communities.</a:t>
            </a:r>
            <a:endParaRPr lang="en-US" sz="1100" dirty="0"/>
          </a:p>
        </p:txBody>
      </p:sp>
      <p:sp>
        <p:nvSpPr>
          <p:cNvPr id="27" name="Text 25"/>
          <p:cNvSpPr/>
          <p:nvPr/>
        </p:nvSpPr>
        <p:spPr>
          <a:xfrm>
            <a:off x="8234477" y="4498848"/>
            <a:ext cx="3179978" cy="201168"/>
          </a:xfrm>
          <a:prstGeom prst="rect">
            <a:avLst/>
          </a:prstGeom>
          <a:noFill/>
          <a:ln/>
        </p:spPr>
        <p:txBody>
          <a:bodyPr wrap="square" lIns="0" tIns="0" rIns="0" bIns="0" rtlCol="0" anchor="ctr"/>
          <a:lstStyle/>
          <a:p>
            <a:pPr algn="l" indent="0" marL="0">
              <a:buNone/>
            </a:pPr>
            <a:r>
              <a:rPr lang="en-US" sz="850" b="1" spc="130" kern="0" dirty="0">
                <a:solidFill>
                  <a:srgbClr val="5A6CE6"/>
                </a:solidFill>
                <a:latin typeface="Calibri" pitchFamily="34" charset="0"/>
                <a:ea typeface="Calibri" pitchFamily="34" charset="-122"/>
                <a:cs typeface="Calibri" pitchFamily="34" charset="-120"/>
              </a:rPr>
              <a:t>PROCEED IF</a:t>
            </a:r>
            <a:endParaRPr lang="en-US" sz="850" dirty="0"/>
          </a:p>
        </p:txBody>
      </p:sp>
      <p:sp>
        <p:nvSpPr>
          <p:cNvPr id="28" name="Text 26"/>
          <p:cNvSpPr/>
          <p:nvPr/>
        </p:nvSpPr>
        <p:spPr>
          <a:xfrm>
            <a:off x="8234477" y="4700016"/>
            <a:ext cx="3179978" cy="731520"/>
          </a:xfrm>
          <a:prstGeom prst="rect">
            <a:avLst/>
          </a:prstGeom>
          <a:noFill/>
          <a:ln/>
        </p:spPr>
        <p:txBody>
          <a:bodyPr wrap="square" lIns="0" tIns="0" rIns="0" bIns="0" rtlCol="0" anchor="t"/>
          <a:lstStyle/>
          <a:p>
            <a:pPr algn="l" indent="0" marL="0">
              <a:lnSpc>
                <a:spcPct val="110000"/>
              </a:lnSpc>
              <a:buNone/>
            </a:pPr>
            <a:r>
              <a:rPr lang="en-US" sz="1100" dirty="0">
                <a:solidFill>
                  <a:srgbClr val="1B1B18"/>
                </a:solidFill>
                <a:latin typeface="Calibri" pitchFamily="34" charset="0"/>
                <a:ea typeface="Calibri" pitchFamily="34" charset="-122"/>
                <a:cs typeface="Calibri" pitchFamily="34" charset="-120"/>
              </a:rPr>
              <a:t>Candidates are resolved, and a meaningful share leads to monitoring, intervention, reassessment, or documentation.</a:t>
            </a:r>
            <a:endParaRPr lang="en-US" sz="1100" dirty="0"/>
          </a:p>
        </p:txBody>
      </p:sp>
      <p:sp>
        <p:nvSpPr>
          <p:cNvPr id="29" name="Shape 27"/>
          <p:cNvSpPr/>
          <p:nvPr/>
        </p:nvSpPr>
        <p:spPr>
          <a:xfrm>
            <a:off x="777240" y="5669280"/>
            <a:ext cx="10637215" cy="0"/>
          </a:xfrm>
          <a:prstGeom prst="line">
            <a:avLst/>
          </a:prstGeom>
          <a:noFill/>
          <a:ln w="9525">
            <a:solidFill>
              <a:srgbClr val="E2E2DC"/>
            </a:solidFill>
            <a:prstDash val="solid"/>
          </a:ln>
        </p:spPr>
      </p:sp>
      <p:sp>
        <p:nvSpPr>
          <p:cNvPr id="30" name="Text 28"/>
          <p:cNvSpPr/>
          <p:nvPr/>
        </p:nvSpPr>
        <p:spPr>
          <a:xfrm>
            <a:off x="777240" y="5797296"/>
            <a:ext cx="10637215" cy="457200"/>
          </a:xfrm>
          <a:prstGeom prst="rect">
            <a:avLst/>
          </a:prstGeom>
          <a:noFill/>
          <a:ln/>
        </p:spPr>
        <p:txBody>
          <a:bodyPr wrap="square" lIns="0" tIns="0" rIns="0" bIns="0" rtlCol="0" anchor="ctr"/>
          <a:lstStyle/>
          <a:p>
            <a:pPr algn="l" indent="0" marL="0">
              <a:buNone/>
            </a:pPr>
            <a:r>
              <a:rPr lang="en-US" sz="1100" b="1" dirty="0">
                <a:solidFill>
                  <a:srgbClr val="1B1B18"/>
                </a:solidFill>
                <a:latin typeface="Calibri" pitchFamily="34" charset="0"/>
                <a:ea typeface="Calibri" pitchFamily="34" charset="-122"/>
                <a:cs typeface="Calibri" pitchFamily="34" charset="-120"/>
              </a:rPr>
              <a:t>If a gate fails   </a:t>
            </a:r>
            <a:pPr algn="l" indent="0" marL="0">
              <a:buNone/>
            </a:pPr>
            <a:r>
              <a:rPr lang="en-US" sz="1100" dirty="0">
                <a:solidFill>
                  <a:srgbClr val="83837B"/>
                </a:solidFill>
                <a:latin typeface="Calibri" pitchFamily="34" charset="0"/>
                <a:ea typeface="Calibri" pitchFamily="34" charset="-122"/>
                <a:cs typeface="Calibri" pitchFamily="34" charset="-120"/>
              </a:rPr>
              <a:t>weak signal → stay closer to fall documentation  ·  weak workflow fit → attach evidence to scheduled reassessments  ·  too much volume → raise the threshold</a:t>
            </a:r>
            <a:endParaRPr lang="en-US" sz="1100" dirty="0"/>
          </a:p>
        </p:txBody>
      </p:sp>
      <p:sp>
        <p:nvSpPr>
          <p:cNvPr id="31" name="Text 29"/>
          <p:cNvSpPr/>
          <p:nvPr/>
        </p:nvSpPr>
        <p:spPr>
          <a:xfrm>
            <a:off x="777240" y="6473952"/>
            <a:ext cx="5486400" cy="237744"/>
          </a:xfrm>
          <a:prstGeom prst="rect">
            <a:avLst/>
          </a:prstGeom>
          <a:noFill/>
          <a:ln/>
        </p:spPr>
        <p:txBody>
          <a:bodyPr wrap="square" lIns="0" tIns="0" rIns="0" bIns="0" rtlCol="0" anchor="ctr"/>
          <a:lstStyle/>
          <a:p>
            <a:pPr algn="l" indent="0" marL="0">
              <a:buNone/>
            </a:pPr>
            <a:r>
              <a:rPr lang="en-US" sz="850" dirty="0">
                <a:solidFill>
                  <a:srgbClr val="83837B"/>
                </a:solidFill>
                <a:latin typeface="Calibri" pitchFamily="34" charset="0"/>
                <a:ea typeface="Calibri" pitchFamily="34" charset="-122"/>
                <a:cs typeface="Calibri" pitchFamily="34" charset="-120"/>
              </a:rPr>
              <a:t>Teton  ·  Product recommendation</a:t>
            </a:r>
            <a:endParaRPr lang="en-US" sz="850" dirty="0"/>
          </a:p>
        </p:txBody>
      </p:sp>
      <p:sp>
        <p:nvSpPr>
          <p:cNvPr id="32" name="Text 30"/>
          <p:cNvSpPr/>
          <p:nvPr/>
        </p:nvSpPr>
        <p:spPr>
          <a:xfrm>
            <a:off x="10500055" y="6473952"/>
            <a:ext cx="914400" cy="237744"/>
          </a:xfrm>
          <a:prstGeom prst="rect">
            <a:avLst/>
          </a:prstGeom>
          <a:noFill/>
          <a:ln/>
        </p:spPr>
        <p:txBody>
          <a:bodyPr wrap="square" lIns="0" tIns="0" rIns="0" bIns="0" rtlCol="0" anchor="ctr"/>
          <a:lstStyle/>
          <a:p>
            <a:pPr algn="r" indent="0" marL="0">
              <a:buNone/>
            </a:pPr>
            <a:r>
              <a:rPr lang="en-US" sz="850" dirty="0">
                <a:solidFill>
                  <a:srgbClr val="83837B"/>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8F5"/>
        </a:solidFill>
      </p:bgPr>
    </p:bg>
    <p:spTree>
      <p:nvGrpSpPr>
        <p:cNvPr id="1" name=""/>
        <p:cNvGrpSpPr/>
        <p:nvPr/>
      </p:nvGrpSpPr>
      <p:grpSpPr>
        <a:xfrm>
          <a:off x="0" y="0"/>
          <a:ext cx="0" cy="0"/>
          <a:chOff x="0" y="0"/>
          <a:chExt cx="0" cy="0"/>
        </a:xfrm>
      </p:grpSpPr>
      <p:sp>
        <p:nvSpPr>
          <p:cNvPr id="2" name="Shape 0"/>
          <p:cNvSpPr/>
          <p:nvPr/>
        </p:nvSpPr>
        <p:spPr>
          <a:xfrm>
            <a:off x="777240" y="384048"/>
            <a:ext cx="100584" cy="100584"/>
          </a:xfrm>
          <a:prstGeom prst="ellipse">
            <a:avLst/>
          </a:prstGeom>
          <a:solidFill>
            <a:srgbClr val="5A6CE6"/>
          </a:solidFill>
          <a:ln/>
        </p:spPr>
      </p:sp>
      <p:sp>
        <p:nvSpPr>
          <p:cNvPr id="3" name="Text 1"/>
          <p:cNvSpPr/>
          <p:nvPr/>
        </p:nvSpPr>
        <p:spPr>
          <a:xfrm>
            <a:off x="978408" y="320040"/>
            <a:ext cx="9144000" cy="237744"/>
          </a:xfrm>
          <a:prstGeom prst="rect">
            <a:avLst/>
          </a:prstGeom>
          <a:noFill/>
          <a:ln/>
        </p:spPr>
        <p:txBody>
          <a:bodyPr wrap="square" lIns="0" tIns="0" rIns="0" bIns="0" rtlCol="0" anchor="ctr"/>
          <a:lstStyle/>
          <a:p>
            <a:pPr algn="l" indent="0" marL="0">
              <a:buNone/>
            </a:pPr>
            <a:r>
              <a:rPr lang="en-US" sz="1050" b="1" spc="160" kern="0" dirty="0">
                <a:solidFill>
                  <a:srgbClr val="83837B"/>
                </a:solidFill>
                <a:latin typeface="Calibri" pitchFamily="34" charset="0"/>
                <a:ea typeface="Calibri" pitchFamily="34" charset="-122"/>
                <a:cs typeface="Calibri" pitchFamily="34" charset="-120"/>
              </a:rPr>
              <a:t>VALIDATION PLAN</a:t>
            </a:r>
            <a:endParaRPr lang="en-US" sz="1050" dirty="0"/>
          </a:p>
        </p:txBody>
      </p:sp>
      <p:sp>
        <p:nvSpPr>
          <p:cNvPr id="4" name="Text 2"/>
          <p:cNvSpPr/>
          <p:nvPr/>
        </p:nvSpPr>
        <p:spPr>
          <a:xfrm>
            <a:off x="777240" y="676656"/>
            <a:ext cx="10332720" cy="822960"/>
          </a:xfrm>
          <a:prstGeom prst="rect">
            <a:avLst/>
          </a:prstGeom>
          <a:noFill/>
          <a:ln/>
        </p:spPr>
        <p:txBody>
          <a:bodyPr wrap="square" lIns="0" tIns="0" rIns="0" bIns="0" rtlCol="0" anchor="t"/>
          <a:lstStyle/>
          <a:p>
            <a:pPr algn="l" indent="0" marL="0">
              <a:lnSpc>
                <a:spcPct val="102000"/>
              </a:lnSpc>
              <a:buNone/>
            </a:pPr>
            <a:r>
              <a:rPr lang="en-US" sz="2500" b="1" dirty="0">
                <a:solidFill>
                  <a:srgbClr val="1B1B18"/>
                </a:solidFill>
                <a:latin typeface="Calibri" pitchFamily="34" charset="0"/>
                <a:ea typeface="Calibri" pitchFamily="34" charset="-122"/>
                <a:cs typeface="Calibri" pitchFamily="34" charset="-120"/>
              </a:rPr>
              <a:t>Six months to prove reviewed signals lead to earlier action</a:t>
            </a:r>
            <a:endParaRPr lang="en-US" sz="2500" dirty="0"/>
          </a:p>
        </p:txBody>
      </p:sp>
      <p:sp>
        <p:nvSpPr>
          <p:cNvPr id="5" name="Text 3"/>
          <p:cNvSpPr/>
          <p:nvPr/>
        </p:nvSpPr>
        <p:spPr>
          <a:xfrm>
            <a:off x="777240" y="1481328"/>
            <a:ext cx="9875520" cy="502920"/>
          </a:xfrm>
          <a:prstGeom prst="rect">
            <a:avLst/>
          </a:prstGeom>
          <a:noFill/>
          <a:ln/>
        </p:spPr>
        <p:txBody>
          <a:bodyPr wrap="square" lIns="0" tIns="0" rIns="0" bIns="0" rtlCol="0" anchor="t"/>
          <a:lstStyle/>
          <a:p>
            <a:pPr algn="l" indent="0" marL="0">
              <a:lnSpc>
                <a:spcPct val="112000"/>
              </a:lnSpc>
              <a:buNone/>
            </a:pPr>
            <a:r>
              <a:rPr lang="en-US" sz="1300" dirty="0">
                <a:solidFill>
                  <a:srgbClr val="83837B"/>
                </a:solidFill>
                <a:latin typeface="Calibri" pitchFamily="34" charset="0"/>
                <a:ea typeface="Calibri" pitchFamily="34" charset="-122"/>
                <a:cs typeface="Calibri" pitchFamily="34" charset="-120"/>
              </a:rPr>
              <a:t>Validate on history, pilot by hand, then automate the workflow that changes care behavior.</a:t>
            </a:r>
            <a:endParaRPr lang="en-US" sz="1300" dirty="0"/>
          </a:p>
        </p:txBody>
      </p:sp>
      <p:sp>
        <p:nvSpPr>
          <p:cNvPr id="6" name="Shape 4"/>
          <p:cNvSpPr/>
          <p:nvPr/>
        </p:nvSpPr>
        <p:spPr>
          <a:xfrm>
            <a:off x="868680" y="2148840"/>
            <a:ext cx="10454335" cy="0"/>
          </a:xfrm>
          <a:prstGeom prst="line">
            <a:avLst/>
          </a:prstGeom>
          <a:noFill/>
          <a:ln w="9525">
            <a:solidFill>
              <a:srgbClr val="E2E2DC"/>
            </a:solidFill>
            <a:prstDash val="solid"/>
          </a:ln>
        </p:spPr>
      </p:sp>
      <p:sp>
        <p:nvSpPr>
          <p:cNvPr id="7" name="Shape 5"/>
          <p:cNvSpPr/>
          <p:nvPr/>
        </p:nvSpPr>
        <p:spPr>
          <a:xfrm>
            <a:off x="868680" y="2075688"/>
            <a:ext cx="146304" cy="146304"/>
          </a:xfrm>
          <a:prstGeom prst="ellipse">
            <a:avLst/>
          </a:prstGeom>
          <a:solidFill>
            <a:srgbClr val="5A6CE6"/>
          </a:solidFill>
          <a:ln/>
        </p:spPr>
      </p:sp>
      <p:sp>
        <p:nvSpPr>
          <p:cNvPr id="8" name="Text 6"/>
          <p:cNvSpPr/>
          <p:nvPr/>
        </p:nvSpPr>
        <p:spPr>
          <a:xfrm>
            <a:off x="1143000" y="2093976"/>
            <a:ext cx="3301898" cy="201168"/>
          </a:xfrm>
          <a:prstGeom prst="rect">
            <a:avLst/>
          </a:prstGeom>
          <a:noFill/>
          <a:ln/>
        </p:spPr>
        <p:txBody>
          <a:bodyPr wrap="square" lIns="0" tIns="0" rIns="0" bIns="0" rtlCol="0" anchor="ctr"/>
          <a:lstStyle/>
          <a:p>
            <a:pPr algn="l" indent="0" marL="0">
              <a:buNone/>
            </a:pPr>
            <a:r>
              <a:rPr lang="en-US" sz="950" b="1" spc="130" kern="0" dirty="0">
                <a:solidFill>
                  <a:srgbClr val="5A6CE6"/>
                </a:solidFill>
                <a:latin typeface="Calibri" pitchFamily="34" charset="0"/>
                <a:ea typeface="Calibri" pitchFamily="34" charset="-122"/>
                <a:cs typeface="Calibri" pitchFamily="34" charset="-120"/>
              </a:rPr>
              <a:t>MONTHS 1–2</a:t>
            </a:r>
            <a:endParaRPr lang="en-US" sz="950" dirty="0"/>
          </a:p>
        </p:txBody>
      </p:sp>
      <p:sp>
        <p:nvSpPr>
          <p:cNvPr id="9" name="Text 7"/>
          <p:cNvSpPr/>
          <p:nvPr/>
        </p:nvSpPr>
        <p:spPr>
          <a:xfrm>
            <a:off x="777240" y="2395728"/>
            <a:ext cx="3301898" cy="310896"/>
          </a:xfrm>
          <a:prstGeom prst="rect">
            <a:avLst/>
          </a:prstGeom>
          <a:noFill/>
          <a:ln/>
        </p:spPr>
        <p:txBody>
          <a:bodyPr wrap="square" lIns="0" tIns="0" rIns="0" bIns="0" rtlCol="0" anchor="t"/>
          <a:lstStyle/>
          <a:p>
            <a:pPr algn="l" indent="0" marL="0">
              <a:buNone/>
            </a:pPr>
            <a:r>
              <a:rPr lang="en-US" sz="1500" b="1" dirty="0">
                <a:solidFill>
                  <a:srgbClr val="1B1B18"/>
                </a:solidFill>
                <a:latin typeface="Calibri" pitchFamily="34" charset="0"/>
                <a:ea typeface="Calibri" pitchFamily="34" charset="-122"/>
                <a:cs typeface="Calibri" pitchFamily="34" charset="-120"/>
              </a:rPr>
              <a:t>Retrospective proof</a:t>
            </a:r>
            <a:endParaRPr lang="en-US" sz="1500" dirty="0"/>
          </a:p>
        </p:txBody>
      </p:sp>
      <p:sp>
        <p:nvSpPr>
          <p:cNvPr id="10" name="Text 8"/>
          <p:cNvSpPr/>
          <p:nvPr/>
        </p:nvSpPr>
        <p:spPr>
          <a:xfrm>
            <a:off x="777240" y="2743200"/>
            <a:ext cx="3301898" cy="640080"/>
          </a:xfrm>
          <a:prstGeom prst="rect">
            <a:avLst/>
          </a:prstGeom>
          <a:noFill/>
          <a:ln/>
        </p:spPr>
        <p:txBody>
          <a:bodyPr wrap="square" lIns="0" tIns="0" rIns="0" bIns="0" rtlCol="0" anchor="t"/>
          <a:lstStyle/>
          <a:p>
            <a:pPr algn="l" indent="0" marL="0">
              <a:lnSpc>
                <a:spcPct val="110000"/>
              </a:lnSpc>
              <a:buNone/>
            </a:pPr>
            <a:r>
              <a:rPr lang="en-US" sz="1100" dirty="0">
                <a:solidFill>
                  <a:srgbClr val="83837B"/>
                </a:solidFill>
                <a:latin typeface="Calibri" pitchFamily="34" charset="0"/>
                <a:ea typeface="Calibri" pitchFamily="34" charset="-122"/>
                <a:cs typeface="Calibri" pitchFamily="34" charset="-120"/>
              </a:rPr>
              <a:t>Find historical cases where Teton signals appeared before documented decline.</a:t>
            </a:r>
            <a:endParaRPr lang="en-US" sz="1100" dirty="0"/>
          </a:p>
        </p:txBody>
      </p:sp>
      <p:sp>
        <p:nvSpPr>
          <p:cNvPr id="11" name="Shape 9"/>
          <p:cNvSpPr/>
          <p:nvPr/>
        </p:nvSpPr>
        <p:spPr>
          <a:xfrm>
            <a:off x="4536338" y="2075688"/>
            <a:ext cx="146304" cy="146304"/>
          </a:xfrm>
          <a:prstGeom prst="ellipse">
            <a:avLst/>
          </a:prstGeom>
          <a:solidFill>
            <a:srgbClr val="5A6CE6"/>
          </a:solidFill>
          <a:ln/>
        </p:spPr>
      </p:sp>
      <p:sp>
        <p:nvSpPr>
          <p:cNvPr id="12" name="Text 10"/>
          <p:cNvSpPr/>
          <p:nvPr/>
        </p:nvSpPr>
        <p:spPr>
          <a:xfrm>
            <a:off x="4810658" y="2093976"/>
            <a:ext cx="3301898" cy="201168"/>
          </a:xfrm>
          <a:prstGeom prst="rect">
            <a:avLst/>
          </a:prstGeom>
          <a:noFill/>
          <a:ln/>
        </p:spPr>
        <p:txBody>
          <a:bodyPr wrap="square" lIns="0" tIns="0" rIns="0" bIns="0" rtlCol="0" anchor="ctr"/>
          <a:lstStyle/>
          <a:p>
            <a:pPr algn="l" indent="0" marL="0">
              <a:buNone/>
            </a:pPr>
            <a:r>
              <a:rPr lang="en-US" sz="950" b="1" spc="130" kern="0" dirty="0">
                <a:solidFill>
                  <a:srgbClr val="5A6CE6"/>
                </a:solidFill>
                <a:latin typeface="Calibri" pitchFamily="34" charset="0"/>
                <a:ea typeface="Calibri" pitchFamily="34" charset="-122"/>
                <a:cs typeface="Calibri" pitchFamily="34" charset="-120"/>
              </a:rPr>
              <a:t>MONTHS 2–4</a:t>
            </a:r>
            <a:endParaRPr lang="en-US" sz="950" dirty="0"/>
          </a:p>
        </p:txBody>
      </p:sp>
      <p:sp>
        <p:nvSpPr>
          <p:cNvPr id="13" name="Text 11"/>
          <p:cNvSpPr/>
          <p:nvPr/>
        </p:nvSpPr>
        <p:spPr>
          <a:xfrm>
            <a:off x="4444898" y="2395728"/>
            <a:ext cx="3301898" cy="310896"/>
          </a:xfrm>
          <a:prstGeom prst="rect">
            <a:avLst/>
          </a:prstGeom>
          <a:noFill/>
          <a:ln/>
        </p:spPr>
        <p:txBody>
          <a:bodyPr wrap="square" lIns="0" tIns="0" rIns="0" bIns="0" rtlCol="0" anchor="t"/>
          <a:lstStyle/>
          <a:p>
            <a:pPr algn="l" indent="0" marL="0">
              <a:buNone/>
            </a:pPr>
            <a:r>
              <a:rPr lang="en-US" sz="1500" b="1" dirty="0">
                <a:solidFill>
                  <a:srgbClr val="1B1B18"/>
                </a:solidFill>
                <a:latin typeface="Calibri" pitchFamily="34" charset="0"/>
                <a:ea typeface="Calibri" pitchFamily="34" charset="-122"/>
                <a:cs typeface="Calibri" pitchFamily="34" charset="-120"/>
              </a:rPr>
              <a:t>Concierge pilot</a:t>
            </a:r>
            <a:endParaRPr lang="en-US" sz="1500" dirty="0"/>
          </a:p>
        </p:txBody>
      </p:sp>
      <p:sp>
        <p:nvSpPr>
          <p:cNvPr id="14" name="Text 12"/>
          <p:cNvSpPr/>
          <p:nvPr/>
        </p:nvSpPr>
        <p:spPr>
          <a:xfrm>
            <a:off x="4444898" y="2743200"/>
            <a:ext cx="3301898" cy="640080"/>
          </a:xfrm>
          <a:prstGeom prst="rect">
            <a:avLst/>
          </a:prstGeom>
          <a:noFill/>
          <a:ln/>
        </p:spPr>
        <p:txBody>
          <a:bodyPr wrap="square" lIns="0" tIns="0" rIns="0" bIns="0" rtlCol="0" anchor="t"/>
          <a:lstStyle/>
          <a:p>
            <a:pPr algn="l" indent="0" marL="0">
              <a:lnSpc>
                <a:spcPct val="110000"/>
              </a:lnSpc>
              <a:buNone/>
            </a:pPr>
            <a:r>
              <a:rPr lang="en-US" sz="1100" dirty="0">
                <a:solidFill>
                  <a:srgbClr val="83837B"/>
                </a:solidFill>
                <a:latin typeface="Calibri" pitchFamily="34" charset="0"/>
                <a:ea typeface="Calibri" pitchFamily="34" charset="-122"/>
                <a:cs typeface="Calibri" pitchFamily="34" charset="-120"/>
              </a:rPr>
              <a:t>Manually run weekly review candidates in one to two communities.</a:t>
            </a:r>
            <a:endParaRPr lang="en-US" sz="1100" dirty="0"/>
          </a:p>
        </p:txBody>
      </p:sp>
      <p:sp>
        <p:nvSpPr>
          <p:cNvPr id="15" name="Shape 13"/>
          <p:cNvSpPr/>
          <p:nvPr/>
        </p:nvSpPr>
        <p:spPr>
          <a:xfrm>
            <a:off x="8203997" y="2075688"/>
            <a:ext cx="146304" cy="146304"/>
          </a:xfrm>
          <a:prstGeom prst="ellipse">
            <a:avLst/>
          </a:prstGeom>
          <a:solidFill>
            <a:srgbClr val="5A6CE6"/>
          </a:solidFill>
          <a:ln/>
        </p:spPr>
      </p:sp>
      <p:sp>
        <p:nvSpPr>
          <p:cNvPr id="16" name="Text 14"/>
          <p:cNvSpPr/>
          <p:nvPr/>
        </p:nvSpPr>
        <p:spPr>
          <a:xfrm>
            <a:off x="8478317" y="2093976"/>
            <a:ext cx="3301898" cy="201168"/>
          </a:xfrm>
          <a:prstGeom prst="rect">
            <a:avLst/>
          </a:prstGeom>
          <a:noFill/>
          <a:ln/>
        </p:spPr>
        <p:txBody>
          <a:bodyPr wrap="square" lIns="0" tIns="0" rIns="0" bIns="0" rtlCol="0" anchor="ctr"/>
          <a:lstStyle/>
          <a:p>
            <a:pPr algn="l" indent="0" marL="0">
              <a:buNone/>
            </a:pPr>
            <a:r>
              <a:rPr lang="en-US" sz="950" b="1" spc="130" kern="0" dirty="0">
                <a:solidFill>
                  <a:srgbClr val="5A6CE6"/>
                </a:solidFill>
                <a:latin typeface="Calibri" pitchFamily="34" charset="0"/>
                <a:ea typeface="Calibri" pitchFamily="34" charset="-122"/>
                <a:cs typeface="Calibri" pitchFamily="34" charset="-120"/>
              </a:rPr>
              <a:t>MONTHS 4–6</a:t>
            </a:r>
            <a:endParaRPr lang="en-US" sz="950" dirty="0"/>
          </a:p>
        </p:txBody>
      </p:sp>
      <p:sp>
        <p:nvSpPr>
          <p:cNvPr id="17" name="Text 15"/>
          <p:cNvSpPr/>
          <p:nvPr/>
        </p:nvSpPr>
        <p:spPr>
          <a:xfrm>
            <a:off x="8112557" y="2395728"/>
            <a:ext cx="3301898" cy="310896"/>
          </a:xfrm>
          <a:prstGeom prst="rect">
            <a:avLst/>
          </a:prstGeom>
          <a:noFill/>
          <a:ln/>
        </p:spPr>
        <p:txBody>
          <a:bodyPr wrap="square" lIns="0" tIns="0" rIns="0" bIns="0" rtlCol="0" anchor="t"/>
          <a:lstStyle/>
          <a:p>
            <a:pPr algn="l" indent="0" marL="0">
              <a:buNone/>
            </a:pPr>
            <a:r>
              <a:rPr lang="en-US" sz="1500" b="1" dirty="0">
                <a:solidFill>
                  <a:srgbClr val="1B1B18"/>
                </a:solidFill>
                <a:latin typeface="Calibri" pitchFamily="34" charset="0"/>
                <a:ea typeface="Calibri" pitchFamily="34" charset="-122"/>
                <a:cs typeface="Calibri" pitchFamily="34" charset="-120"/>
              </a:rPr>
              <a:t>MVP launch</a:t>
            </a:r>
            <a:endParaRPr lang="en-US" sz="1500" dirty="0"/>
          </a:p>
        </p:txBody>
      </p:sp>
      <p:sp>
        <p:nvSpPr>
          <p:cNvPr id="18" name="Text 16"/>
          <p:cNvSpPr/>
          <p:nvPr/>
        </p:nvSpPr>
        <p:spPr>
          <a:xfrm>
            <a:off x="8112557" y="2743200"/>
            <a:ext cx="3301898" cy="640080"/>
          </a:xfrm>
          <a:prstGeom prst="rect">
            <a:avLst/>
          </a:prstGeom>
          <a:noFill/>
          <a:ln/>
        </p:spPr>
        <p:txBody>
          <a:bodyPr wrap="square" lIns="0" tIns="0" rIns="0" bIns="0" rtlCol="0" anchor="t"/>
          <a:lstStyle/>
          <a:p>
            <a:pPr algn="l" indent="0" marL="0">
              <a:lnSpc>
                <a:spcPct val="110000"/>
              </a:lnSpc>
              <a:buNone/>
            </a:pPr>
            <a:r>
              <a:rPr lang="en-US" sz="1100" dirty="0">
                <a:solidFill>
                  <a:srgbClr val="83837B"/>
                </a:solidFill>
                <a:latin typeface="Calibri" pitchFamily="34" charset="0"/>
                <a:ea typeface="Calibri" pitchFamily="34" charset="-122"/>
                <a:cs typeface="Calibri" pitchFamily="34" charset="-120"/>
              </a:rPr>
              <a:t>Automate candidate generation, review actions, and documentation with two to three design partners.</a:t>
            </a:r>
            <a:endParaRPr lang="en-US" sz="1100" dirty="0"/>
          </a:p>
        </p:txBody>
      </p:sp>
      <p:sp>
        <p:nvSpPr>
          <p:cNvPr id="19" name="Text 17"/>
          <p:cNvSpPr/>
          <p:nvPr/>
        </p:nvSpPr>
        <p:spPr>
          <a:xfrm>
            <a:off x="777240" y="3675888"/>
            <a:ext cx="3240938" cy="310896"/>
          </a:xfrm>
          <a:prstGeom prst="rect">
            <a:avLst/>
          </a:prstGeom>
          <a:noFill/>
          <a:ln/>
        </p:spPr>
        <p:txBody>
          <a:bodyPr wrap="square" lIns="0" tIns="0" rIns="0" bIns="0" rtlCol="0" anchor="t"/>
          <a:lstStyle/>
          <a:p>
            <a:pPr algn="l" indent="0" marL="0">
              <a:buNone/>
            </a:pPr>
            <a:r>
              <a:rPr lang="en-US" sz="1500" b="1" dirty="0">
                <a:solidFill>
                  <a:srgbClr val="1B1B18"/>
                </a:solidFill>
                <a:latin typeface="Calibri" pitchFamily="34" charset="0"/>
                <a:ea typeface="Calibri" pitchFamily="34" charset="-122"/>
                <a:cs typeface="Calibri" pitchFamily="34" charset="-120"/>
              </a:rPr>
              <a:t>Reviewed</a:t>
            </a:r>
            <a:endParaRPr lang="en-US" sz="1500" dirty="0"/>
          </a:p>
        </p:txBody>
      </p:sp>
      <p:sp>
        <p:nvSpPr>
          <p:cNvPr id="20" name="Shape 18"/>
          <p:cNvSpPr/>
          <p:nvPr/>
        </p:nvSpPr>
        <p:spPr>
          <a:xfrm>
            <a:off x="777240" y="4059936"/>
            <a:ext cx="3240938" cy="0"/>
          </a:xfrm>
          <a:prstGeom prst="line">
            <a:avLst/>
          </a:prstGeom>
          <a:noFill/>
          <a:ln w="9525">
            <a:solidFill>
              <a:srgbClr val="E2E2DC"/>
            </a:solidFill>
            <a:prstDash val="solid"/>
          </a:ln>
        </p:spPr>
      </p:sp>
      <p:sp>
        <p:nvSpPr>
          <p:cNvPr id="21" name="Shape 19"/>
          <p:cNvSpPr/>
          <p:nvPr/>
        </p:nvSpPr>
        <p:spPr>
          <a:xfrm>
            <a:off x="795528" y="4288536"/>
            <a:ext cx="64008" cy="64008"/>
          </a:xfrm>
          <a:prstGeom prst="ellipse">
            <a:avLst/>
          </a:prstGeom>
          <a:solidFill>
            <a:srgbClr val="C7C7C1"/>
          </a:solidFill>
          <a:ln/>
        </p:spPr>
      </p:sp>
      <p:sp>
        <p:nvSpPr>
          <p:cNvPr id="22" name="Text 20"/>
          <p:cNvSpPr/>
          <p:nvPr/>
        </p:nvSpPr>
        <p:spPr>
          <a:xfrm>
            <a:off x="996696" y="4224528"/>
            <a:ext cx="3021482" cy="457200"/>
          </a:xfrm>
          <a:prstGeom prst="rect">
            <a:avLst/>
          </a:prstGeom>
          <a:noFill/>
          <a:ln/>
        </p:spPr>
        <p:txBody>
          <a:bodyPr wrap="square" lIns="0" tIns="0" rIns="0" bIns="0" rtlCol="0" anchor="t"/>
          <a:lstStyle/>
          <a:p>
            <a:pPr algn="l" indent="0" marL="0">
              <a:lnSpc>
                <a:spcPct val="106000"/>
              </a:lnSpc>
              <a:buNone/>
            </a:pPr>
            <a:r>
              <a:rPr lang="en-US" sz="1100" dirty="0">
                <a:solidFill>
                  <a:srgbClr val="83837B"/>
                </a:solidFill>
                <a:latin typeface="Calibri" pitchFamily="34" charset="0"/>
                <a:ea typeface="Calibri" pitchFamily="34" charset="-122"/>
                <a:cs typeface="Calibri" pitchFamily="34" charset="-120"/>
              </a:rPr>
              <a:t>Candidates resolved in cadence</a:t>
            </a:r>
            <a:endParaRPr lang="en-US" sz="1100" dirty="0"/>
          </a:p>
        </p:txBody>
      </p:sp>
      <p:sp>
        <p:nvSpPr>
          <p:cNvPr id="23" name="Shape 21"/>
          <p:cNvSpPr/>
          <p:nvPr/>
        </p:nvSpPr>
        <p:spPr>
          <a:xfrm>
            <a:off x="795528" y="4791456"/>
            <a:ext cx="64008" cy="64008"/>
          </a:xfrm>
          <a:prstGeom prst="ellipse">
            <a:avLst/>
          </a:prstGeom>
          <a:solidFill>
            <a:srgbClr val="C7C7C1"/>
          </a:solidFill>
          <a:ln/>
        </p:spPr>
      </p:sp>
      <p:sp>
        <p:nvSpPr>
          <p:cNvPr id="24" name="Text 22"/>
          <p:cNvSpPr/>
          <p:nvPr/>
        </p:nvSpPr>
        <p:spPr>
          <a:xfrm>
            <a:off x="996696" y="4727448"/>
            <a:ext cx="3021482" cy="457200"/>
          </a:xfrm>
          <a:prstGeom prst="rect">
            <a:avLst/>
          </a:prstGeom>
          <a:noFill/>
          <a:ln/>
        </p:spPr>
        <p:txBody>
          <a:bodyPr wrap="square" lIns="0" tIns="0" rIns="0" bIns="0" rtlCol="0" anchor="t"/>
          <a:lstStyle/>
          <a:p>
            <a:pPr algn="l" indent="0" marL="0">
              <a:lnSpc>
                <a:spcPct val="106000"/>
              </a:lnSpc>
              <a:buNone/>
            </a:pPr>
            <a:r>
              <a:rPr lang="en-US" sz="1100" dirty="0">
                <a:solidFill>
                  <a:srgbClr val="83837B"/>
                </a:solidFill>
                <a:latin typeface="Calibri" pitchFamily="34" charset="0"/>
                <a:ea typeface="Calibri" pitchFamily="34" charset="-122"/>
                <a:cs typeface="Calibri" pitchFamily="34" charset="-120"/>
              </a:rPr>
              <a:t>Confirmed meaningful by reviewers</a:t>
            </a:r>
            <a:endParaRPr lang="en-US" sz="1100" dirty="0"/>
          </a:p>
        </p:txBody>
      </p:sp>
      <p:sp>
        <p:nvSpPr>
          <p:cNvPr id="25" name="Shape 23"/>
          <p:cNvSpPr/>
          <p:nvPr/>
        </p:nvSpPr>
        <p:spPr>
          <a:xfrm>
            <a:off x="795528" y="5294376"/>
            <a:ext cx="64008" cy="64008"/>
          </a:xfrm>
          <a:prstGeom prst="ellipse">
            <a:avLst/>
          </a:prstGeom>
          <a:solidFill>
            <a:srgbClr val="C7C7C1"/>
          </a:solidFill>
          <a:ln/>
        </p:spPr>
      </p:sp>
      <p:sp>
        <p:nvSpPr>
          <p:cNvPr id="26" name="Text 24"/>
          <p:cNvSpPr/>
          <p:nvPr/>
        </p:nvSpPr>
        <p:spPr>
          <a:xfrm>
            <a:off x="996696" y="5230368"/>
            <a:ext cx="3021482" cy="457200"/>
          </a:xfrm>
          <a:prstGeom prst="rect">
            <a:avLst/>
          </a:prstGeom>
          <a:noFill/>
          <a:ln/>
        </p:spPr>
        <p:txBody>
          <a:bodyPr wrap="square" lIns="0" tIns="0" rIns="0" bIns="0" rtlCol="0" anchor="t"/>
          <a:lstStyle/>
          <a:p>
            <a:pPr algn="l" indent="0" marL="0">
              <a:lnSpc>
                <a:spcPct val="106000"/>
              </a:lnSpc>
              <a:buNone/>
            </a:pPr>
            <a:r>
              <a:rPr lang="en-US" sz="1100" dirty="0">
                <a:solidFill>
                  <a:srgbClr val="83837B"/>
                </a:solidFill>
                <a:latin typeface="Calibri" pitchFamily="34" charset="0"/>
                <a:ea typeface="Calibri" pitchFamily="34" charset="-122"/>
                <a:cs typeface="Calibri" pitchFamily="34" charset="-120"/>
              </a:rPr>
              <a:t>Time from signal to review</a:t>
            </a:r>
            <a:endParaRPr lang="en-US" sz="1100" dirty="0"/>
          </a:p>
        </p:txBody>
      </p:sp>
      <p:sp>
        <p:nvSpPr>
          <p:cNvPr id="27" name="Text 25"/>
          <p:cNvSpPr/>
          <p:nvPr/>
        </p:nvSpPr>
        <p:spPr>
          <a:xfrm>
            <a:off x="4475378" y="3675888"/>
            <a:ext cx="3240938" cy="310896"/>
          </a:xfrm>
          <a:prstGeom prst="rect">
            <a:avLst/>
          </a:prstGeom>
          <a:noFill/>
          <a:ln/>
        </p:spPr>
        <p:txBody>
          <a:bodyPr wrap="square" lIns="0" tIns="0" rIns="0" bIns="0" rtlCol="0" anchor="t"/>
          <a:lstStyle/>
          <a:p>
            <a:pPr algn="l" indent="0" marL="0">
              <a:buNone/>
            </a:pPr>
            <a:r>
              <a:rPr lang="en-US" sz="1500" b="1" dirty="0">
                <a:solidFill>
                  <a:srgbClr val="1B1B18"/>
                </a:solidFill>
                <a:latin typeface="Calibri" pitchFamily="34" charset="0"/>
                <a:ea typeface="Calibri" pitchFamily="34" charset="-122"/>
                <a:cs typeface="Calibri" pitchFamily="34" charset="-120"/>
              </a:rPr>
              <a:t>Acted on</a:t>
            </a:r>
            <a:endParaRPr lang="en-US" sz="1500" dirty="0"/>
          </a:p>
        </p:txBody>
      </p:sp>
      <p:sp>
        <p:nvSpPr>
          <p:cNvPr id="28" name="Shape 26"/>
          <p:cNvSpPr/>
          <p:nvPr/>
        </p:nvSpPr>
        <p:spPr>
          <a:xfrm>
            <a:off x="4475378" y="4059936"/>
            <a:ext cx="3240938" cy="0"/>
          </a:xfrm>
          <a:prstGeom prst="line">
            <a:avLst/>
          </a:prstGeom>
          <a:noFill/>
          <a:ln w="9525">
            <a:solidFill>
              <a:srgbClr val="E2E2DC"/>
            </a:solidFill>
            <a:prstDash val="solid"/>
          </a:ln>
        </p:spPr>
      </p:sp>
      <p:sp>
        <p:nvSpPr>
          <p:cNvPr id="29" name="Shape 27"/>
          <p:cNvSpPr/>
          <p:nvPr/>
        </p:nvSpPr>
        <p:spPr>
          <a:xfrm>
            <a:off x="4493666" y="4288536"/>
            <a:ext cx="64008" cy="64008"/>
          </a:xfrm>
          <a:prstGeom prst="ellipse">
            <a:avLst/>
          </a:prstGeom>
          <a:solidFill>
            <a:srgbClr val="C7C7C1"/>
          </a:solidFill>
          <a:ln/>
        </p:spPr>
      </p:sp>
      <p:sp>
        <p:nvSpPr>
          <p:cNvPr id="30" name="Text 28"/>
          <p:cNvSpPr/>
          <p:nvPr/>
        </p:nvSpPr>
        <p:spPr>
          <a:xfrm>
            <a:off x="4694834" y="4224528"/>
            <a:ext cx="3021482" cy="457200"/>
          </a:xfrm>
          <a:prstGeom prst="rect">
            <a:avLst/>
          </a:prstGeom>
          <a:noFill/>
          <a:ln/>
        </p:spPr>
        <p:txBody>
          <a:bodyPr wrap="square" lIns="0" tIns="0" rIns="0" bIns="0" rtlCol="0" anchor="t"/>
          <a:lstStyle/>
          <a:p>
            <a:pPr algn="l" indent="0" marL="0">
              <a:lnSpc>
                <a:spcPct val="106000"/>
              </a:lnSpc>
              <a:buNone/>
            </a:pPr>
            <a:r>
              <a:rPr lang="en-US" sz="1100" dirty="0">
                <a:solidFill>
                  <a:srgbClr val="83837B"/>
                </a:solidFill>
                <a:latin typeface="Calibri" pitchFamily="34" charset="0"/>
                <a:ea typeface="Calibri" pitchFamily="34" charset="-122"/>
                <a:cs typeface="Calibri" pitchFamily="34" charset="-120"/>
              </a:rPr>
              <a:t>Monitoring, intervention, reassessment, or documentation started</a:t>
            </a:r>
            <a:endParaRPr lang="en-US" sz="1100" dirty="0"/>
          </a:p>
        </p:txBody>
      </p:sp>
      <p:sp>
        <p:nvSpPr>
          <p:cNvPr id="31" name="Shape 29"/>
          <p:cNvSpPr/>
          <p:nvPr/>
        </p:nvSpPr>
        <p:spPr>
          <a:xfrm>
            <a:off x="4493666" y="4791456"/>
            <a:ext cx="64008" cy="64008"/>
          </a:xfrm>
          <a:prstGeom prst="ellipse">
            <a:avLst/>
          </a:prstGeom>
          <a:solidFill>
            <a:srgbClr val="C7C7C1"/>
          </a:solidFill>
          <a:ln/>
        </p:spPr>
      </p:sp>
      <p:sp>
        <p:nvSpPr>
          <p:cNvPr id="32" name="Text 30"/>
          <p:cNvSpPr/>
          <p:nvPr/>
        </p:nvSpPr>
        <p:spPr>
          <a:xfrm>
            <a:off x="4694834" y="4727448"/>
            <a:ext cx="3021482" cy="457200"/>
          </a:xfrm>
          <a:prstGeom prst="rect">
            <a:avLst/>
          </a:prstGeom>
          <a:noFill/>
          <a:ln/>
        </p:spPr>
        <p:txBody>
          <a:bodyPr wrap="square" lIns="0" tIns="0" rIns="0" bIns="0" rtlCol="0" anchor="t"/>
          <a:lstStyle/>
          <a:p>
            <a:pPr algn="l" indent="0" marL="0">
              <a:lnSpc>
                <a:spcPct val="106000"/>
              </a:lnSpc>
              <a:buNone/>
            </a:pPr>
            <a:r>
              <a:rPr lang="en-US" sz="1100" dirty="0">
                <a:solidFill>
                  <a:srgbClr val="83837B"/>
                </a:solidFill>
                <a:latin typeface="Calibri" pitchFamily="34" charset="0"/>
                <a:ea typeface="Calibri" pitchFamily="34" charset="-122"/>
                <a:cs typeface="Calibri" pitchFamily="34" charset="-120"/>
              </a:rPr>
              <a:t>Family conversations supported by approved evidence</a:t>
            </a:r>
            <a:endParaRPr lang="en-US" sz="1100" dirty="0"/>
          </a:p>
        </p:txBody>
      </p:sp>
      <p:sp>
        <p:nvSpPr>
          <p:cNvPr id="33" name="Shape 31"/>
          <p:cNvSpPr/>
          <p:nvPr/>
        </p:nvSpPr>
        <p:spPr>
          <a:xfrm>
            <a:off x="4493666" y="5294376"/>
            <a:ext cx="64008" cy="64008"/>
          </a:xfrm>
          <a:prstGeom prst="ellipse">
            <a:avLst/>
          </a:prstGeom>
          <a:solidFill>
            <a:srgbClr val="C7C7C1"/>
          </a:solidFill>
          <a:ln/>
        </p:spPr>
      </p:sp>
      <p:sp>
        <p:nvSpPr>
          <p:cNvPr id="34" name="Text 32"/>
          <p:cNvSpPr/>
          <p:nvPr/>
        </p:nvSpPr>
        <p:spPr>
          <a:xfrm>
            <a:off x="4694834" y="5230368"/>
            <a:ext cx="3021482" cy="457200"/>
          </a:xfrm>
          <a:prstGeom prst="rect">
            <a:avLst/>
          </a:prstGeom>
          <a:noFill/>
          <a:ln/>
        </p:spPr>
        <p:txBody>
          <a:bodyPr wrap="square" lIns="0" tIns="0" rIns="0" bIns="0" rtlCol="0" anchor="t"/>
          <a:lstStyle/>
          <a:p>
            <a:pPr algn="l" indent="0" marL="0">
              <a:lnSpc>
                <a:spcPct val="106000"/>
              </a:lnSpc>
              <a:buNone/>
            </a:pPr>
            <a:r>
              <a:rPr lang="en-US" sz="1100" dirty="0">
                <a:solidFill>
                  <a:srgbClr val="83837B"/>
                </a:solidFill>
                <a:latin typeface="Calibri" pitchFamily="34" charset="0"/>
                <a:ea typeface="Calibri" pitchFamily="34" charset="-122"/>
                <a:cs typeface="Calibri" pitchFamily="34" charset="-120"/>
              </a:rPr>
              <a:t>Care-plan decisions backed by Teton evidence</a:t>
            </a:r>
            <a:endParaRPr lang="en-US" sz="1100" dirty="0"/>
          </a:p>
        </p:txBody>
      </p:sp>
      <p:sp>
        <p:nvSpPr>
          <p:cNvPr id="35" name="Text 33"/>
          <p:cNvSpPr/>
          <p:nvPr/>
        </p:nvSpPr>
        <p:spPr>
          <a:xfrm>
            <a:off x="8173517" y="3675888"/>
            <a:ext cx="3240938" cy="310896"/>
          </a:xfrm>
          <a:prstGeom prst="rect">
            <a:avLst/>
          </a:prstGeom>
          <a:noFill/>
          <a:ln/>
        </p:spPr>
        <p:txBody>
          <a:bodyPr wrap="square" lIns="0" tIns="0" rIns="0" bIns="0" rtlCol="0" anchor="t"/>
          <a:lstStyle/>
          <a:p>
            <a:pPr algn="l" indent="0" marL="0">
              <a:buNone/>
            </a:pPr>
            <a:r>
              <a:rPr lang="en-US" sz="1500" b="1" dirty="0">
                <a:solidFill>
                  <a:srgbClr val="5A6CE6"/>
                </a:solidFill>
                <a:latin typeface="Calibri" pitchFamily="34" charset="0"/>
                <a:ea typeface="Calibri" pitchFamily="34" charset="-122"/>
                <a:cs typeface="Calibri" pitchFamily="34" charset="-120"/>
              </a:rPr>
              <a:t>Earlier</a:t>
            </a:r>
            <a:endParaRPr lang="en-US" sz="1500" dirty="0"/>
          </a:p>
        </p:txBody>
      </p:sp>
      <p:sp>
        <p:nvSpPr>
          <p:cNvPr id="36" name="Shape 34"/>
          <p:cNvSpPr/>
          <p:nvPr/>
        </p:nvSpPr>
        <p:spPr>
          <a:xfrm>
            <a:off x="8173517" y="4059936"/>
            <a:ext cx="3240938" cy="0"/>
          </a:xfrm>
          <a:prstGeom prst="line">
            <a:avLst/>
          </a:prstGeom>
          <a:noFill/>
          <a:ln w="19050">
            <a:solidFill>
              <a:srgbClr val="5A6CE6"/>
            </a:solidFill>
            <a:prstDash val="solid"/>
          </a:ln>
        </p:spPr>
      </p:sp>
      <p:sp>
        <p:nvSpPr>
          <p:cNvPr id="37" name="Shape 35"/>
          <p:cNvSpPr/>
          <p:nvPr/>
        </p:nvSpPr>
        <p:spPr>
          <a:xfrm>
            <a:off x="8191805" y="4288536"/>
            <a:ext cx="64008" cy="64008"/>
          </a:xfrm>
          <a:prstGeom prst="ellipse">
            <a:avLst/>
          </a:prstGeom>
          <a:solidFill>
            <a:srgbClr val="5A6CE6"/>
          </a:solidFill>
          <a:ln/>
        </p:spPr>
      </p:sp>
      <p:sp>
        <p:nvSpPr>
          <p:cNvPr id="38" name="Text 36"/>
          <p:cNvSpPr/>
          <p:nvPr/>
        </p:nvSpPr>
        <p:spPr>
          <a:xfrm>
            <a:off x="8392973" y="4224528"/>
            <a:ext cx="3021482" cy="457200"/>
          </a:xfrm>
          <a:prstGeom prst="rect">
            <a:avLst/>
          </a:prstGeom>
          <a:noFill/>
          <a:ln/>
        </p:spPr>
        <p:txBody>
          <a:bodyPr wrap="square" lIns="0" tIns="0" rIns="0" bIns="0" rtlCol="0" anchor="t"/>
          <a:lstStyle/>
          <a:p>
            <a:pPr algn="l" indent="0" marL="0">
              <a:lnSpc>
                <a:spcPct val="106000"/>
              </a:lnSpc>
              <a:buNone/>
            </a:pPr>
            <a:r>
              <a:rPr lang="en-US" sz="1100" b="1" dirty="0">
                <a:solidFill>
                  <a:srgbClr val="1B1B18"/>
                </a:solidFill>
                <a:latin typeface="Calibri" pitchFamily="34" charset="0"/>
                <a:ea typeface="Calibri" pitchFamily="34" charset="-122"/>
                <a:cs typeface="Calibri" pitchFamily="34" charset="-120"/>
              </a:rPr>
              <a:t>Median weeks-earlier detection</a:t>
            </a:r>
            <a:endParaRPr lang="en-US" sz="1100" dirty="0"/>
          </a:p>
        </p:txBody>
      </p:sp>
      <p:sp>
        <p:nvSpPr>
          <p:cNvPr id="39" name="Shape 37"/>
          <p:cNvSpPr/>
          <p:nvPr/>
        </p:nvSpPr>
        <p:spPr>
          <a:xfrm>
            <a:off x="8191805" y="4791456"/>
            <a:ext cx="64008" cy="64008"/>
          </a:xfrm>
          <a:prstGeom prst="ellipse">
            <a:avLst/>
          </a:prstGeom>
          <a:solidFill>
            <a:srgbClr val="C7C7C1"/>
          </a:solidFill>
          <a:ln/>
        </p:spPr>
      </p:sp>
      <p:sp>
        <p:nvSpPr>
          <p:cNvPr id="40" name="Text 38"/>
          <p:cNvSpPr/>
          <p:nvPr/>
        </p:nvSpPr>
        <p:spPr>
          <a:xfrm>
            <a:off x="8392973" y="4727448"/>
            <a:ext cx="3021482" cy="457200"/>
          </a:xfrm>
          <a:prstGeom prst="rect">
            <a:avLst/>
          </a:prstGeom>
          <a:noFill/>
          <a:ln/>
        </p:spPr>
        <p:txBody>
          <a:bodyPr wrap="square" lIns="0" tIns="0" rIns="0" bIns="0" rtlCol="0" anchor="t"/>
          <a:lstStyle/>
          <a:p>
            <a:pPr algn="l" indent="0" marL="0">
              <a:lnSpc>
                <a:spcPct val="106000"/>
              </a:lnSpc>
              <a:buNone/>
            </a:pPr>
            <a:r>
              <a:rPr lang="en-US" sz="1100" dirty="0">
                <a:solidFill>
                  <a:srgbClr val="83837B"/>
                </a:solidFill>
                <a:latin typeface="Calibri" pitchFamily="34" charset="0"/>
                <a:ea typeface="Calibri" pitchFamily="34" charset="-122"/>
                <a:cs typeface="Calibri" pitchFamily="34" charset="-120"/>
              </a:rPr>
              <a:t>Fewer delayed reassessments</a:t>
            </a:r>
            <a:endParaRPr lang="en-US" sz="1100" dirty="0"/>
          </a:p>
        </p:txBody>
      </p:sp>
      <p:sp>
        <p:nvSpPr>
          <p:cNvPr id="41" name="Shape 39"/>
          <p:cNvSpPr/>
          <p:nvPr/>
        </p:nvSpPr>
        <p:spPr>
          <a:xfrm>
            <a:off x="8191805" y="5294376"/>
            <a:ext cx="64008" cy="64008"/>
          </a:xfrm>
          <a:prstGeom prst="ellipse">
            <a:avLst/>
          </a:prstGeom>
          <a:solidFill>
            <a:srgbClr val="C7C7C1"/>
          </a:solidFill>
          <a:ln/>
        </p:spPr>
      </p:sp>
      <p:sp>
        <p:nvSpPr>
          <p:cNvPr id="42" name="Text 40"/>
          <p:cNvSpPr/>
          <p:nvPr/>
        </p:nvSpPr>
        <p:spPr>
          <a:xfrm>
            <a:off x="8392973" y="5230368"/>
            <a:ext cx="3021482" cy="457200"/>
          </a:xfrm>
          <a:prstGeom prst="rect">
            <a:avLst/>
          </a:prstGeom>
          <a:noFill/>
          <a:ln/>
        </p:spPr>
        <p:txBody>
          <a:bodyPr wrap="square" lIns="0" tIns="0" rIns="0" bIns="0" rtlCol="0" anchor="t"/>
          <a:lstStyle/>
          <a:p>
            <a:pPr algn="l" indent="0" marL="0">
              <a:lnSpc>
                <a:spcPct val="106000"/>
              </a:lnSpc>
              <a:buNone/>
            </a:pPr>
            <a:r>
              <a:rPr lang="en-US" sz="1100" dirty="0">
                <a:solidFill>
                  <a:srgbClr val="83837B"/>
                </a:solidFill>
                <a:latin typeface="Calibri" pitchFamily="34" charset="0"/>
                <a:ea typeface="Calibri" pitchFamily="34" charset="-122"/>
                <a:cs typeface="Calibri" pitchFamily="34" charset="-120"/>
              </a:rPr>
              <a:t>Directional improvement in incidents or escalations</a:t>
            </a:r>
            <a:endParaRPr lang="en-US" sz="1100" dirty="0"/>
          </a:p>
        </p:txBody>
      </p:sp>
      <p:sp>
        <p:nvSpPr>
          <p:cNvPr id="43" name="Shape 41"/>
          <p:cNvSpPr/>
          <p:nvPr/>
        </p:nvSpPr>
        <p:spPr>
          <a:xfrm>
            <a:off x="777240" y="5742432"/>
            <a:ext cx="10637215" cy="0"/>
          </a:xfrm>
          <a:prstGeom prst="line">
            <a:avLst/>
          </a:prstGeom>
          <a:noFill/>
          <a:ln w="9525">
            <a:solidFill>
              <a:srgbClr val="E2E2DC"/>
            </a:solidFill>
            <a:prstDash val="solid"/>
          </a:ln>
        </p:spPr>
      </p:sp>
      <p:sp>
        <p:nvSpPr>
          <p:cNvPr id="44" name="Text 42"/>
          <p:cNvSpPr/>
          <p:nvPr/>
        </p:nvSpPr>
        <p:spPr>
          <a:xfrm>
            <a:off x="777240" y="5870448"/>
            <a:ext cx="10637215" cy="457200"/>
          </a:xfrm>
          <a:prstGeom prst="rect">
            <a:avLst/>
          </a:prstGeom>
          <a:noFill/>
          <a:ln/>
        </p:spPr>
        <p:txBody>
          <a:bodyPr wrap="square" lIns="0" tIns="0" rIns="0" bIns="0" rtlCol="0" anchor="ctr"/>
          <a:lstStyle/>
          <a:p>
            <a:pPr algn="l" indent="0" marL="0">
              <a:buNone/>
            </a:pPr>
            <a:r>
              <a:rPr lang="en-US" sz="1150" b="1" dirty="0">
                <a:solidFill>
                  <a:srgbClr val="5A6CE6"/>
                </a:solidFill>
                <a:latin typeface="Calibri" pitchFamily="34" charset="0"/>
                <a:ea typeface="Calibri" pitchFamily="34" charset="-122"/>
                <a:cs typeface="Calibri" pitchFamily="34" charset="-120"/>
              </a:rPr>
              <a:t>Renewal story   </a:t>
            </a:r>
            <a:pPr algn="l" indent="0" marL="0">
              <a:buNone/>
            </a:pPr>
            <a:r>
              <a:rPr lang="en-US" sz="1150" dirty="0">
                <a:solidFill>
                  <a:srgbClr val="1B1B18"/>
                </a:solidFill>
                <a:latin typeface="Calibri" pitchFamily="34" charset="0"/>
                <a:ea typeface="Calibri" pitchFamily="34" charset="-122"/>
                <a:cs typeface="Calibri" pitchFamily="34" charset="-120"/>
              </a:rPr>
              <a:t>Teton helped identify N residents earlier, supported M documented reassessments, and gave operators a care-quality ROI story beyond fall response.</a:t>
            </a:r>
            <a:endParaRPr lang="en-US" sz="1150" dirty="0"/>
          </a:p>
        </p:txBody>
      </p:sp>
      <p:sp>
        <p:nvSpPr>
          <p:cNvPr id="45" name="Text 43"/>
          <p:cNvSpPr/>
          <p:nvPr/>
        </p:nvSpPr>
        <p:spPr>
          <a:xfrm>
            <a:off x="777240" y="6473952"/>
            <a:ext cx="5486400" cy="237744"/>
          </a:xfrm>
          <a:prstGeom prst="rect">
            <a:avLst/>
          </a:prstGeom>
          <a:noFill/>
          <a:ln/>
        </p:spPr>
        <p:txBody>
          <a:bodyPr wrap="square" lIns="0" tIns="0" rIns="0" bIns="0" rtlCol="0" anchor="ctr"/>
          <a:lstStyle/>
          <a:p>
            <a:pPr algn="l" indent="0" marL="0">
              <a:buNone/>
            </a:pPr>
            <a:r>
              <a:rPr lang="en-US" sz="850" dirty="0">
                <a:solidFill>
                  <a:srgbClr val="83837B"/>
                </a:solidFill>
                <a:latin typeface="Calibri" pitchFamily="34" charset="0"/>
                <a:ea typeface="Calibri" pitchFamily="34" charset="-122"/>
                <a:cs typeface="Calibri" pitchFamily="34" charset="-120"/>
              </a:rPr>
              <a:t>Teton  ·  Product recommendation</a:t>
            </a:r>
            <a:endParaRPr lang="en-US" sz="850" dirty="0"/>
          </a:p>
        </p:txBody>
      </p:sp>
      <p:sp>
        <p:nvSpPr>
          <p:cNvPr id="46" name="Text 44"/>
          <p:cNvSpPr/>
          <p:nvPr/>
        </p:nvSpPr>
        <p:spPr>
          <a:xfrm>
            <a:off x="10500055" y="6473952"/>
            <a:ext cx="914400" cy="237744"/>
          </a:xfrm>
          <a:prstGeom prst="rect">
            <a:avLst/>
          </a:prstGeom>
          <a:noFill/>
          <a:ln/>
        </p:spPr>
        <p:txBody>
          <a:bodyPr wrap="square" lIns="0" tIns="0" rIns="0" bIns="0" rtlCol="0" anchor="ctr"/>
          <a:lstStyle/>
          <a:p>
            <a:pPr algn="r" indent="0" marL="0">
              <a:buNone/>
            </a:pPr>
            <a:r>
              <a:rPr lang="en-US" sz="850" dirty="0">
                <a:solidFill>
                  <a:srgbClr val="83837B"/>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2, Not Week 12 — turning ambient signals into earlier care decisions</dc:title>
  <dc:subject>PptxGenJS Presentation</dc:subject>
  <dc:creator>Teton</dc:creator>
  <cp:lastModifiedBy>Teton</cp:lastModifiedBy>
  <cp:revision>1</cp:revision>
  <dcterms:created xsi:type="dcterms:W3CDTF">2026-07-07T01:29:49Z</dcterms:created>
  <dcterms:modified xsi:type="dcterms:W3CDTF">2026-07-07T01:29:49Z</dcterms:modified>
</cp:coreProperties>
</file>