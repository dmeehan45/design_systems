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frame is a workflow mismatch, not a product failure. Teton earned trust at night because fall alerts are urgent, concrete, and actionable, and the night team built its routine around them. The strategic problem is that the highest-value work — acuity decisions, family trust, the care record, the ROI defense — all happens during the day, when the app is barely opened. Renewal is still likely, but leadership is already asking for a clearer ROI story than fall response alone. That mismatch is the whole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resident, twelve weeks. Teton recorded the rising pattern from around week two; the organization acted at week twelve, at crisis, because no one owned the review, nothing was documented, and no reassessment was triggered. The bet has to pay for itself, so the slide keeps three proofs: the clinical cost, the illustrative financial cost of under-leveling (~$90K/yr per building, directional — Phase 1 validates prevalence and revenue impact), and the data advantage — EHR flags read only what staff chart, while Teton sees the unwitnessed night patterns. Market context: ~2/3 of clinical leaders report acuity is underreported; 75% report higher acuity than five years ago (ASHA/August Health,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capacity buys one initiative, so the matrix shows the trade-off, not just the winner. Each rejected option was a real customer signal from the interview: false-alarm trust, Marcus asking for broader adoption, families asking to see rooms, the EHR as the record, care levels driving billing. Change-of-condition review is the only option that reaches the high-value daytime decision workflow without overreaching — a family portal or auto care-leveling would overreach clinically and on privacy, and multi-EHR is too broad for six months. The guardrail keeps Teton on the evidence side of the line; the billing rationale stays in the row, not the product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user-facing loop is deliberately simple: detect a meaningful change, route it to a clinical owner, document the reviewed outcome, and explain it to families only after human confirmation. The review card is the product — grounded in the real workflow rather than a demo. It shows a resident, why they surfaced in plain numbers, the evidence period, the nurse's decision, and where the confirmed review lands. The quiet strength is adoption: one clinical owner inside one existing cadence, two to three candidates per week, not a new dashboard for every floor caregiver.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gates are ranked, and Gate 1 is the make-or-break: if Teton can't separate real decline from noise weeks early, a review workflow just routes noise to the most overloaded person in the building. So the retrospective study is first and cheap — no engineering, just replaying history. Gate 2 decides the product shape: one named owner reviewing a small shortlist inside an existing cadence. Gate 3 decides value: reviewed evidence must change what staff do. On-slide proceed-if language is qualitative; underlying numeric targets (~60% of true declines detectable ≥2 weeks early, ~70% of candidates resolved) are placeholders I'd calibrate with clinical leadership.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 leaves the room with what we're proving, how, and what success sounds like at renewal. The plan front-loads the cheapest falsifiable test and keeps engineering off the critical path until signal quality clears. The North Star is the single number worth putting on a wall — median weeks earlier that meaningful decline is reviewed, the through-line back to week two, not week twelve. The metric ladder is ordered so usage can't masquerade as value: reviewed, then acted on, then earlier. Incident/escalation movement is framed as an early directional signal, not a run-rate claim on a six-month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8F5"/>
        </a:solidFill>
      </p:bgPr>
    </p:bg>
    <p:spTree>
      <p:nvGrpSpPr>
        <p:cNvPr id="1" name=""/>
        <p:cNvGrpSpPr/>
        <p:nvPr/>
      </p:nvGrpSpPr>
      <p:grpSpPr>
        <a:xfrm>
          <a:off x="0" y="0"/>
          <a:ext cx="0" cy="0"/>
          <a:chOff x="0" y="0"/>
          <a:chExt cx="0" cy="0"/>
        </a:xfrm>
      </p:grpSpPr>
      <p:sp>
        <p:nvSpPr>
          <p:cNvPr id="2" name="Shape 0"/>
          <p:cNvSpPr/>
          <p:nvPr/>
        </p:nvSpPr>
        <p:spPr>
          <a:xfrm>
            <a:off x="777240" y="384048"/>
            <a:ext cx="100584" cy="100584"/>
          </a:xfrm>
          <a:prstGeom prst="ellipse">
            <a:avLst/>
          </a:prstGeom>
          <a:solidFill>
            <a:srgbClr val="5A6CE6"/>
          </a:solidFill>
          <a:ln/>
        </p:spPr>
      </p:sp>
      <p:sp>
        <p:nvSpPr>
          <p:cNvPr id="3" name="Text 1"/>
          <p:cNvSpPr/>
          <p:nvPr/>
        </p:nvSpPr>
        <p:spPr>
          <a:xfrm>
            <a:off x="978408" y="320040"/>
            <a:ext cx="9144000" cy="237744"/>
          </a:xfrm>
          <a:prstGeom prst="rect">
            <a:avLst/>
          </a:prstGeom>
          <a:noFill/>
          <a:ln/>
        </p:spPr>
        <p:txBody>
          <a:bodyPr wrap="square" lIns="0" tIns="0" rIns="0" bIns="0" rtlCol="0" anchor="ctr"/>
          <a:lstStyle/>
          <a:p>
            <a:pPr algn="l" indent="0" marL="0">
              <a:buNone/>
            </a:pPr>
            <a:r>
              <a:rPr lang="en-US" sz="1050" b="1" spc="160" kern="0" dirty="0">
                <a:solidFill>
                  <a:srgbClr val="83837B"/>
                </a:solidFill>
                <a:latin typeface="Calibri" pitchFamily="34" charset="0"/>
                <a:ea typeface="Calibri" pitchFamily="34" charset="-122"/>
                <a:cs typeface="Calibri" pitchFamily="34" charset="-120"/>
              </a:rPr>
              <a:t>THE WORKFLOW GAP</a:t>
            </a:r>
            <a:endParaRPr lang="en-US" sz="1050" dirty="0"/>
          </a:p>
        </p:txBody>
      </p:sp>
      <p:sp>
        <p:nvSpPr>
          <p:cNvPr id="4" name="Text 2"/>
          <p:cNvSpPr/>
          <p:nvPr/>
        </p:nvSpPr>
        <p:spPr>
          <a:xfrm>
            <a:off x="777240" y="676656"/>
            <a:ext cx="10424160" cy="822960"/>
          </a:xfrm>
          <a:prstGeom prst="rect">
            <a:avLst/>
          </a:prstGeom>
          <a:noFill/>
          <a:ln/>
        </p:spPr>
        <p:txBody>
          <a:bodyPr wrap="square" lIns="0" tIns="0" rIns="0" bIns="0" rtlCol="0" anchor="t"/>
          <a:lstStyle/>
          <a:p>
            <a:pPr algn="l" indent="0" marL="0">
              <a:lnSpc>
                <a:spcPct val="102000"/>
              </a:lnSpc>
              <a:buNone/>
            </a:pPr>
            <a:r>
              <a:rPr lang="en-US" sz="2400" b="1" dirty="0">
                <a:solidFill>
                  <a:srgbClr val="1B1B18"/>
                </a:solidFill>
                <a:latin typeface="Calibri" pitchFamily="34" charset="0"/>
                <a:ea typeface="Calibri" pitchFamily="34" charset="-122"/>
                <a:cs typeface="Calibri" pitchFamily="34" charset="-120"/>
              </a:rPr>
              <a:t>Teton is trusted at night, but the valuable decisions happen during the day</a:t>
            </a:r>
            <a:endParaRPr lang="en-US" sz="2400" dirty="0"/>
          </a:p>
        </p:txBody>
      </p:sp>
      <p:sp>
        <p:nvSpPr>
          <p:cNvPr id="5" name="Text 3"/>
          <p:cNvSpPr/>
          <p:nvPr/>
        </p:nvSpPr>
        <p:spPr>
          <a:xfrm>
            <a:off x="777240" y="1463040"/>
            <a:ext cx="10058400" cy="457200"/>
          </a:xfrm>
          <a:prstGeom prst="rect">
            <a:avLst/>
          </a:prstGeom>
          <a:noFill/>
          <a:ln/>
        </p:spPr>
        <p:txBody>
          <a:bodyPr wrap="square" lIns="0" tIns="0" rIns="0" bIns="0" rtlCol="0" anchor="t"/>
          <a:lstStyle/>
          <a:p>
            <a:pPr algn="l" indent="0" marL="0">
              <a:lnSpc>
                <a:spcPct val="112000"/>
              </a:lnSpc>
              <a:buNone/>
            </a:pPr>
            <a:r>
              <a:rPr lang="en-US" sz="1250" dirty="0">
                <a:solidFill>
                  <a:srgbClr val="83837B"/>
                </a:solidFill>
                <a:latin typeface="Calibri" pitchFamily="34" charset="0"/>
                <a:ea typeface="Calibri" pitchFamily="34" charset="-122"/>
                <a:cs typeface="Calibri" pitchFamily="34" charset="-120"/>
              </a:rPr>
              <a:t>The fall wedge works. The next product risk is that Teton's broader signals stay outside assessment, documentation, and family conversations.</a:t>
            </a:r>
            <a:endParaRPr lang="en-US" sz="1250" dirty="0"/>
          </a:p>
        </p:txBody>
      </p:sp>
      <p:sp>
        <p:nvSpPr>
          <p:cNvPr id="6" name="Shape 4"/>
          <p:cNvSpPr/>
          <p:nvPr/>
        </p:nvSpPr>
        <p:spPr>
          <a:xfrm>
            <a:off x="777240" y="1938528"/>
            <a:ext cx="6675120" cy="1097280"/>
          </a:xfrm>
          <a:prstGeom prst="roundRect">
            <a:avLst>
              <a:gd name="adj" fmla="val 8333"/>
            </a:avLst>
          </a:prstGeom>
          <a:solidFill>
            <a:srgbClr val="EEEEE9"/>
          </a:solidFill>
          <a:ln/>
        </p:spPr>
      </p:sp>
      <p:sp>
        <p:nvSpPr>
          <p:cNvPr id="7" name="Text 5"/>
          <p:cNvSpPr/>
          <p:nvPr/>
        </p:nvSpPr>
        <p:spPr>
          <a:xfrm>
            <a:off x="1088136" y="2121408"/>
            <a:ext cx="6126480" cy="274320"/>
          </a:xfrm>
          <a:prstGeom prst="rect">
            <a:avLst/>
          </a:prstGeom>
          <a:noFill/>
          <a:ln/>
        </p:spPr>
        <p:txBody>
          <a:bodyPr wrap="square" lIns="0" tIns="0" rIns="0" bIns="0" rtlCol="0" anchor="ctr"/>
          <a:lstStyle/>
          <a:p>
            <a:pPr algn="l" indent="0" marL="0">
              <a:buNone/>
            </a:pPr>
            <a:r>
              <a:rPr lang="en-US" sz="1500" b="1" dirty="0">
                <a:solidFill>
                  <a:srgbClr val="1B1B18"/>
                </a:solidFill>
                <a:latin typeface="Calibri" pitchFamily="34" charset="0"/>
                <a:ea typeface="Calibri" pitchFamily="34" charset="-122"/>
                <a:cs typeface="Calibri" pitchFamily="34" charset="-120"/>
              </a:rPr>
              <a:t>7 PM – 7 AM</a:t>
            </a:r>
            <a:pPr algn="l" indent="0" marL="0">
              <a:buNone/>
            </a:pPr>
            <a:r>
              <a:rPr lang="en-US" sz="1500" b="1" dirty="0">
                <a:solidFill>
                  <a:srgbClr val="5A6CE6"/>
                </a:solidFill>
                <a:latin typeface="Calibri" pitchFamily="34" charset="0"/>
                <a:ea typeface="Calibri" pitchFamily="34" charset="-122"/>
                <a:cs typeface="Calibri" pitchFamily="34" charset="-120"/>
              </a:rPr>
              <a:t>   ·   Teton is load-bearing</a:t>
            </a:r>
            <a:endParaRPr lang="en-US" sz="1500" dirty="0"/>
          </a:p>
        </p:txBody>
      </p:sp>
      <p:sp>
        <p:nvSpPr>
          <p:cNvPr id="8" name="Text 6"/>
          <p:cNvSpPr/>
          <p:nvPr/>
        </p:nvSpPr>
        <p:spPr>
          <a:xfrm>
            <a:off x="1088136" y="2505456"/>
            <a:ext cx="6126480" cy="365760"/>
          </a:xfrm>
          <a:prstGeom prst="rect">
            <a:avLst/>
          </a:prstGeom>
          <a:noFill/>
          <a:ln/>
        </p:spPr>
        <p:txBody>
          <a:bodyPr wrap="square" lIns="0" tIns="0" rIns="0" bIns="0" rtlCol="0" anchor="t"/>
          <a:lstStyle/>
          <a:p>
            <a:pPr algn="l" indent="0" marL="0">
              <a:buNone/>
            </a:pPr>
            <a:r>
              <a:rPr lang="en-US" sz="1250" dirty="0">
                <a:solidFill>
                  <a:srgbClr val="1B1B18"/>
                </a:solidFill>
                <a:latin typeface="Calibri" pitchFamily="34" charset="0"/>
                <a:ea typeface="Calibri" pitchFamily="34" charset="-122"/>
                <a:cs typeface="Calibri" pitchFamily="34" charset="-120"/>
              </a:rPr>
              <a:t>Fall alerts · digital rounds · board watched · night-team routine</a:t>
            </a:r>
            <a:endParaRPr lang="en-US" sz="1250" dirty="0"/>
          </a:p>
        </p:txBody>
      </p:sp>
      <p:sp>
        <p:nvSpPr>
          <p:cNvPr id="9" name="Shape 7"/>
          <p:cNvSpPr/>
          <p:nvPr/>
        </p:nvSpPr>
        <p:spPr>
          <a:xfrm>
            <a:off x="777240" y="3127248"/>
            <a:ext cx="6675120" cy="1097280"/>
          </a:xfrm>
          <a:prstGeom prst="roundRect">
            <a:avLst>
              <a:gd name="adj" fmla="val 8333"/>
            </a:avLst>
          </a:prstGeom>
          <a:solidFill>
            <a:srgbClr val="F8F8F5"/>
          </a:solidFill>
          <a:ln w="15875">
            <a:solidFill>
              <a:srgbClr val="E2E2DC"/>
            </a:solidFill>
            <a:prstDash val="solid"/>
          </a:ln>
        </p:spPr>
      </p:sp>
      <p:sp>
        <p:nvSpPr>
          <p:cNvPr id="10" name="Text 8"/>
          <p:cNvSpPr/>
          <p:nvPr/>
        </p:nvSpPr>
        <p:spPr>
          <a:xfrm>
            <a:off x="1088136" y="3310128"/>
            <a:ext cx="6126480" cy="274320"/>
          </a:xfrm>
          <a:prstGeom prst="rect">
            <a:avLst/>
          </a:prstGeom>
          <a:noFill/>
          <a:ln/>
        </p:spPr>
        <p:txBody>
          <a:bodyPr wrap="square" lIns="0" tIns="0" rIns="0" bIns="0" rtlCol="0" anchor="ctr"/>
          <a:lstStyle/>
          <a:p>
            <a:pPr algn="l" indent="0" marL="0">
              <a:buNone/>
            </a:pPr>
            <a:r>
              <a:rPr lang="en-US" sz="1500" b="1" dirty="0">
                <a:solidFill>
                  <a:srgbClr val="1B1B18"/>
                </a:solidFill>
                <a:latin typeface="Calibri" pitchFamily="34" charset="0"/>
                <a:ea typeface="Calibri" pitchFamily="34" charset="-122"/>
                <a:cs typeface="Calibri" pitchFamily="34" charset="-120"/>
              </a:rPr>
              <a:t>7 AM – 7 PM</a:t>
            </a:r>
            <a:pPr algn="l" indent="0" marL="0">
              <a:buNone/>
            </a:pPr>
            <a:r>
              <a:rPr lang="en-US" sz="1500" b="1" dirty="0">
                <a:solidFill>
                  <a:srgbClr val="83837B"/>
                </a:solidFill>
                <a:latin typeface="Calibri" pitchFamily="34" charset="0"/>
                <a:ea typeface="Calibri" pitchFamily="34" charset="-122"/>
                <a:cs typeface="Calibri" pitchFamily="34" charset="-120"/>
              </a:rPr>
              <a:t>   ·   Teton is mostly absent</a:t>
            </a:r>
            <a:endParaRPr lang="en-US" sz="1500" dirty="0"/>
          </a:p>
        </p:txBody>
      </p:sp>
      <p:sp>
        <p:nvSpPr>
          <p:cNvPr id="11" name="Text 9"/>
          <p:cNvSpPr/>
          <p:nvPr/>
        </p:nvSpPr>
        <p:spPr>
          <a:xfrm>
            <a:off x="1088136" y="3694176"/>
            <a:ext cx="6126480" cy="365760"/>
          </a:xfrm>
          <a:prstGeom prst="rect">
            <a:avLst/>
          </a:prstGeom>
          <a:noFill/>
          <a:ln/>
        </p:spPr>
        <p:txBody>
          <a:bodyPr wrap="square" lIns="0" tIns="0" rIns="0" bIns="0" rtlCol="0" anchor="t"/>
          <a:lstStyle/>
          <a:p>
            <a:pPr algn="l" indent="0" marL="0">
              <a:buNone/>
            </a:pPr>
            <a:r>
              <a:rPr lang="en-US" sz="1250" dirty="0">
                <a:solidFill>
                  <a:srgbClr val="1B1B18"/>
                </a:solidFill>
                <a:latin typeface="Calibri" pitchFamily="34" charset="0"/>
                <a:ea typeface="Calibri" pitchFamily="34" charset="-122"/>
                <a:cs typeface="Calibri" pitchFamily="34" charset="-120"/>
              </a:rPr>
              <a:t>Assessments · family conferences · care-level changes · documentation</a:t>
            </a:r>
            <a:endParaRPr lang="en-US" sz="1250" dirty="0"/>
          </a:p>
        </p:txBody>
      </p:sp>
      <p:sp>
        <p:nvSpPr>
          <p:cNvPr id="12" name="Shape 10"/>
          <p:cNvSpPr/>
          <p:nvPr/>
        </p:nvSpPr>
        <p:spPr>
          <a:xfrm>
            <a:off x="777240" y="4581144"/>
            <a:ext cx="0" cy="594360"/>
          </a:xfrm>
          <a:prstGeom prst="line">
            <a:avLst/>
          </a:prstGeom>
          <a:noFill/>
          <a:ln w="31750">
            <a:solidFill>
              <a:srgbClr val="5A6CE6"/>
            </a:solidFill>
            <a:prstDash val="solid"/>
          </a:ln>
        </p:spPr>
      </p:sp>
      <p:sp>
        <p:nvSpPr>
          <p:cNvPr id="13" name="Text 11"/>
          <p:cNvSpPr/>
          <p:nvPr/>
        </p:nvSpPr>
        <p:spPr>
          <a:xfrm>
            <a:off x="1014984" y="4553712"/>
            <a:ext cx="6437376" cy="792480"/>
          </a:xfrm>
          <a:prstGeom prst="rect">
            <a:avLst/>
          </a:prstGeom>
          <a:noFill/>
          <a:ln/>
        </p:spPr>
        <p:txBody>
          <a:bodyPr wrap="square" lIns="0" tIns="0" rIns="0" bIns="0" rtlCol="0" anchor="t"/>
          <a:lstStyle/>
          <a:p>
            <a:pPr algn="l" indent="0" marL="0">
              <a:lnSpc>
                <a:spcPct val="112000"/>
              </a:lnSpc>
              <a:buNone/>
            </a:pPr>
            <a:r>
              <a:rPr lang="en-US" sz="1300" i="1" dirty="0">
                <a:solidFill>
                  <a:srgbClr val="1B1B18"/>
                </a:solidFill>
                <a:latin typeface="Calibri" pitchFamily="34" charset="0"/>
                <a:ea typeface="Calibri" pitchFamily="34" charset="-122"/>
                <a:cs typeface="Calibri" pitchFamily="34" charset="-120"/>
              </a:rPr>
              <a:t>For the night falls alone, yeah.</a:t>
            </a:r>
            <a:endParaRPr lang="en-US" sz="1300" dirty="0"/>
          </a:p>
        </p:txBody>
      </p:sp>
      <p:sp>
        <p:nvSpPr>
          <p:cNvPr id="14" name="Text 12"/>
          <p:cNvSpPr/>
          <p:nvPr/>
        </p:nvSpPr>
        <p:spPr>
          <a:xfrm>
            <a:off x="1014984" y="4901184"/>
            <a:ext cx="6437376" cy="274320"/>
          </a:xfrm>
          <a:prstGeom prst="rect">
            <a:avLst/>
          </a:prstGeom>
          <a:noFill/>
          <a:ln/>
        </p:spPr>
        <p:txBody>
          <a:bodyPr wrap="square" lIns="0" tIns="0" rIns="0" bIns="0" rtlCol="0" anchor="t"/>
          <a:lstStyle/>
          <a:p>
            <a:pPr algn="l" indent="0" marL="0">
              <a:buNone/>
            </a:pPr>
            <a:r>
              <a:rPr lang="en-US" sz="1200" dirty="0">
                <a:solidFill>
                  <a:srgbClr val="1B1B18"/>
                </a:solidFill>
                <a:latin typeface="Calibri" pitchFamily="34" charset="0"/>
                <a:ea typeface="Calibri" pitchFamily="34" charset="-122"/>
                <a:cs typeface="Calibri" pitchFamily="34" charset="-120"/>
              </a:rPr>
              <a:t>But most of the value is still on the table.</a:t>
            </a:r>
            <a:endParaRPr lang="en-US" sz="1200" dirty="0"/>
          </a:p>
        </p:txBody>
      </p:sp>
      <p:sp>
        <p:nvSpPr>
          <p:cNvPr id="15" name="Text 13"/>
          <p:cNvSpPr/>
          <p:nvPr/>
        </p:nvSpPr>
        <p:spPr>
          <a:xfrm>
            <a:off x="1014984" y="5193792"/>
            <a:ext cx="4572000" cy="219456"/>
          </a:xfrm>
          <a:prstGeom prst="rect">
            <a:avLst/>
          </a:prstGeom>
          <a:noFill/>
          <a:ln/>
        </p:spPr>
        <p:txBody>
          <a:bodyPr wrap="square" lIns="0" tIns="0" rIns="0" bIns="0" rtlCol="0" anchor="t"/>
          <a:lstStyle/>
          <a:p>
            <a:pPr algn="l" indent="0" marL="0">
              <a:buNone/>
            </a:pPr>
            <a:r>
              <a:rPr lang="en-US" sz="950" dirty="0">
                <a:solidFill>
                  <a:srgbClr val="83837B"/>
                </a:solidFill>
                <a:latin typeface="Calibri" pitchFamily="34" charset="0"/>
                <a:ea typeface="Calibri" pitchFamily="34" charset="-122"/>
                <a:cs typeface="Calibri" pitchFamily="34" charset="-120"/>
              </a:rPr>
              <a:t>— Marcus, Executive Director</a:t>
            </a:r>
            <a:endParaRPr lang="en-US" sz="950" dirty="0"/>
          </a:p>
        </p:txBody>
      </p:sp>
      <p:sp>
        <p:nvSpPr>
          <p:cNvPr id="16" name="Text 14"/>
          <p:cNvSpPr/>
          <p:nvPr/>
        </p:nvSpPr>
        <p:spPr>
          <a:xfrm>
            <a:off x="7772400" y="1938528"/>
            <a:ext cx="3642055" cy="274320"/>
          </a:xfrm>
          <a:prstGeom prst="rect">
            <a:avLst/>
          </a:prstGeom>
          <a:noFill/>
          <a:ln/>
        </p:spPr>
        <p:txBody>
          <a:bodyPr wrap="square" lIns="0" tIns="0" rIns="0" bIns="0" rtlCol="0" anchor="t"/>
          <a:lstStyle/>
          <a:p>
            <a:pPr algn="l" indent="0" marL="0">
              <a:buNone/>
            </a:pPr>
            <a:r>
              <a:rPr lang="en-US" sz="1350" b="1" dirty="0">
                <a:solidFill>
                  <a:srgbClr val="1B1B18"/>
                </a:solidFill>
                <a:latin typeface="Calibri" pitchFamily="34" charset="0"/>
                <a:ea typeface="Calibri" pitchFamily="34" charset="-122"/>
                <a:cs typeface="Calibri" pitchFamily="34" charset="-120"/>
              </a:rPr>
              <a:t>Why this matters</a:t>
            </a:r>
            <a:endParaRPr lang="en-US" sz="1350" dirty="0"/>
          </a:p>
        </p:txBody>
      </p:sp>
      <p:sp>
        <p:nvSpPr>
          <p:cNvPr id="17" name="Shape 15"/>
          <p:cNvSpPr/>
          <p:nvPr/>
        </p:nvSpPr>
        <p:spPr>
          <a:xfrm>
            <a:off x="7790688" y="2404872"/>
            <a:ext cx="73152" cy="73152"/>
          </a:xfrm>
          <a:prstGeom prst="ellipse">
            <a:avLst/>
          </a:prstGeom>
          <a:solidFill>
            <a:srgbClr val="5A6CE6"/>
          </a:solidFill>
          <a:ln/>
        </p:spPr>
      </p:sp>
      <p:sp>
        <p:nvSpPr>
          <p:cNvPr id="18" name="Text 16"/>
          <p:cNvSpPr/>
          <p:nvPr/>
        </p:nvSpPr>
        <p:spPr>
          <a:xfrm>
            <a:off x="7991856" y="2340864"/>
            <a:ext cx="3422599" cy="274320"/>
          </a:xfrm>
          <a:prstGeom prst="rect">
            <a:avLst/>
          </a:prstGeom>
          <a:noFill/>
          <a:ln/>
        </p:spPr>
        <p:txBody>
          <a:bodyPr wrap="square" lIns="0" tIns="0" rIns="0" bIns="0" rtlCol="0" anchor="ctr"/>
          <a:lstStyle/>
          <a:p>
            <a:pPr algn="l" indent="0" marL="0">
              <a:buNone/>
            </a:pPr>
            <a:r>
              <a:rPr lang="en-US" sz="1150" b="1" dirty="0">
                <a:solidFill>
                  <a:srgbClr val="1B1B18"/>
                </a:solidFill>
                <a:latin typeface="Calibri" pitchFamily="34" charset="0"/>
                <a:ea typeface="Calibri" pitchFamily="34" charset="-122"/>
                <a:cs typeface="Calibri" pitchFamily="34" charset="-120"/>
              </a:rPr>
              <a:t>Acuity </a:t>
            </a:r>
            <a:pPr algn="l" indent="0" marL="0">
              <a:buNone/>
            </a:pPr>
            <a:r>
              <a:rPr lang="en-US" sz="1150" dirty="0">
                <a:solidFill>
                  <a:srgbClr val="1B1B18"/>
                </a:solidFill>
                <a:latin typeface="Calibri" pitchFamily="34" charset="0"/>
                <a:ea typeface="Calibri" pitchFamily="34" charset="-122"/>
                <a:cs typeface="Calibri" pitchFamily="34" charset="-120"/>
              </a:rPr>
              <a:t>decisions happen during the day</a:t>
            </a:r>
            <a:endParaRPr lang="en-US" sz="1150" dirty="0"/>
          </a:p>
        </p:txBody>
      </p:sp>
      <p:sp>
        <p:nvSpPr>
          <p:cNvPr id="19" name="Shape 17"/>
          <p:cNvSpPr/>
          <p:nvPr/>
        </p:nvSpPr>
        <p:spPr>
          <a:xfrm>
            <a:off x="7790688" y="2734056"/>
            <a:ext cx="73152" cy="73152"/>
          </a:xfrm>
          <a:prstGeom prst="ellipse">
            <a:avLst/>
          </a:prstGeom>
          <a:solidFill>
            <a:srgbClr val="5A6CE6"/>
          </a:solidFill>
          <a:ln/>
        </p:spPr>
      </p:sp>
      <p:sp>
        <p:nvSpPr>
          <p:cNvPr id="20" name="Text 18"/>
          <p:cNvSpPr/>
          <p:nvPr/>
        </p:nvSpPr>
        <p:spPr>
          <a:xfrm>
            <a:off x="7991856" y="2670048"/>
            <a:ext cx="3422599" cy="274320"/>
          </a:xfrm>
          <a:prstGeom prst="rect">
            <a:avLst/>
          </a:prstGeom>
          <a:noFill/>
          <a:ln/>
        </p:spPr>
        <p:txBody>
          <a:bodyPr wrap="square" lIns="0" tIns="0" rIns="0" bIns="0" rtlCol="0" anchor="ctr"/>
          <a:lstStyle/>
          <a:p>
            <a:pPr algn="l" indent="0" marL="0">
              <a:buNone/>
            </a:pPr>
            <a:r>
              <a:rPr lang="en-US" sz="1150" b="1" dirty="0">
                <a:solidFill>
                  <a:srgbClr val="1B1B18"/>
                </a:solidFill>
                <a:latin typeface="Calibri" pitchFamily="34" charset="0"/>
                <a:ea typeface="Calibri" pitchFamily="34" charset="-122"/>
                <a:cs typeface="Calibri" pitchFamily="34" charset="-120"/>
              </a:rPr>
              <a:t>Family trust </a:t>
            </a:r>
            <a:pPr algn="l" indent="0" marL="0">
              <a:buNone/>
            </a:pPr>
            <a:r>
              <a:rPr lang="en-US" sz="1150" dirty="0">
                <a:solidFill>
                  <a:srgbClr val="1B1B18"/>
                </a:solidFill>
                <a:latin typeface="Calibri" pitchFamily="34" charset="0"/>
                <a:ea typeface="Calibri" pitchFamily="34" charset="-122"/>
                <a:cs typeface="Calibri" pitchFamily="34" charset="-120"/>
              </a:rPr>
              <a:t>is built during the day</a:t>
            </a:r>
            <a:endParaRPr lang="en-US" sz="1150" dirty="0"/>
          </a:p>
        </p:txBody>
      </p:sp>
      <p:sp>
        <p:nvSpPr>
          <p:cNvPr id="21" name="Shape 19"/>
          <p:cNvSpPr/>
          <p:nvPr/>
        </p:nvSpPr>
        <p:spPr>
          <a:xfrm>
            <a:off x="7790688" y="3063240"/>
            <a:ext cx="73152" cy="73152"/>
          </a:xfrm>
          <a:prstGeom prst="ellipse">
            <a:avLst/>
          </a:prstGeom>
          <a:solidFill>
            <a:srgbClr val="5A6CE6"/>
          </a:solidFill>
          <a:ln/>
        </p:spPr>
      </p:sp>
      <p:sp>
        <p:nvSpPr>
          <p:cNvPr id="22" name="Text 20"/>
          <p:cNvSpPr/>
          <p:nvPr/>
        </p:nvSpPr>
        <p:spPr>
          <a:xfrm>
            <a:off x="7991856" y="2999232"/>
            <a:ext cx="3422599" cy="274320"/>
          </a:xfrm>
          <a:prstGeom prst="rect">
            <a:avLst/>
          </a:prstGeom>
          <a:noFill/>
          <a:ln/>
        </p:spPr>
        <p:txBody>
          <a:bodyPr wrap="square" lIns="0" tIns="0" rIns="0" bIns="0" rtlCol="0" anchor="ctr"/>
          <a:lstStyle/>
          <a:p>
            <a:pPr algn="l" indent="0" marL="0">
              <a:buNone/>
            </a:pPr>
            <a:r>
              <a:rPr lang="en-US" sz="1150" b="1" dirty="0">
                <a:solidFill>
                  <a:srgbClr val="1B1B18"/>
                </a:solidFill>
                <a:latin typeface="Calibri" pitchFamily="34" charset="0"/>
                <a:ea typeface="Calibri" pitchFamily="34" charset="-122"/>
                <a:cs typeface="Calibri" pitchFamily="34" charset="-120"/>
              </a:rPr>
              <a:t>The care record </a:t>
            </a:r>
            <a:pPr algn="l" indent="0" marL="0">
              <a:buNone/>
            </a:pPr>
            <a:r>
              <a:rPr lang="en-US" sz="1150" dirty="0">
                <a:solidFill>
                  <a:srgbClr val="1B1B18"/>
                </a:solidFill>
                <a:latin typeface="Calibri" pitchFamily="34" charset="0"/>
                <a:ea typeface="Calibri" pitchFamily="34" charset="-122"/>
                <a:cs typeface="Calibri" pitchFamily="34" charset="-120"/>
              </a:rPr>
              <a:t>is updated during the day</a:t>
            </a:r>
            <a:endParaRPr lang="en-US" sz="1150" dirty="0"/>
          </a:p>
        </p:txBody>
      </p:sp>
      <p:sp>
        <p:nvSpPr>
          <p:cNvPr id="23" name="Shape 21"/>
          <p:cNvSpPr/>
          <p:nvPr/>
        </p:nvSpPr>
        <p:spPr>
          <a:xfrm>
            <a:off x="7790688" y="3392424"/>
            <a:ext cx="73152" cy="73152"/>
          </a:xfrm>
          <a:prstGeom prst="ellipse">
            <a:avLst/>
          </a:prstGeom>
          <a:solidFill>
            <a:srgbClr val="5A6CE6"/>
          </a:solidFill>
          <a:ln/>
        </p:spPr>
      </p:sp>
      <p:sp>
        <p:nvSpPr>
          <p:cNvPr id="24" name="Text 22"/>
          <p:cNvSpPr/>
          <p:nvPr/>
        </p:nvSpPr>
        <p:spPr>
          <a:xfrm>
            <a:off x="7991856" y="3328416"/>
            <a:ext cx="3422599" cy="274320"/>
          </a:xfrm>
          <a:prstGeom prst="rect">
            <a:avLst/>
          </a:prstGeom>
          <a:noFill/>
          <a:ln/>
        </p:spPr>
        <p:txBody>
          <a:bodyPr wrap="square" lIns="0" tIns="0" rIns="0" bIns="0" rtlCol="0" anchor="ctr"/>
          <a:lstStyle/>
          <a:p>
            <a:pPr algn="l" indent="0" marL="0">
              <a:buNone/>
            </a:pPr>
            <a:r>
              <a:rPr lang="en-US" sz="1150" b="1" dirty="0">
                <a:solidFill>
                  <a:srgbClr val="1B1B18"/>
                </a:solidFill>
                <a:latin typeface="Calibri" pitchFamily="34" charset="0"/>
                <a:ea typeface="Calibri" pitchFamily="34" charset="-122"/>
                <a:cs typeface="Calibri" pitchFamily="34" charset="-120"/>
              </a:rPr>
              <a:t>ROI </a:t>
            </a:r>
            <a:pPr algn="l" indent="0" marL="0">
              <a:buNone/>
            </a:pPr>
            <a:r>
              <a:rPr lang="en-US" sz="1150" dirty="0">
                <a:solidFill>
                  <a:srgbClr val="1B1B18"/>
                </a:solidFill>
                <a:latin typeface="Calibri" pitchFamily="34" charset="0"/>
                <a:ea typeface="Calibri" pitchFamily="34" charset="-122"/>
                <a:cs typeface="Calibri" pitchFamily="34" charset="-120"/>
              </a:rPr>
              <a:t>is defended during the day</a:t>
            </a:r>
            <a:endParaRPr lang="en-US" sz="1150" dirty="0"/>
          </a:p>
        </p:txBody>
      </p:sp>
      <p:sp>
        <p:nvSpPr>
          <p:cNvPr id="25" name="Shape 23"/>
          <p:cNvSpPr/>
          <p:nvPr/>
        </p:nvSpPr>
        <p:spPr>
          <a:xfrm>
            <a:off x="7772400" y="3767328"/>
            <a:ext cx="3642055" cy="1188720"/>
          </a:xfrm>
          <a:prstGeom prst="roundRect">
            <a:avLst>
              <a:gd name="adj" fmla="val 7692"/>
            </a:avLst>
          </a:prstGeom>
          <a:solidFill>
            <a:srgbClr val="EEEEE9"/>
          </a:solidFill>
          <a:ln/>
        </p:spPr>
      </p:sp>
      <p:sp>
        <p:nvSpPr>
          <p:cNvPr id="26" name="Text 24"/>
          <p:cNvSpPr/>
          <p:nvPr/>
        </p:nvSpPr>
        <p:spPr>
          <a:xfrm>
            <a:off x="8046720" y="3950208"/>
            <a:ext cx="3642055" cy="201168"/>
          </a:xfrm>
          <a:prstGeom prst="rect">
            <a:avLst/>
          </a:prstGeom>
          <a:noFill/>
          <a:ln/>
        </p:spPr>
        <p:txBody>
          <a:bodyPr wrap="square" lIns="0" tIns="0" rIns="0" bIns="0" rtlCol="0" anchor="ctr"/>
          <a:lstStyle/>
          <a:p>
            <a:pPr algn="l" indent="0" marL="0">
              <a:buNone/>
            </a:pPr>
            <a:r>
              <a:rPr lang="en-US" sz="950" b="1" spc="40" kern="0" dirty="0">
                <a:solidFill>
                  <a:srgbClr val="83837B"/>
                </a:solidFill>
                <a:latin typeface="Calibri" pitchFamily="34" charset="0"/>
                <a:ea typeface="Calibri" pitchFamily="34" charset="-122"/>
                <a:cs typeface="Calibri" pitchFamily="34" charset="-120"/>
              </a:rPr>
              <a:t>Renewal signal</a:t>
            </a:r>
            <a:endParaRPr lang="en-US" sz="950" dirty="0"/>
          </a:p>
        </p:txBody>
      </p:sp>
      <p:sp>
        <p:nvSpPr>
          <p:cNvPr id="27" name="Text 25"/>
          <p:cNvSpPr/>
          <p:nvPr/>
        </p:nvSpPr>
        <p:spPr>
          <a:xfrm>
            <a:off x="8046720" y="4169664"/>
            <a:ext cx="3093415" cy="310896"/>
          </a:xfrm>
          <a:prstGeom prst="rect">
            <a:avLst/>
          </a:prstGeom>
          <a:noFill/>
          <a:ln/>
        </p:spPr>
        <p:txBody>
          <a:bodyPr wrap="square" lIns="0" tIns="0" rIns="0" bIns="0" rtlCol="0" anchor="t"/>
          <a:lstStyle/>
          <a:p>
            <a:pPr algn="l" indent="0" marL="0">
              <a:buNone/>
            </a:pPr>
            <a:r>
              <a:rPr lang="en-US" sz="1350" i="1" dirty="0">
                <a:solidFill>
                  <a:srgbClr val="1B1B18"/>
                </a:solidFill>
                <a:latin typeface="Calibri" pitchFamily="34" charset="0"/>
                <a:ea typeface="Calibri" pitchFamily="34" charset="-122"/>
                <a:cs typeface="Calibri" pitchFamily="34" charset="-120"/>
              </a:rPr>
              <a:t>“Yes, but the clock's running.”</a:t>
            </a:r>
            <a:endParaRPr lang="en-US" sz="1350" dirty="0"/>
          </a:p>
        </p:txBody>
      </p:sp>
      <p:sp>
        <p:nvSpPr>
          <p:cNvPr id="28" name="Text 26"/>
          <p:cNvSpPr/>
          <p:nvPr/>
        </p:nvSpPr>
        <p:spPr>
          <a:xfrm>
            <a:off x="8046720" y="4535424"/>
            <a:ext cx="3093415" cy="365760"/>
          </a:xfrm>
          <a:prstGeom prst="rect">
            <a:avLst/>
          </a:prstGeom>
          <a:noFill/>
          <a:ln/>
        </p:spPr>
        <p:txBody>
          <a:bodyPr wrap="square" lIns="0" tIns="0" rIns="0" bIns="0" rtlCol="0" anchor="t"/>
          <a:lstStyle/>
          <a:p>
            <a:pPr algn="l" indent="0" marL="0">
              <a:lnSpc>
                <a:spcPct val="108000"/>
              </a:lnSpc>
              <a:buNone/>
            </a:pPr>
            <a:r>
              <a:rPr lang="en-US" sz="1050" dirty="0">
                <a:solidFill>
                  <a:srgbClr val="83837B"/>
                </a:solidFill>
                <a:latin typeface="Calibri" pitchFamily="34" charset="0"/>
                <a:ea typeface="Calibri" pitchFamily="34" charset="-122"/>
                <a:cs typeface="Calibri" pitchFamily="34" charset="-120"/>
              </a:rPr>
              <a:t>Owners are already asking for ROI beyond fall response.</a:t>
            </a:r>
            <a:endParaRPr lang="en-US" sz="1050" dirty="0"/>
          </a:p>
        </p:txBody>
      </p:sp>
      <p:sp>
        <p:nvSpPr>
          <p:cNvPr id="29" name="Shape 27"/>
          <p:cNvSpPr/>
          <p:nvPr/>
        </p:nvSpPr>
        <p:spPr>
          <a:xfrm>
            <a:off x="777240" y="5468112"/>
            <a:ext cx="10637215" cy="0"/>
          </a:xfrm>
          <a:prstGeom prst="line">
            <a:avLst/>
          </a:prstGeom>
          <a:noFill/>
          <a:ln w="9525">
            <a:solidFill>
              <a:srgbClr val="E2E2DC"/>
            </a:solidFill>
            <a:prstDash val="solid"/>
          </a:ln>
        </p:spPr>
      </p:sp>
      <p:sp>
        <p:nvSpPr>
          <p:cNvPr id="30" name="Text 28"/>
          <p:cNvSpPr/>
          <p:nvPr/>
        </p:nvSpPr>
        <p:spPr>
          <a:xfrm>
            <a:off x="777240" y="5577840"/>
            <a:ext cx="10637215" cy="365760"/>
          </a:xfrm>
          <a:prstGeom prst="rect">
            <a:avLst/>
          </a:prstGeom>
          <a:noFill/>
          <a:ln/>
        </p:spPr>
        <p:txBody>
          <a:bodyPr wrap="square" lIns="0" tIns="0" rIns="0" bIns="0" rtlCol="0" anchor="ctr"/>
          <a:lstStyle/>
          <a:p>
            <a:pPr algn="l" indent="0" marL="0">
              <a:buNone/>
            </a:pPr>
            <a:r>
              <a:rPr lang="en-US" sz="1500" dirty="0">
                <a:solidFill>
                  <a:srgbClr val="1B1B18"/>
                </a:solidFill>
                <a:latin typeface="Calibri" pitchFamily="34" charset="0"/>
                <a:ea typeface="Calibri" pitchFamily="34" charset="-122"/>
                <a:cs typeface="Calibri" pitchFamily="34" charset="-120"/>
              </a:rPr>
              <a:t>Teton is used when </a:t>
            </a:r>
            <a:pPr algn="l" indent="0" marL="0">
              <a:buNone/>
            </a:pPr>
            <a:r>
              <a:rPr lang="en-US" sz="1500" b="1" dirty="0">
                <a:solidFill>
                  <a:srgbClr val="5A6CE6"/>
                </a:solidFill>
                <a:latin typeface="Calibri" pitchFamily="34" charset="0"/>
                <a:ea typeface="Calibri" pitchFamily="34" charset="-122"/>
                <a:cs typeface="Calibri" pitchFamily="34" charset="-120"/>
              </a:rPr>
              <a:t>urgent events</a:t>
            </a:r>
            <a:pPr algn="l" indent="0" marL="0">
              <a:buNone/>
            </a:pPr>
            <a:r>
              <a:rPr lang="en-US" sz="1500" dirty="0">
                <a:solidFill>
                  <a:srgbClr val="1B1B18"/>
                </a:solidFill>
                <a:latin typeface="Calibri" pitchFamily="34" charset="0"/>
                <a:ea typeface="Calibri" pitchFamily="34" charset="-122"/>
                <a:cs typeface="Calibri" pitchFamily="34" charset="-120"/>
              </a:rPr>
              <a:t> happen. The opportunity is when </a:t>
            </a:r>
            <a:pPr algn="l" indent="0" marL="0">
              <a:buNone/>
            </a:pPr>
            <a:r>
              <a:rPr lang="en-US" sz="1500" b="1" dirty="0">
                <a:solidFill>
                  <a:srgbClr val="5A6CE6"/>
                </a:solidFill>
                <a:latin typeface="Calibri" pitchFamily="34" charset="0"/>
                <a:ea typeface="Calibri" pitchFamily="34" charset="-122"/>
                <a:cs typeface="Calibri" pitchFamily="34" charset="-120"/>
              </a:rPr>
              <a:t>care decisions</a:t>
            </a:r>
            <a:pPr algn="l" indent="0" marL="0">
              <a:buNone/>
            </a:pPr>
            <a:r>
              <a:rPr lang="en-US" sz="1500" dirty="0">
                <a:solidFill>
                  <a:srgbClr val="1B1B18"/>
                </a:solidFill>
                <a:latin typeface="Calibri" pitchFamily="34" charset="0"/>
                <a:ea typeface="Calibri" pitchFamily="34" charset="-122"/>
                <a:cs typeface="Calibri" pitchFamily="34" charset="-120"/>
              </a:rPr>
              <a:t> happen.</a:t>
            </a:r>
            <a:endParaRPr lang="en-US" sz="1500" dirty="0"/>
          </a:p>
        </p:txBody>
      </p:sp>
      <p:sp>
        <p:nvSpPr>
          <p:cNvPr id="31" name="Text 29"/>
          <p:cNvSpPr/>
          <p:nvPr/>
        </p:nvSpPr>
        <p:spPr>
          <a:xfrm>
            <a:off x="777240" y="6473952"/>
            <a:ext cx="5486400" cy="237744"/>
          </a:xfrm>
          <a:prstGeom prst="rect">
            <a:avLst/>
          </a:prstGeom>
          <a:noFill/>
          <a:ln/>
        </p:spPr>
        <p:txBody>
          <a:bodyPr wrap="square" lIns="0" tIns="0" rIns="0" bIns="0" rtlCol="0" anchor="ctr"/>
          <a:lstStyle/>
          <a:p>
            <a:pPr algn="l" indent="0" marL="0">
              <a:buNone/>
            </a:pPr>
            <a:r>
              <a:rPr lang="en-US" sz="850" dirty="0">
                <a:solidFill>
                  <a:srgbClr val="83837B"/>
                </a:solidFill>
                <a:latin typeface="Calibri" pitchFamily="34" charset="0"/>
                <a:ea typeface="Calibri" pitchFamily="34" charset="-122"/>
                <a:cs typeface="Calibri" pitchFamily="34" charset="-120"/>
              </a:rPr>
              <a:t>Teton  ·  Product recommendation</a:t>
            </a:r>
            <a:endParaRPr lang="en-US" sz="850" dirty="0"/>
          </a:p>
        </p:txBody>
      </p:sp>
      <p:sp>
        <p:nvSpPr>
          <p:cNvPr id="32" name="Text 30"/>
          <p:cNvSpPr/>
          <p:nvPr/>
        </p:nvSpPr>
        <p:spPr>
          <a:xfrm>
            <a:off x="10500055" y="6473952"/>
            <a:ext cx="914400" cy="237744"/>
          </a:xfrm>
          <a:prstGeom prst="rect">
            <a:avLst/>
          </a:prstGeom>
          <a:noFill/>
          <a:ln/>
        </p:spPr>
        <p:txBody>
          <a:bodyPr wrap="square" lIns="0" tIns="0" rIns="0" bIns="0" rtlCol="0" anchor="ctr"/>
          <a:lstStyle/>
          <a:p>
            <a:pPr algn="r" indent="0" marL="0">
              <a:buNone/>
            </a:pPr>
            <a:r>
              <a:rPr lang="en-US" sz="850" dirty="0">
                <a:solidFill>
                  <a:srgbClr val="83837B"/>
                </a:solidFill>
                <a:latin typeface="Calibri" pitchFamily="34" charset="0"/>
                <a:ea typeface="Calibri" pitchFamily="34" charset="-122"/>
                <a:cs typeface="Calibri" pitchFamily="34" charset="-120"/>
              </a:rPr>
              <a:t>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8F5"/>
        </a:solidFill>
      </p:bgPr>
    </p:bg>
    <p:spTree>
      <p:nvGrpSpPr>
        <p:cNvPr id="1" name=""/>
        <p:cNvGrpSpPr/>
        <p:nvPr/>
      </p:nvGrpSpPr>
      <p:grpSpPr>
        <a:xfrm>
          <a:off x="0" y="0"/>
          <a:ext cx="0" cy="0"/>
          <a:chOff x="0" y="0"/>
          <a:chExt cx="0" cy="0"/>
        </a:xfrm>
      </p:grpSpPr>
      <p:sp>
        <p:nvSpPr>
          <p:cNvPr id="2" name="Shape 0"/>
          <p:cNvSpPr/>
          <p:nvPr/>
        </p:nvSpPr>
        <p:spPr>
          <a:xfrm>
            <a:off x="777240" y="384048"/>
            <a:ext cx="100584" cy="100584"/>
          </a:xfrm>
          <a:prstGeom prst="ellipse">
            <a:avLst/>
          </a:prstGeom>
          <a:solidFill>
            <a:srgbClr val="5A6CE6"/>
          </a:solidFill>
          <a:ln/>
        </p:spPr>
      </p:sp>
      <p:sp>
        <p:nvSpPr>
          <p:cNvPr id="3" name="Text 1"/>
          <p:cNvSpPr/>
          <p:nvPr/>
        </p:nvSpPr>
        <p:spPr>
          <a:xfrm>
            <a:off x="978408" y="320040"/>
            <a:ext cx="9144000" cy="237744"/>
          </a:xfrm>
          <a:prstGeom prst="rect">
            <a:avLst/>
          </a:prstGeom>
          <a:noFill/>
          <a:ln/>
        </p:spPr>
        <p:txBody>
          <a:bodyPr wrap="square" lIns="0" tIns="0" rIns="0" bIns="0" rtlCol="0" anchor="ctr"/>
          <a:lstStyle/>
          <a:p>
            <a:pPr algn="l" indent="0" marL="0">
              <a:buNone/>
            </a:pPr>
            <a:r>
              <a:rPr lang="en-US" sz="1050" b="1" spc="160" kern="0" dirty="0">
                <a:solidFill>
                  <a:srgbClr val="83837B"/>
                </a:solidFill>
                <a:latin typeface="Calibri" pitchFamily="34" charset="0"/>
                <a:ea typeface="Calibri" pitchFamily="34" charset="-122"/>
                <a:cs typeface="Calibri" pitchFamily="34" charset="-120"/>
              </a:rPr>
              <a:t>THE OPPORTUNITY</a:t>
            </a:r>
            <a:endParaRPr lang="en-US" sz="1050" dirty="0"/>
          </a:p>
        </p:txBody>
      </p:sp>
      <p:sp>
        <p:nvSpPr>
          <p:cNvPr id="4" name="Text 2"/>
          <p:cNvSpPr/>
          <p:nvPr/>
        </p:nvSpPr>
        <p:spPr>
          <a:xfrm>
            <a:off x="777240" y="676656"/>
            <a:ext cx="10424160" cy="822960"/>
          </a:xfrm>
          <a:prstGeom prst="rect">
            <a:avLst/>
          </a:prstGeom>
          <a:noFill/>
          <a:ln/>
        </p:spPr>
        <p:txBody>
          <a:bodyPr wrap="square" lIns="0" tIns="0" rIns="0" bIns="0" rtlCol="0" anchor="t"/>
          <a:lstStyle/>
          <a:p>
            <a:pPr algn="l" indent="0" marL="0">
              <a:lnSpc>
                <a:spcPct val="102000"/>
              </a:lnSpc>
              <a:buNone/>
            </a:pPr>
            <a:r>
              <a:rPr lang="en-US" sz="2400" b="1" dirty="0">
                <a:solidFill>
                  <a:srgbClr val="1B1B18"/>
                </a:solidFill>
                <a:latin typeface="Calibri" pitchFamily="34" charset="0"/>
                <a:ea typeface="Calibri" pitchFamily="34" charset="-122"/>
                <a:cs typeface="Calibri" pitchFamily="34" charset="-120"/>
              </a:rPr>
              <a:t>The missed opportunity is decline visible weeks before crisis</a:t>
            </a:r>
            <a:endParaRPr lang="en-US" sz="2400" dirty="0"/>
          </a:p>
        </p:txBody>
      </p:sp>
      <p:sp>
        <p:nvSpPr>
          <p:cNvPr id="5" name="Text 3"/>
          <p:cNvSpPr/>
          <p:nvPr/>
        </p:nvSpPr>
        <p:spPr>
          <a:xfrm>
            <a:off x="777240" y="1463040"/>
            <a:ext cx="10058400" cy="457200"/>
          </a:xfrm>
          <a:prstGeom prst="rect">
            <a:avLst/>
          </a:prstGeom>
          <a:noFill/>
          <a:ln/>
        </p:spPr>
        <p:txBody>
          <a:bodyPr wrap="square" lIns="0" tIns="0" rIns="0" bIns="0" rtlCol="0" anchor="t"/>
          <a:lstStyle/>
          <a:p>
            <a:pPr algn="l" indent="0" marL="0">
              <a:lnSpc>
                <a:spcPct val="112000"/>
              </a:lnSpc>
              <a:buNone/>
            </a:pPr>
            <a:r>
              <a:rPr lang="en-US" sz="1250" dirty="0">
                <a:solidFill>
                  <a:srgbClr val="83837B"/>
                </a:solidFill>
                <a:latin typeface="Calibri" pitchFamily="34" charset="0"/>
                <a:ea typeface="Calibri" pitchFamily="34" charset="-122"/>
                <a:cs typeface="Calibri" pitchFamily="34" charset="-120"/>
              </a:rPr>
              <a:t>In the interview, the signal existed before the organization had a workflow to review, document, or act on it.</a:t>
            </a:r>
            <a:endParaRPr lang="en-US" sz="1250" dirty="0"/>
          </a:p>
        </p:txBody>
      </p:sp>
      <p:sp>
        <p:nvSpPr>
          <p:cNvPr id="6" name="Shape 4"/>
          <p:cNvSpPr/>
          <p:nvPr/>
        </p:nvSpPr>
        <p:spPr>
          <a:xfrm>
            <a:off x="3125585" y="2048256"/>
            <a:ext cx="0" cy="1188720"/>
          </a:xfrm>
          <a:prstGeom prst="line">
            <a:avLst/>
          </a:prstGeom>
          <a:noFill/>
          <a:ln w="12700">
            <a:solidFill>
              <a:srgbClr val="5A6CE6"/>
            </a:solidFill>
            <a:prstDash val="solid"/>
          </a:ln>
        </p:spPr>
      </p:sp>
      <p:sp>
        <p:nvSpPr>
          <p:cNvPr id="7" name="Shape 5"/>
          <p:cNvSpPr/>
          <p:nvPr/>
        </p:nvSpPr>
        <p:spPr>
          <a:xfrm>
            <a:off x="11064240" y="2048256"/>
            <a:ext cx="0" cy="1572768"/>
          </a:xfrm>
          <a:prstGeom prst="line">
            <a:avLst/>
          </a:prstGeom>
          <a:noFill/>
          <a:ln w="12700">
            <a:solidFill>
              <a:srgbClr val="B0574C"/>
            </a:solidFill>
            <a:prstDash val="solid"/>
          </a:ln>
        </p:spPr>
      </p:sp>
      <p:sp>
        <p:nvSpPr>
          <p:cNvPr id="8" name="Text 6"/>
          <p:cNvSpPr/>
          <p:nvPr/>
        </p:nvSpPr>
        <p:spPr>
          <a:xfrm>
            <a:off x="777240" y="2286000"/>
            <a:ext cx="1463040" cy="201168"/>
          </a:xfrm>
          <a:prstGeom prst="rect">
            <a:avLst/>
          </a:prstGeom>
          <a:noFill/>
          <a:ln/>
        </p:spPr>
        <p:txBody>
          <a:bodyPr wrap="square" lIns="0" tIns="0" rIns="0" bIns="0" rtlCol="0" anchor="ctr"/>
          <a:lstStyle/>
          <a:p>
            <a:pPr algn="l" indent="0" marL="0">
              <a:buNone/>
            </a:pPr>
            <a:r>
              <a:rPr lang="en-US" sz="900" b="1" spc="40" kern="0" dirty="0">
                <a:solidFill>
                  <a:srgbClr val="83837B"/>
                </a:solidFill>
                <a:latin typeface="Calibri" pitchFamily="34" charset="0"/>
                <a:ea typeface="Calibri" pitchFamily="34" charset="-122"/>
                <a:cs typeface="Calibri" pitchFamily="34" charset="-120"/>
              </a:rPr>
              <a:t>Teton signal</a:t>
            </a:r>
            <a:endParaRPr lang="en-US" sz="900" dirty="0"/>
          </a:p>
        </p:txBody>
      </p:sp>
      <p:sp>
        <p:nvSpPr>
          <p:cNvPr id="9" name="Text 7"/>
          <p:cNvSpPr/>
          <p:nvPr/>
        </p:nvSpPr>
        <p:spPr>
          <a:xfrm>
            <a:off x="777240" y="2999232"/>
            <a:ext cx="1463040" cy="201168"/>
          </a:xfrm>
          <a:prstGeom prst="rect">
            <a:avLst/>
          </a:prstGeom>
          <a:noFill/>
          <a:ln/>
        </p:spPr>
        <p:txBody>
          <a:bodyPr wrap="square" lIns="0" tIns="0" rIns="0" bIns="0" rtlCol="0" anchor="ctr"/>
          <a:lstStyle/>
          <a:p>
            <a:pPr algn="l" indent="0" marL="0">
              <a:buNone/>
            </a:pPr>
            <a:r>
              <a:rPr lang="en-US" sz="900" b="1" spc="40" kern="0" dirty="0">
                <a:solidFill>
                  <a:srgbClr val="83837B"/>
                </a:solidFill>
                <a:latin typeface="Calibri" pitchFamily="34" charset="0"/>
                <a:ea typeface="Calibri" pitchFamily="34" charset="-122"/>
                <a:cs typeface="Calibri" pitchFamily="34" charset="-120"/>
              </a:rPr>
              <a:t>Care team</a:t>
            </a:r>
            <a:endParaRPr lang="en-US" sz="900" dirty="0"/>
          </a:p>
        </p:txBody>
      </p:sp>
      <p:sp>
        <p:nvSpPr>
          <p:cNvPr id="10" name="Text 8"/>
          <p:cNvSpPr/>
          <p:nvPr/>
        </p:nvSpPr>
        <p:spPr>
          <a:xfrm>
            <a:off x="777240" y="3493008"/>
            <a:ext cx="1463040" cy="201168"/>
          </a:xfrm>
          <a:prstGeom prst="rect">
            <a:avLst/>
          </a:prstGeom>
          <a:noFill/>
          <a:ln/>
        </p:spPr>
        <p:txBody>
          <a:bodyPr wrap="square" lIns="0" tIns="0" rIns="0" bIns="0" rtlCol="0" anchor="ctr"/>
          <a:lstStyle/>
          <a:p>
            <a:pPr algn="l" indent="0" marL="0">
              <a:buNone/>
            </a:pPr>
            <a:r>
              <a:rPr lang="en-US" sz="900" b="1" spc="40" kern="0" dirty="0">
                <a:solidFill>
                  <a:srgbClr val="83837B"/>
                </a:solidFill>
                <a:latin typeface="Calibri" pitchFamily="34" charset="0"/>
                <a:ea typeface="Calibri" pitchFamily="34" charset="-122"/>
                <a:cs typeface="Calibri" pitchFamily="34" charset="-120"/>
              </a:rPr>
              <a:t>Outcome</a:t>
            </a:r>
            <a:endParaRPr lang="en-US" sz="900" dirty="0"/>
          </a:p>
        </p:txBody>
      </p:sp>
      <p:sp>
        <p:nvSpPr>
          <p:cNvPr id="11" name="Shape 9"/>
          <p:cNvSpPr/>
          <p:nvPr/>
        </p:nvSpPr>
        <p:spPr>
          <a:xfrm flipV="1">
            <a:off x="2331720" y="2479431"/>
            <a:ext cx="793865" cy="81241"/>
          </a:xfrm>
          <a:prstGeom prst="line">
            <a:avLst/>
          </a:prstGeom>
          <a:noFill/>
          <a:ln w="28575">
            <a:solidFill>
              <a:srgbClr val="5A6CE6"/>
            </a:solidFill>
            <a:prstDash val="solid"/>
          </a:ln>
        </p:spPr>
      </p:sp>
      <p:sp>
        <p:nvSpPr>
          <p:cNvPr id="12" name="Shape 10"/>
          <p:cNvSpPr/>
          <p:nvPr/>
        </p:nvSpPr>
        <p:spPr>
          <a:xfrm flipV="1">
            <a:off x="3125585" y="2386584"/>
            <a:ext cx="1587731" cy="92847"/>
          </a:xfrm>
          <a:prstGeom prst="line">
            <a:avLst/>
          </a:prstGeom>
          <a:noFill/>
          <a:ln w="28575">
            <a:solidFill>
              <a:srgbClr val="5A6CE6"/>
            </a:solidFill>
            <a:prstDash val="solid"/>
          </a:ln>
        </p:spPr>
      </p:sp>
      <p:sp>
        <p:nvSpPr>
          <p:cNvPr id="13" name="Shape 11"/>
          <p:cNvSpPr/>
          <p:nvPr/>
        </p:nvSpPr>
        <p:spPr>
          <a:xfrm flipV="1">
            <a:off x="4713316" y="2293737"/>
            <a:ext cx="1587731" cy="92847"/>
          </a:xfrm>
          <a:prstGeom prst="line">
            <a:avLst/>
          </a:prstGeom>
          <a:noFill/>
          <a:ln w="28575">
            <a:solidFill>
              <a:srgbClr val="5A6CE6"/>
            </a:solidFill>
            <a:prstDash val="solid"/>
          </a:ln>
        </p:spPr>
      </p:sp>
      <p:sp>
        <p:nvSpPr>
          <p:cNvPr id="14" name="Shape 12"/>
          <p:cNvSpPr/>
          <p:nvPr/>
        </p:nvSpPr>
        <p:spPr>
          <a:xfrm flipV="1">
            <a:off x="6301047" y="2200890"/>
            <a:ext cx="1587731" cy="92847"/>
          </a:xfrm>
          <a:prstGeom prst="line">
            <a:avLst/>
          </a:prstGeom>
          <a:noFill/>
          <a:ln w="28575">
            <a:solidFill>
              <a:srgbClr val="5A6CE6"/>
            </a:solidFill>
            <a:prstDash val="solid"/>
          </a:ln>
        </p:spPr>
      </p:sp>
      <p:sp>
        <p:nvSpPr>
          <p:cNvPr id="15" name="Shape 13"/>
          <p:cNvSpPr/>
          <p:nvPr/>
        </p:nvSpPr>
        <p:spPr>
          <a:xfrm flipV="1">
            <a:off x="7888778" y="2131255"/>
            <a:ext cx="1587731" cy="69635"/>
          </a:xfrm>
          <a:prstGeom prst="line">
            <a:avLst/>
          </a:prstGeom>
          <a:noFill/>
          <a:ln w="28575">
            <a:solidFill>
              <a:srgbClr val="5A6CE6"/>
            </a:solidFill>
            <a:prstDash val="solid"/>
          </a:ln>
        </p:spPr>
      </p:sp>
      <p:sp>
        <p:nvSpPr>
          <p:cNvPr id="16" name="Shape 14"/>
          <p:cNvSpPr/>
          <p:nvPr/>
        </p:nvSpPr>
        <p:spPr>
          <a:xfrm>
            <a:off x="9476509" y="2131255"/>
            <a:ext cx="1587731" cy="0"/>
          </a:xfrm>
          <a:prstGeom prst="line">
            <a:avLst/>
          </a:prstGeom>
          <a:noFill/>
          <a:ln w="28575">
            <a:solidFill>
              <a:srgbClr val="5A6CE6"/>
            </a:solidFill>
            <a:prstDash val="solid"/>
          </a:ln>
        </p:spPr>
      </p:sp>
      <p:sp>
        <p:nvSpPr>
          <p:cNvPr id="17" name="Shape 15"/>
          <p:cNvSpPr/>
          <p:nvPr/>
        </p:nvSpPr>
        <p:spPr>
          <a:xfrm>
            <a:off x="2290572" y="2519524"/>
            <a:ext cx="82296" cy="82296"/>
          </a:xfrm>
          <a:prstGeom prst="ellipse">
            <a:avLst/>
          </a:prstGeom>
          <a:solidFill>
            <a:srgbClr val="5A6CE6"/>
          </a:solidFill>
          <a:ln/>
        </p:spPr>
      </p:sp>
      <p:sp>
        <p:nvSpPr>
          <p:cNvPr id="18" name="Shape 16"/>
          <p:cNvSpPr/>
          <p:nvPr/>
        </p:nvSpPr>
        <p:spPr>
          <a:xfrm>
            <a:off x="3084437" y="2438283"/>
            <a:ext cx="82296" cy="82296"/>
          </a:xfrm>
          <a:prstGeom prst="ellipse">
            <a:avLst/>
          </a:prstGeom>
          <a:solidFill>
            <a:srgbClr val="5A6CE6"/>
          </a:solidFill>
          <a:ln/>
        </p:spPr>
      </p:sp>
      <p:sp>
        <p:nvSpPr>
          <p:cNvPr id="19" name="Shape 17"/>
          <p:cNvSpPr/>
          <p:nvPr/>
        </p:nvSpPr>
        <p:spPr>
          <a:xfrm>
            <a:off x="4672168" y="2345436"/>
            <a:ext cx="82296" cy="82296"/>
          </a:xfrm>
          <a:prstGeom prst="ellipse">
            <a:avLst/>
          </a:prstGeom>
          <a:solidFill>
            <a:srgbClr val="5A6CE6"/>
          </a:solidFill>
          <a:ln/>
        </p:spPr>
      </p:sp>
      <p:sp>
        <p:nvSpPr>
          <p:cNvPr id="20" name="Shape 18"/>
          <p:cNvSpPr/>
          <p:nvPr/>
        </p:nvSpPr>
        <p:spPr>
          <a:xfrm>
            <a:off x="6259899" y="2252589"/>
            <a:ext cx="82296" cy="82296"/>
          </a:xfrm>
          <a:prstGeom prst="ellipse">
            <a:avLst/>
          </a:prstGeom>
          <a:solidFill>
            <a:srgbClr val="5A6CE6"/>
          </a:solidFill>
          <a:ln/>
        </p:spPr>
      </p:sp>
      <p:sp>
        <p:nvSpPr>
          <p:cNvPr id="21" name="Shape 19"/>
          <p:cNvSpPr/>
          <p:nvPr/>
        </p:nvSpPr>
        <p:spPr>
          <a:xfrm>
            <a:off x="7847630" y="2159742"/>
            <a:ext cx="82296" cy="82296"/>
          </a:xfrm>
          <a:prstGeom prst="ellipse">
            <a:avLst/>
          </a:prstGeom>
          <a:solidFill>
            <a:srgbClr val="5A6CE6"/>
          </a:solidFill>
          <a:ln/>
        </p:spPr>
      </p:sp>
      <p:sp>
        <p:nvSpPr>
          <p:cNvPr id="22" name="Shape 20"/>
          <p:cNvSpPr/>
          <p:nvPr/>
        </p:nvSpPr>
        <p:spPr>
          <a:xfrm>
            <a:off x="9435361" y="2090107"/>
            <a:ext cx="82296" cy="82296"/>
          </a:xfrm>
          <a:prstGeom prst="ellipse">
            <a:avLst/>
          </a:prstGeom>
          <a:solidFill>
            <a:srgbClr val="5A6CE6"/>
          </a:solidFill>
          <a:ln/>
        </p:spPr>
      </p:sp>
      <p:sp>
        <p:nvSpPr>
          <p:cNvPr id="23" name="Shape 21"/>
          <p:cNvSpPr/>
          <p:nvPr/>
        </p:nvSpPr>
        <p:spPr>
          <a:xfrm>
            <a:off x="11023092" y="2090107"/>
            <a:ext cx="82296" cy="82296"/>
          </a:xfrm>
          <a:prstGeom prst="ellipse">
            <a:avLst/>
          </a:prstGeom>
          <a:solidFill>
            <a:srgbClr val="5A6CE6"/>
          </a:solidFill>
          <a:ln/>
        </p:spPr>
      </p:sp>
      <p:sp>
        <p:nvSpPr>
          <p:cNvPr id="24" name="Shape 22"/>
          <p:cNvSpPr/>
          <p:nvPr/>
        </p:nvSpPr>
        <p:spPr>
          <a:xfrm>
            <a:off x="3047861" y="2401707"/>
            <a:ext cx="155448" cy="155448"/>
          </a:xfrm>
          <a:prstGeom prst="ellipse">
            <a:avLst/>
          </a:prstGeom>
          <a:solidFill>
            <a:srgbClr val="F8F8F5"/>
          </a:solidFill>
          <a:ln w="25400">
            <a:solidFill>
              <a:srgbClr val="5A6CE6"/>
            </a:solidFill>
            <a:prstDash val="solid"/>
          </a:ln>
        </p:spPr>
      </p:sp>
      <p:sp>
        <p:nvSpPr>
          <p:cNvPr id="25" name="Text 23"/>
          <p:cNvSpPr/>
          <p:nvPr/>
        </p:nvSpPr>
        <p:spPr>
          <a:xfrm>
            <a:off x="3271889" y="2139696"/>
            <a:ext cx="3108960" cy="219456"/>
          </a:xfrm>
          <a:prstGeom prst="rect">
            <a:avLst/>
          </a:prstGeom>
          <a:noFill/>
          <a:ln/>
        </p:spPr>
        <p:txBody>
          <a:bodyPr wrap="square" lIns="0" tIns="0" rIns="0" bIns="0" rtlCol="0" anchor="t"/>
          <a:lstStyle/>
          <a:p>
            <a:pPr algn="l" indent="0" marL="0">
              <a:buNone/>
            </a:pPr>
            <a:r>
              <a:rPr lang="en-US" sz="950" b="1" dirty="0">
                <a:solidFill>
                  <a:srgbClr val="5A6CE6"/>
                </a:solidFill>
                <a:latin typeface="Calibri" pitchFamily="34" charset="0"/>
                <a:ea typeface="Calibri" pitchFamily="34" charset="-122"/>
                <a:cs typeface="Calibri" pitchFamily="34" charset="-120"/>
              </a:rPr>
              <a:t>Pattern detectable · week 2</a:t>
            </a:r>
            <a:endParaRPr lang="en-US" sz="950" dirty="0"/>
          </a:p>
        </p:txBody>
      </p:sp>
      <p:sp>
        <p:nvSpPr>
          <p:cNvPr id="26" name="Shape 24"/>
          <p:cNvSpPr/>
          <p:nvPr/>
        </p:nvSpPr>
        <p:spPr>
          <a:xfrm>
            <a:off x="3125585" y="2926080"/>
            <a:ext cx="7938655" cy="292608"/>
          </a:xfrm>
          <a:prstGeom prst="roundRect">
            <a:avLst>
              <a:gd name="adj" fmla="val 18750"/>
            </a:avLst>
          </a:prstGeom>
          <a:solidFill>
            <a:srgbClr val="EEEEE9"/>
          </a:solidFill>
          <a:ln/>
        </p:spPr>
      </p:sp>
      <p:sp>
        <p:nvSpPr>
          <p:cNvPr id="27" name="Text 25"/>
          <p:cNvSpPr/>
          <p:nvPr/>
        </p:nvSpPr>
        <p:spPr>
          <a:xfrm>
            <a:off x="3125585" y="2926080"/>
            <a:ext cx="7938655" cy="292608"/>
          </a:xfrm>
          <a:prstGeom prst="rect">
            <a:avLst/>
          </a:prstGeom>
          <a:noFill/>
          <a:ln/>
        </p:spPr>
        <p:txBody>
          <a:bodyPr wrap="square" lIns="0" tIns="0" rIns="0" bIns="0" rtlCol="0" anchor="ctr"/>
          <a:lstStyle/>
          <a:p>
            <a:pPr algn="ctr" indent="0" marL="0">
              <a:buNone/>
            </a:pPr>
            <a:r>
              <a:rPr lang="en-US" sz="1050" dirty="0">
                <a:solidFill>
                  <a:srgbClr val="83837B"/>
                </a:solidFill>
                <a:latin typeface="Calibri" pitchFamily="34" charset="0"/>
                <a:ea typeface="Calibri" pitchFamily="34" charset="-122"/>
                <a:cs typeface="Calibri" pitchFamily="34" charset="-120"/>
              </a:rPr>
              <a:t>No owner  ·  not documented  ·  no reassessment</a:t>
            </a:r>
            <a:endParaRPr lang="en-US" sz="1050" dirty="0"/>
          </a:p>
        </p:txBody>
      </p:sp>
      <p:sp>
        <p:nvSpPr>
          <p:cNvPr id="28" name="Shape 26"/>
          <p:cNvSpPr/>
          <p:nvPr/>
        </p:nvSpPr>
        <p:spPr>
          <a:xfrm>
            <a:off x="10991088" y="3456432"/>
            <a:ext cx="146304" cy="146304"/>
          </a:xfrm>
          <a:prstGeom prst="ellipse">
            <a:avLst/>
          </a:prstGeom>
          <a:solidFill>
            <a:srgbClr val="B0574C"/>
          </a:solidFill>
          <a:ln/>
        </p:spPr>
      </p:sp>
      <p:sp>
        <p:nvSpPr>
          <p:cNvPr id="29" name="Text 27"/>
          <p:cNvSpPr/>
          <p:nvPr/>
        </p:nvSpPr>
        <p:spPr>
          <a:xfrm>
            <a:off x="5486400" y="3419856"/>
            <a:ext cx="5358384" cy="237744"/>
          </a:xfrm>
          <a:prstGeom prst="rect">
            <a:avLst/>
          </a:prstGeom>
          <a:noFill/>
          <a:ln/>
        </p:spPr>
        <p:txBody>
          <a:bodyPr wrap="square" lIns="0" tIns="0" rIns="0" bIns="0" rtlCol="0" anchor="ctr"/>
          <a:lstStyle/>
          <a:p>
            <a:pPr algn="r" indent="0" marL="0">
              <a:buNone/>
            </a:pPr>
            <a:r>
              <a:rPr lang="en-US" sz="1100" b="1" dirty="0">
                <a:solidFill>
                  <a:srgbClr val="B0574C"/>
                </a:solidFill>
                <a:latin typeface="Calibri" pitchFamily="34" charset="0"/>
                <a:ea typeface="Calibri" pitchFamily="34" charset="-122"/>
                <a:cs typeface="Calibri" pitchFamily="34" charset="-120"/>
              </a:rPr>
              <a:t>Week 12 — fall, hospitalization, reassessment</a:t>
            </a:r>
            <a:endParaRPr lang="en-US" sz="1100" dirty="0"/>
          </a:p>
        </p:txBody>
      </p:sp>
      <p:sp>
        <p:nvSpPr>
          <p:cNvPr id="30" name="Shape 28"/>
          <p:cNvSpPr/>
          <p:nvPr/>
        </p:nvSpPr>
        <p:spPr>
          <a:xfrm>
            <a:off x="2331720" y="3822192"/>
            <a:ext cx="8732520" cy="0"/>
          </a:xfrm>
          <a:prstGeom prst="line">
            <a:avLst/>
          </a:prstGeom>
          <a:noFill/>
          <a:ln w="9525">
            <a:solidFill>
              <a:srgbClr val="E2E2DC"/>
            </a:solidFill>
            <a:prstDash val="solid"/>
          </a:ln>
        </p:spPr>
      </p:sp>
      <p:sp>
        <p:nvSpPr>
          <p:cNvPr id="31" name="Text 29"/>
          <p:cNvSpPr/>
          <p:nvPr/>
        </p:nvSpPr>
        <p:spPr>
          <a:xfrm>
            <a:off x="1691640" y="3858768"/>
            <a:ext cx="1280160" cy="182880"/>
          </a:xfrm>
          <a:prstGeom prst="rect">
            <a:avLst/>
          </a:prstGeom>
          <a:noFill/>
          <a:ln/>
        </p:spPr>
        <p:txBody>
          <a:bodyPr wrap="square" lIns="0" tIns="0" rIns="0" bIns="0" rtlCol="0" anchor="t"/>
          <a:lstStyle/>
          <a:p>
            <a:pPr algn="l" indent="0" marL="0">
              <a:buNone/>
            </a:pPr>
            <a:r>
              <a:rPr lang="en-US" sz="850" dirty="0">
                <a:solidFill>
                  <a:srgbClr val="83837B"/>
                </a:solidFill>
                <a:latin typeface="Calibri" pitchFamily="34" charset="0"/>
                <a:ea typeface="Calibri" pitchFamily="34" charset="-122"/>
                <a:cs typeface="Calibri" pitchFamily="34" charset="-120"/>
              </a:rPr>
              <a:t>Week 1</a:t>
            </a:r>
            <a:endParaRPr lang="en-US" sz="850" dirty="0"/>
          </a:p>
        </p:txBody>
      </p:sp>
      <p:sp>
        <p:nvSpPr>
          <p:cNvPr id="32" name="Text 30"/>
          <p:cNvSpPr/>
          <p:nvPr/>
        </p:nvSpPr>
        <p:spPr>
          <a:xfrm>
            <a:off x="5660967" y="3858768"/>
            <a:ext cx="1280160" cy="182880"/>
          </a:xfrm>
          <a:prstGeom prst="rect">
            <a:avLst/>
          </a:prstGeom>
          <a:noFill/>
          <a:ln/>
        </p:spPr>
        <p:txBody>
          <a:bodyPr wrap="square" lIns="0" tIns="0" rIns="0" bIns="0" rtlCol="0" anchor="t"/>
          <a:lstStyle/>
          <a:p>
            <a:pPr algn="ctr" indent="0" marL="0">
              <a:buNone/>
            </a:pPr>
            <a:r>
              <a:rPr lang="en-US" sz="850" dirty="0">
                <a:solidFill>
                  <a:srgbClr val="83837B"/>
                </a:solidFill>
                <a:latin typeface="Calibri" pitchFamily="34" charset="0"/>
                <a:ea typeface="Calibri" pitchFamily="34" charset="-122"/>
                <a:cs typeface="Calibri" pitchFamily="34" charset="-120"/>
              </a:rPr>
              <a:t>Week 6</a:t>
            </a:r>
            <a:endParaRPr lang="en-US" sz="850" dirty="0"/>
          </a:p>
        </p:txBody>
      </p:sp>
      <p:sp>
        <p:nvSpPr>
          <p:cNvPr id="33" name="Text 31"/>
          <p:cNvSpPr/>
          <p:nvPr/>
        </p:nvSpPr>
        <p:spPr>
          <a:xfrm>
            <a:off x="10424160" y="3858768"/>
            <a:ext cx="1280160" cy="182880"/>
          </a:xfrm>
          <a:prstGeom prst="rect">
            <a:avLst/>
          </a:prstGeom>
          <a:noFill/>
          <a:ln/>
        </p:spPr>
        <p:txBody>
          <a:bodyPr wrap="square" lIns="0" tIns="0" rIns="0" bIns="0" rtlCol="0" anchor="t"/>
          <a:lstStyle/>
          <a:p>
            <a:pPr algn="r" indent="0" marL="0">
              <a:buNone/>
            </a:pPr>
            <a:r>
              <a:rPr lang="en-US" sz="850" dirty="0">
                <a:solidFill>
                  <a:srgbClr val="83837B"/>
                </a:solidFill>
                <a:latin typeface="Calibri" pitchFamily="34" charset="0"/>
                <a:ea typeface="Calibri" pitchFamily="34" charset="-122"/>
                <a:cs typeface="Calibri" pitchFamily="34" charset="-120"/>
              </a:rPr>
              <a:t>Week 12</a:t>
            </a:r>
            <a:endParaRPr lang="en-US" sz="850" dirty="0"/>
          </a:p>
        </p:txBody>
      </p:sp>
      <p:sp>
        <p:nvSpPr>
          <p:cNvPr id="34" name="Shape 32"/>
          <p:cNvSpPr/>
          <p:nvPr/>
        </p:nvSpPr>
        <p:spPr>
          <a:xfrm>
            <a:off x="777240" y="4197096"/>
            <a:ext cx="0" cy="594360"/>
          </a:xfrm>
          <a:prstGeom prst="line">
            <a:avLst/>
          </a:prstGeom>
          <a:noFill/>
          <a:ln w="31750">
            <a:solidFill>
              <a:srgbClr val="5A6CE6"/>
            </a:solidFill>
            <a:prstDash val="solid"/>
          </a:ln>
        </p:spPr>
      </p:sp>
      <p:sp>
        <p:nvSpPr>
          <p:cNvPr id="35" name="Text 33"/>
          <p:cNvSpPr/>
          <p:nvPr/>
        </p:nvSpPr>
        <p:spPr>
          <a:xfrm>
            <a:off x="1014984" y="4169664"/>
            <a:ext cx="10186416" cy="792480"/>
          </a:xfrm>
          <a:prstGeom prst="rect">
            <a:avLst/>
          </a:prstGeom>
          <a:noFill/>
          <a:ln/>
        </p:spPr>
        <p:txBody>
          <a:bodyPr wrap="square" lIns="0" tIns="0" rIns="0" bIns="0" rtlCol="0" anchor="t"/>
          <a:lstStyle/>
          <a:p>
            <a:pPr algn="l" indent="0" marL="0">
              <a:lnSpc>
                <a:spcPct val="112000"/>
              </a:lnSpc>
              <a:buNone/>
            </a:pPr>
            <a:r>
              <a:rPr lang="en-US" sz="1300" i="1" dirty="0">
                <a:solidFill>
                  <a:srgbClr val="1B1B18"/>
                </a:solidFill>
                <a:latin typeface="Calibri" pitchFamily="34" charset="0"/>
                <a:ea typeface="Calibri" pitchFamily="34" charset="-122"/>
                <a:cs typeface="Calibri" pitchFamily="34" charset="-120"/>
              </a:rPr>
              <a:t>If we'd caught it in week two instead of week twelve, that's a different care plan, a different family conversation, a different revenue line. — Dana, VP Health Services</a:t>
            </a:r>
            <a:endParaRPr lang="en-US" sz="1300" dirty="0"/>
          </a:p>
        </p:txBody>
      </p:sp>
      <p:sp>
        <p:nvSpPr>
          <p:cNvPr id="36" name="Shape 34"/>
          <p:cNvSpPr/>
          <p:nvPr/>
        </p:nvSpPr>
        <p:spPr>
          <a:xfrm>
            <a:off x="777240" y="4828032"/>
            <a:ext cx="3381146" cy="1207008"/>
          </a:xfrm>
          <a:prstGeom prst="roundRect">
            <a:avLst>
              <a:gd name="adj" fmla="val 7576"/>
            </a:avLst>
          </a:prstGeom>
          <a:solidFill>
            <a:srgbClr val="EEEEE9"/>
          </a:solidFill>
          <a:ln/>
        </p:spPr>
      </p:sp>
      <p:sp>
        <p:nvSpPr>
          <p:cNvPr id="37" name="Text 35"/>
          <p:cNvSpPr/>
          <p:nvPr/>
        </p:nvSpPr>
        <p:spPr>
          <a:xfrm>
            <a:off x="1033272" y="5010912"/>
            <a:ext cx="3381146" cy="201168"/>
          </a:xfrm>
          <a:prstGeom prst="rect">
            <a:avLst/>
          </a:prstGeom>
          <a:noFill/>
          <a:ln/>
        </p:spPr>
        <p:txBody>
          <a:bodyPr wrap="square" lIns="0" tIns="0" rIns="0" bIns="0" rtlCol="0" anchor="ctr"/>
          <a:lstStyle/>
          <a:p>
            <a:pPr algn="l" indent="0" marL="0">
              <a:buNone/>
            </a:pPr>
            <a:r>
              <a:rPr lang="en-US" sz="950" b="1" spc="40" kern="0" dirty="0">
                <a:solidFill>
                  <a:srgbClr val="83837B"/>
                </a:solidFill>
                <a:latin typeface="Calibri" pitchFamily="34" charset="0"/>
                <a:ea typeface="Calibri" pitchFamily="34" charset="-122"/>
                <a:cs typeface="Calibri" pitchFamily="34" charset="-120"/>
              </a:rPr>
              <a:t>Clinical cost</a:t>
            </a:r>
            <a:endParaRPr lang="en-US" sz="950" dirty="0"/>
          </a:p>
        </p:txBody>
      </p:sp>
      <p:sp>
        <p:nvSpPr>
          <p:cNvPr id="38" name="Text 36"/>
          <p:cNvSpPr/>
          <p:nvPr/>
        </p:nvSpPr>
        <p:spPr>
          <a:xfrm>
            <a:off x="1033272" y="5266944"/>
            <a:ext cx="2869082" cy="640080"/>
          </a:xfrm>
          <a:prstGeom prst="rect">
            <a:avLst/>
          </a:prstGeom>
          <a:noFill/>
          <a:ln/>
        </p:spPr>
        <p:txBody>
          <a:bodyPr wrap="square" lIns="0" tIns="0" rIns="0" bIns="0" rtlCol="0" anchor="t"/>
          <a:lstStyle/>
          <a:p>
            <a:pPr algn="l" indent="0" marL="0">
              <a:lnSpc>
                <a:spcPct val="110000"/>
              </a:lnSpc>
              <a:buNone/>
            </a:pPr>
            <a:r>
              <a:rPr lang="en-US" sz="1100" dirty="0">
                <a:solidFill>
                  <a:srgbClr val="1B1B18"/>
                </a:solidFill>
                <a:latin typeface="Calibri" pitchFamily="34" charset="0"/>
                <a:ea typeface="Calibri" pitchFamily="34" charset="-122"/>
                <a:cs typeface="Calibri" pitchFamily="34" charset="-120"/>
              </a:rPr>
              <a:t>Fall, hospitalization, and a scramble reassessment after the week-12 crisis.</a:t>
            </a:r>
            <a:endParaRPr lang="en-US" sz="1100" dirty="0"/>
          </a:p>
        </p:txBody>
      </p:sp>
      <p:sp>
        <p:nvSpPr>
          <p:cNvPr id="39" name="Shape 37"/>
          <p:cNvSpPr/>
          <p:nvPr/>
        </p:nvSpPr>
        <p:spPr>
          <a:xfrm>
            <a:off x="4405274" y="4828032"/>
            <a:ext cx="3381146" cy="1207008"/>
          </a:xfrm>
          <a:prstGeom prst="roundRect">
            <a:avLst>
              <a:gd name="adj" fmla="val 7576"/>
            </a:avLst>
          </a:prstGeom>
          <a:solidFill>
            <a:srgbClr val="EEEEE9"/>
          </a:solidFill>
          <a:ln/>
        </p:spPr>
      </p:sp>
      <p:sp>
        <p:nvSpPr>
          <p:cNvPr id="40" name="Text 38"/>
          <p:cNvSpPr/>
          <p:nvPr/>
        </p:nvSpPr>
        <p:spPr>
          <a:xfrm>
            <a:off x="4661306" y="5010912"/>
            <a:ext cx="3381146" cy="201168"/>
          </a:xfrm>
          <a:prstGeom prst="rect">
            <a:avLst/>
          </a:prstGeom>
          <a:noFill/>
          <a:ln/>
        </p:spPr>
        <p:txBody>
          <a:bodyPr wrap="square" lIns="0" tIns="0" rIns="0" bIns="0" rtlCol="0" anchor="ctr"/>
          <a:lstStyle/>
          <a:p>
            <a:pPr algn="l" indent="0" marL="0">
              <a:buNone/>
            </a:pPr>
            <a:r>
              <a:rPr lang="en-US" sz="950" b="1" spc="40" kern="0" dirty="0">
                <a:solidFill>
                  <a:srgbClr val="83837B"/>
                </a:solidFill>
                <a:latin typeface="Calibri" pitchFamily="34" charset="0"/>
                <a:ea typeface="Calibri" pitchFamily="34" charset="-122"/>
                <a:cs typeface="Calibri" pitchFamily="34" charset="-120"/>
              </a:rPr>
              <a:t>Financial cost</a:t>
            </a:r>
            <a:endParaRPr lang="en-US" sz="950" dirty="0"/>
          </a:p>
        </p:txBody>
      </p:sp>
      <p:sp>
        <p:nvSpPr>
          <p:cNvPr id="41" name="Text 39"/>
          <p:cNvSpPr/>
          <p:nvPr/>
        </p:nvSpPr>
        <p:spPr>
          <a:xfrm>
            <a:off x="4661306" y="5212080"/>
            <a:ext cx="3015386" cy="365760"/>
          </a:xfrm>
          <a:prstGeom prst="rect">
            <a:avLst/>
          </a:prstGeom>
          <a:noFill/>
          <a:ln/>
        </p:spPr>
        <p:txBody>
          <a:bodyPr wrap="square" lIns="0" tIns="0" rIns="0" bIns="0" rtlCol="0" anchor="t"/>
          <a:lstStyle/>
          <a:p>
            <a:pPr algn="l" indent="0" marL="0">
              <a:buNone/>
            </a:pPr>
            <a:r>
              <a:rPr lang="en-US" sz="2500" b="1" dirty="0">
                <a:solidFill>
                  <a:srgbClr val="1B1B18"/>
                </a:solidFill>
                <a:latin typeface="Calibri" pitchFamily="34" charset="0"/>
                <a:ea typeface="Calibri" pitchFamily="34" charset="-122"/>
                <a:cs typeface="Calibri" pitchFamily="34" charset="-120"/>
              </a:rPr>
              <a:t>~$90K / yr</a:t>
            </a:r>
            <a:endParaRPr lang="en-US" sz="2500" dirty="0"/>
          </a:p>
        </p:txBody>
      </p:sp>
      <p:sp>
        <p:nvSpPr>
          <p:cNvPr id="42" name="Text 40"/>
          <p:cNvSpPr/>
          <p:nvPr/>
        </p:nvSpPr>
        <p:spPr>
          <a:xfrm>
            <a:off x="4661306" y="5614416"/>
            <a:ext cx="2923946" cy="219456"/>
          </a:xfrm>
          <a:prstGeom prst="rect">
            <a:avLst/>
          </a:prstGeom>
          <a:noFill/>
          <a:ln/>
        </p:spPr>
        <p:txBody>
          <a:bodyPr wrap="square" lIns="0" tIns="0" rIns="0" bIns="0" rtlCol="0" anchor="t"/>
          <a:lstStyle/>
          <a:p>
            <a:pPr algn="l" indent="0" marL="0">
              <a:buNone/>
            </a:pPr>
            <a:r>
              <a:rPr lang="en-US" sz="1000" dirty="0">
                <a:solidFill>
                  <a:srgbClr val="83837B"/>
                </a:solidFill>
                <a:latin typeface="Calibri" pitchFamily="34" charset="0"/>
                <a:ea typeface="Calibri" pitchFamily="34" charset="-122"/>
                <a:cs typeface="Calibri" pitchFamily="34" charset="-120"/>
              </a:rPr>
              <a:t>per building — illustrative</a:t>
            </a:r>
            <a:endParaRPr lang="en-US" sz="1000" dirty="0"/>
          </a:p>
        </p:txBody>
      </p:sp>
      <p:sp>
        <p:nvSpPr>
          <p:cNvPr id="43" name="Text 41"/>
          <p:cNvSpPr/>
          <p:nvPr/>
        </p:nvSpPr>
        <p:spPr>
          <a:xfrm>
            <a:off x="4661306" y="5797296"/>
            <a:ext cx="2923946" cy="201168"/>
          </a:xfrm>
          <a:prstGeom prst="rect">
            <a:avLst/>
          </a:prstGeom>
          <a:noFill/>
          <a:ln/>
        </p:spPr>
        <p:txBody>
          <a:bodyPr wrap="square" lIns="0" tIns="0" rIns="0" bIns="0" rtlCol="0" anchor="t"/>
          <a:lstStyle/>
          <a:p>
            <a:pPr algn="l" indent="0" marL="0">
              <a:buNone/>
            </a:pPr>
            <a:r>
              <a:rPr lang="en-US" sz="900" dirty="0">
                <a:solidFill>
                  <a:srgbClr val="83837B"/>
                </a:solidFill>
                <a:latin typeface="Calibri" pitchFamily="34" charset="0"/>
                <a:ea typeface="Calibri" pitchFamily="34" charset="-122"/>
                <a:cs typeface="Calibri" pitchFamily="34" charset="-120"/>
              </a:rPr>
              <a:t>10 under-leveled residents × ~$750/mo</a:t>
            </a:r>
            <a:endParaRPr lang="en-US" sz="900" dirty="0"/>
          </a:p>
        </p:txBody>
      </p:sp>
      <p:sp>
        <p:nvSpPr>
          <p:cNvPr id="44" name="Shape 42"/>
          <p:cNvSpPr/>
          <p:nvPr/>
        </p:nvSpPr>
        <p:spPr>
          <a:xfrm>
            <a:off x="8033309" y="4828032"/>
            <a:ext cx="3381146" cy="1207008"/>
          </a:xfrm>
          <a:prstGeom prst="roundRect">
            <a:avLst>
              <a:gd name="adj" fmla="val 7576"/>
            </a:avLst>
          </a:prstGeom>
          <a:solidFill>
            <a:srgbClr val="EEEEE9"/>
          </a:solidFill>
          <a:ln/>
        </p:spPr>
      </p:sp>
      <p:sp>
        <p:nvSpPr>
          <p:cNvPr id="45" name="Text 43"/>
          <p:cNvSpPr/>
          <p:nvPr/>
        </p:nvSpPr>
        <p:spPr>
          <a:xfrm>
            <a:off x="8289341" y="5010912"/>
            <a:ext cx="3381146" cy="201168"/>
          </a:xfrm>
          <a:prstGeom prst="rect">
            <a:avLst/>
          </a:prstGeom>
          <a:noFill/>
          <a:ln/>
        </p:spPr>
        <p:txBody>
          <a:bodyPr wrap="square" lIns="0" tIns="0" rIns="0" bIns="0" rtlCol="0" anchor="ctr"/>
          <a:lstStyle/>
          <a:p>
            <a:pPr algn="l" indent="0" marL="0">
              <a:buNone/>
            </a:pPr>
            <a:r>
              <a:rPr lang="en-US" sz="950" b="1" spc="40" kern="0" dirty="0">
                <a:solidFill>
                  <a:srgbClr val="83837B"/>
                </a:solidFill>
                <a:latin typeface="Calibri" pitchFamily="34" charset="0"/>
                <a:ea typeface="Calibri" pitchFamily="34" charset="-122"/>
                <a:cs typeface="Calibri" pitchFamily="34" charset="-120"/>
              </a:rPr>
              <a:t>Data advantage</a:t>
            </a:r>
            <a:endParaRPr lang="en-US" sz="950" dirty="0"/>
          </a:p>
        </p:txBody>
      </p:sp>
      <p:sp>
        <p:nvSpPr>
          <p:cNvPr id="46" name="Text 44"/>
          <p:cNvSpPr/>
          <p:nvPr/>
        </p:nvSpPr>
        <p:spPr>
          <a:xfrm>
            <a:off x="8289341" y="5266944"/>
            <a:ext cx="2869082" cy="640080"/>
          </a:xfrm>
          <a:prstGeom prst="rect">
            <a:avLst/>
          </a:prstGeom>
          <a:noFill/>
          <a:ln/>
        </p:spPr>
        <p:txBody>
          <a:bodyPr wrap="square" lIns="0" tIns="0" rIns="0" bIns="0" rtlCol="0" anchor="t"/>
          <a:lstStyle/>
          <a:p>
            <a:pPr algn="l" indent="0" marL="0">
              <a:lnSpc>
                <a:spcPct val="110000"/>
              </a:lnSpc>
              <a:buNone/>
            </a:pPr>
            <a:r>
              <a:rPr lang="en-US" sz="1100" dirty="0">
                <a:solidFill>
                  <a:srgbClr val="1B1B18"/>
                </a:solidFill>
                <a:latin typeface="Calibri" pitchFamily="34" charset="0"/>
                <a:ea typeface="Calibri" pitchFamily="34" charset="-122"/>
                <a:cs typeface="Calibri" pitchFamily="34" charset="-120"/>
              </a:rPr>
              <a:t>EHR flags see only what staff chart. Teton sees the unwitnessed night patterns.</a:t>
            </a:r>
            <a:endParaRPr lang="en-US" sz="1100" dirty="0"/>
          </a:p>
        </p:txBody>
      </p:sp>
      <p:sp>
        <p:nvSpPr>
          <p:cNvPr id="47" name="Text 45"/>
          <p:cNvSpPr/>
          <p:nvPr/>
        </p:nvSpPr>
        <p:spPr>
          <a:xfrm>
            <a:off x="777240" y="6181344"/>
            <a:ext cx="10637215" cy="219456"/>
          </a:xfrm>
          <a:prstGeom prst="rect">
            <a:avLst/>
          </a:prstGeom>
          <a:noFill/>
          <a:ln/>
        </p:spPr>
        <p:txBody>
          <a:bodyPr wrap="square" lIns="0" tIns="0" rIns="0" bIns="0" rtlCol="0" anchor="t"/>
          <a:lstStyle/>
          <a:p>
            <a:pPr algn="l" indent="0" marL="0">
              <a:buNone/>
            </a:pPr>
            <a:r>
              <a:rPr lang="en-US" sz="800" dirty="0">
                <a:solidFill>
                  <a:srgbClr val="83837B"/>
                </a:solidFill>
                <a:latin typeface="Calibri" pitchFamily="34" charset="0"/>
                <a:ea typeface="Calibri" pitchFamily="34" charset="-122"/>
                <a:cs typeface="Calibri" pitchFamily="34" charset="-120"/>
              </a:rPr>
              <a:t>Market context: ~2/3 of clinical leaders report acuity is underreported; 75% report higher acuity than five years ago (ASHA / August Health, 2025). Sizing is directional — Phase 1 validates.</a:t>
            </a:r>
            <a:endParaRPr lang="en-US" sz="800" dirty="0"/>
          </a:p>
        </p:txBody>
      </p:sp>
      <p:sp>
        <p:nvSpPr>
          <p:cNvPr id="48" name="Text 46"/>
          <p:cNvSpPr/>
          <p:nvPr/>
        </p:nvSpPr>
        <p:spPr>
          <a:xfrm>
            <a:off x="777240" y="6473952"/>
            <a:ext cx="5486400" cy="237744"/>
          </a:xfrm>
          <a:prstGeom prst="rect">
            <a:avLst/>
          </a:prstGeom>
          <a:noFill/>
          <a:ln/>
        </p:spPr>
        <p:txBody>
          <a:bodyPr wrap="square" lIns="0" tIns="0" rIns="0" bIns="0" rtlCol="0" anchor="ctr"/>
          <a:lstStyle/>
          <a:p>
            <a:pPr algn="l" indent="0" marL="0">
              <a:buNone/>
            </a:pPr>
            <a:r>
              <a:rPr lang="en-US" sz="850" dirty="0">
                <a:solidFill>
                  <a:srgbClr val="83837B"/>
                </a:solidFill>
                <a:latin typeface="Calibri" pitchFamily="34" charset="0"/>
                <a:ea typeface="Calibri" pitchFamily="34" charset="-122"/>
                <a:cs typeface="Calibri" pitchFamily="34" charset="-120"/>
              </a:rPr>
              <a:t>Teton  ·  Product recommendation</a:t>
            </a:r>
            <a:endParaRPr lang="en-US" sz="850" dirty="0"/>
          </a:p>
        </p:txBody>
      </p:sp>
      <p:sp>
        <p:nvSpPr>
          <p:cNvPr id="49" name="Text 47"/>
          <p:cNvSpPr/>
          <p:nvPr/>
        </p:nvSpPr>
        <p:spPr>
          <a:xfrm>
            <a:off x="10500055" y="6473952"/>
            <a:ext cx="914400" cy="237744"/>
          </a:xfrm>
          <a:prstGeom prst="rect">
            <a:avLst/>
          </a:prstGeom>
          <a:noFill/>
          <a:ln/>
        </p:spPr>
        <p:txBody>
          <a:bodyPr wrap="square" lIns="0" tIns="0" rIns="0" bIns="0" rtlCol="0" anchor="ctr"/>
          <a:lstStyle/>
          <a:p>
            <a:pPr algn="r" indent="0" marL="0">
              <a:buNone/>
            </a:pPr>
            <a:r>
              <a:rPr lang="en-US" sz="850" dirty="0">
                <a:solidFill>
                  <a:srgbClr val="83837B"/>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5"/>
        </a:solidFill>
      </p:bgPr>
    </p:bg>
    <p:spTree>
      <p:nvGrpSpPr>
        <p:cNvPr id="1" name=""/>
        <p:cNvGrpSpPr/>
        <p:nvPr/>
      </p:nvGrpSpPr>
      <p:grpSpPr>
        <a:xfrm>
          <a:off x="0" y="0"/>
          <a:ext cx="0" cy="0"/>
          <a:chOff x="0" y="0"/>
          <a:chExt cx="0" cy="0"/>
        </a:xfrm>
      </p:grpSpPr>
      <p:sp>
        <p:nvSpPr>
          <p:cNvPr id="2" name="Shape 0"/>
          <p:cNvSpPr/>
          <p:nvPr/>
        </p:nvSpPr>
        <p:spPr>
          <a:xfrm>
            <a:off x="777240" y="384048"/>
            <a:ext cx="100584" cy="100584"/>
          </a:xfrm>
          <a:prstGeom prst="ellipse">
            <a:avLst/>
          </a:prstGeom>
          <a:solidFill>
            <a:srgbClr val="5A6CE6"/>
          </a:solidFill>
          <a:ln/>
        </p:spPr>
      </p:sp>
      <p:sp>
        <p:nvSpPr>
          <p:cNvPr id="3" name="Text 1"/>
          <p:cNvSpPr/>
          <p:nvPr/>
        </p:nvSpPr>
        <p:spPr>
          <a:xfrm>
            <a:off x="978408" y="320040"/>
            <a:ext cx="9144000" cy="237744"/>
          </a:xfrm>
          <a:prstGeom prst="rect">
            <a:avLst/>
          </a:prstGeom>
          <a:noFill/>
          <a:ln/>
        </p:spPr>
        <p:txBody>
          <a:bodyPr wrap="square" lIns="0" tIns="0" rIns="0" bIns="0" rtlCol="0" anchor="ctr"/>
          <a:lstStyle/>
          <a:p>
            <a:pPr algn="l" indent="0" marL="0">
              <a:buNone/>
            </a:pPr>
            <a:r>
              <a:rPr lang="en-US" sz="1050" b="1" spc="160" kern="0" dirty="0">
                <a:solidFill>
                  <a:srgbClr val="83837B"/>
                </a:solidFill>
                <a:latin typeface="Calibri" pitchFamily="34" charset="0"/>
                <a:ea typeface="Calibri" pitchFamily="34" charset="-122"/>
                <a:cs typeface="Calibri" pitchFamily="34" charset="-120"/>
              </a:rPr>
              <a:t>PRIORITIZATION</a:t>
            </a:r>
            <a:endParaRPr lang="en-US" sz="1050" dirty="0"/>
          </a:p>
        </p:txBody>
      </p:sp>
      <p:sp>
        <p:nvSpPr>
          <p:cNvPr id="4" name="Text 2"/>
          <p:cNvSpPr/>
          <p:nvPr/>
        </p:nvSpPr>
        <p:spPr>
          <a:xfrm>
            <a:off x="777240" y="676656"/>
            <a:ext cx="10424160" cy="822960"/>
          </a:xfrm>
          <a:prstGeom prst="rect">
            <a:avLst/>
          </a:prstGeom>
          <a:noFill/>
          <a:ln/>
        </p:spPr>
        <p:txBody>
          <a:bodyPr wrap="square" lIns="0" tIns="0" rIns="0" bIns="0" rtlCol="0" anchor="t"/>
          <a:lstStyle/>
          <a:p>
            <a:pPr algn="l" indent="0" marL="0">
              <a:lnSpc>
                <a:spcPct val="102000"/>
              </a:lnSpc>
              <a:buNone/>
            </a:pPr>
            <a:r>
              <a:rPr lang="en-US" sz="2400" b="1" dirty="0">
                <a:solidFill>
                  <a:srgbClr val="1B1B18"/>
                </a:solidFill>
                <a:latin typeface="Calibri" pitchFamily="34" charset="0"/>
                <a:ea typeface="Calibri" pitchFamily="34" charset="-122"/>
                <a:cs typeface="Calibri" pitchFamily="34" charset="-120"/>
              </a:rPr>
              <a:t>Why change-of-condition review is the six-month bet</a:t>
            </a:r>
            <a:endParaRPr lang="en-US" sz="2400" dirty="0"/>
          </a:p>
        </p:txBody>
      </p:sp>
      <p:sp>
        <p:nvSpPr>
          <p:cNvPr id="5" name="Text 3"/>
          <p:cNvSpPr/>
          <p:nvPr/>
        </p:nvSpPr>
        <p:spPr>
          <a:xfrm>
            <a:off x="777240" y="1463040"/>
            <a:ext cx="10058400" cy="457200"/>
          </a:xfrm>
          <a:prstGeom prst="rect">
            <a:avLst/>
          </a:prstGeom>
          <a:noFill/>
          <a:ln/>
        </p:spPr>
        <p:txBody>
          <a:bodyPr wrap="square" lIns="0" tIns="0" rIns="0" bIns="0" rtlCol="0" anchor="t"/>
          <a:lstStyle/>
          <a:p>
            <a:pPr algn="l" indent="0" marL="0">
              <a:lnSpc>
                <a:spcPct val="112000"/>
              </a:lnSpc>
              <a:buNone/>
            </a:pPr>
            <a:r>
              <a:rPr lang="en-US" sz="1250" dirty="0">
                <a:solidFill>
                  <a:srgbClr val="83837B"/>
                </a:solidFill>
                <a:latin typeface="Calibri" pitchFamily="34" charset="0"/>
                <a:ea typeface="Calibri" pitchFamily="34" charset="-122"/>
                <a:cs typeface="Calibri" pitchFamily="34" charset="-120"/>
              </a:rPr>
              <a:t>It is the only option that reaches the high-value decision workflow without overreaching clinically or technically.</a:t>
            </a:r>
            <a:endParaRPr lang="en-US" sz="1250" dirty="0"/>
          </a:p>
        </p:txBody>
      </p:sp>
      <p:sp>
        <p:nvSpPr>
          <p:cNvPr id="6" name="Text 4"/>
          <p:cNvSpPr/>
          <p:nvPr/>
        </p:nvSpPr>
        <p:spPr>
          <a:xfrm>
            <a:off x="923544" y="1874520"/>
            <a:ext cx="2560320" cy="384048"/>
          </a:xfrm>
          <a:prstGeom prst="rect">
            <a:avLst/>
          </a:prstGeom>
          <a:noFill/>
          <a:ln/>
        </p:spPr>
        <p:txBody>
          <a:bodyPr wrap="square" lIns="0" tIns="0" rIns="0" bIns="0" rtlCol="0" anchor="ctr"/>
          <a:lstStyle/>
          <a:p>
            <a:pPr algn="l" indent="0" marL="0">
              <a:buNone/>
            </a:pPr>
            <a:r>
              <a:rPr lang="en-US" sz="1000" b="1" dirty="0">
                <a:solidFill>
                  <a:srgbClr val="83837B"/>
                </a:solidFill>
                <a:latin typeface="Calibri" pitchFamily="34" charset="0"/>
                <a:ea typeface="Calibri" pitchFamily="34" charset="-122"/>
                <a:cs typeface="Calibri" pitchFamily="34" charset="-120"/>
              </a:rPr>
              <a:t>Option</a:t>
            </a:r>
            <a:endParaRPr lang="en-US" sz="1000" dirty="0"/>
          </a:p>
        </p:txBody>
      </p:sp>
      <p:sp>
        <p:nvSpPr>
          <p:cNvPr id="7" name="Text 5"/>
          <p:cNvSpPr/>
          <p:nvPr/>
        </p:nvSpPr>
        <p:spPr>
          <a:xfrm>
            <a:off x="3666744" y="1874520"/>
            <a:ext cx="3749040" cy="384048"/>
          </a:xfrm>
          <a:prstGeom prst="rect">
            <a:avLst/>
          </a:prstGeom>
          <a:noFill/>
          <a:ln/>
        </p:spPr>
        <p:txBody>
          <a:bodyPr wrap="square" lIns="0" tIns="0" rIns="0" bIns="0" rtlCol="0" anchor="ctr"/>
          <a:lstStyle/>
          <a:p>
            <a:pPr algn="l" indent="0" marL="0">
              <a:buNone/>
            </a:pPr>
            <a:r>
              <a:rPr lang="en-US" sz="1000" b="1" dirty="0">
                <a:solidFill>
                  <a:srgbClr val="83837B"/>
                </a:solidFill>
                <a:latin typeface="Calibri" pitchFamily="34" charset="0"/>
                <a:ea typeface="Calibri" pitchFamily="34" charset="-122"/>
                <a:cs typeface="Calibri" pitchFamily="34" charset="-120"/>
              </a:rPr>
              <a:t>Customer signal</a:t>
            </a:r>
            <a:endParaRPr lang="en-US" sz="1000" dirty="0"/>
          </a:p>
        </p:txBody>
      </p:sp>
      <p:sp>
        <p:nvSpPr>
          <p:cNvPr id="8" name="Text 6"/>
          <p:cNvSpPr/>
          <p:nvPr/>
        </p:nvSpPr>
        <p:spPr>
          <a:xfrm>
            <a:off x="7598664" y="1874520"/>
            <a:ext cx="3776472" cy="384048"/>
          </a:xfrm>
          <a:prstGeom prst="rect">
            <a:avLst/>
          </a:prstGeom>
          <a:noFill/>
          <a:ln/>
        </p:spPr>
        <p:txBody>
          <a:bodyPr wrap="square" lIns="0" tIns="0" rIns="0" bIns="0" rtlCol="0" anchor="ctr"/>
          <a:lstStyle/>
          <a:p>
            <a:pPr algn="l" indent="0" marL="0">
              <a:buNone/>
            </a:pPr>
            <a:r>
              <a:rPr lang="en-US" sz="1000" b="1" dirty="0">
                <a:solidFill>
                  <a:srgbClr val="83837B"/>
                </a:solidFill>
                <a:latin typeface="Calibri" pitchFamily="34" charset="0"/>
                <a:ea typeface="Calibri" pitchFamily="34" charset="-122"/>
                <a:cs typeface="Calibri" pitchFamily="34" charset="-120"/>
              </a:rPr>
              <a:t>Why not the six-month bet</a:t>
            </a:r>
            <a:endParaRPr lang="en-US" sz="1000" dirty="0"/>
          </a:p>
        </p:txBody>
      </p:sp>
      <p:sp>
        <p:nvSpPr>
          <p:cNvPr id="9" name="Shape 7"/>
          <p:cNvSpPr/>
          <p:nvPr/>
        </p:nvSpPr>
        <p:spPr>
          <a:xfrm>
            <a:off x="777240" y="2258568"/>
            <a:ext cx="10637215" cy="0"/>
          </a:xfrm>
          <a:prstGeom prst="line">
            <a:avLst/>
          </a:prstGeom>
          <a:noFill/>
          <a:ln w="12700">
            <a:solidFill>
              <a:srgbClr val="E2E2DC"/>
            </a:solidFill>
            <a:prstDash val="solid"/>
          </a:ln>
        </p:spPr>
      </p:sp>
      <p:sp>
        <p:nvSpPr>
          <p:cNvPr id="10" name="Text 8"/>
          <p:cNvSpPr/>
          <p:nvPr/>
        </p:nvSpPr>
        <p:spPr>
          <a:xfrm>
            <a:off x="923544" y="2258568"/>
            <a:ext cx="2487168"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Fall accuracy</a:t>
            </a:r>
            <a:endParaRPr lang="en-US" sz="1050" dirty="0"/>
          </a:p>
        </p:txBody>
      </p:sp>
      <p:sp>
        <p:nvSpPr>
          <p:cNvPr id="11" name="Text 9"/>
          <p:cNvSpPr/>
          <p:nvPr/>
        </p:nvSpPr>
        <p:spPr>
          <a:xfrm>
            <a:off x="3666744" y="2258568"/>
            <a:ext cx="3675888"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False alarms still affect trust</a:t>
            </a:r>
            <a:endParaRPr lang="en-US" sz="1050" dirty="0"/>
          </a:p>
        </p:txBody>
      </p:sp>
      <p:sp>
        <p:nvSpPr>
          <p:cNvPr id="12" name="Text 10"/>
          <p:cNvSpPr/>
          <p:nvPr/>
        </p:nvSpPr>
        <p:spPr>
          <a:xfrm>
            <a:off x="7598664" y="2258568"/>
            <a:ext cx="3703320"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Improves the wedge, but doesn't reach daytime decisions</a:t>
            </a:r>
            <a:endParaRPr lang="en-US" sz="1050" dirty="0"/>
          </a:p>
        </p:txBody>
      </p:sp>
      <p:sp>
        <p:nvSpPr>
          <p:cNvPr id="13" name="Shape 11"/>
          <p:cNvSpPr/>
          <p:nvPr/>
        </p:nvSpPr>
        <p:spPr>
          <a:xfrm>
            <a:off x="777240" y="2770632"/>
            <a:ext cx="10637215" cy="0"/>
          </a:xfrm>
          <a:prstGeom prst="line">
            <a:avLst/>
          </a:prstGeom>
          <a:noFill/>
          <a:ln w="9525">
            <a:solidFill>
              <a:srgbClr val="E2E2DC"/>
            </a:solidFill>
            <a:prstDash val="solid"/>
          </a:ln>
        </p:spPr>
      </p:sp>
      <p:sp>
        <p:nvSpPr>
          <p:cNvPr id="14" name="Text 12"/>
          <p:cNvSpPr/>
          <p:nvPr/>
        </p:nvSpPr>
        <p:spPr>
          <a:xfrm>
            <a:off x="923544" y="2770632"/>
            <a:ext cx="2487168"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Day-shift adoption push</a:t>
            </a:r>
            <a:endParaRPr lang="en-US" sz="1050" dirty="0"/>
          </a:p>
        </p:txBody>
      </p:sp>
      <p:sp>
        <p:nvSpPr>
          <p:cNvPr id="15" name="Text 13"/>
          <p:cNvSpPr/>
          <p:nvPr/>
        </p:nvSpPr>
        <p:spPr>
          <a:xfrm>
            <a:off x="3666744" y="2770632"/>
            <a:ext cx="3675888"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Marcus asks for broader usage</a:t>
            </a:r>
            <a:endParaRPr lang="en-US" sz="1050" dirty="0"/>
          </a:p>
        </p:txBody>
      </p:sp>
      <p:sp>
        <p:nvSpPr>
          <p:cNvPr id="16" name="Text 14"/>
          <p:cNvSpPr/>
          <p:nvPr/>
        </p:nvSpPr>
        <p:spPr>
          <a:xfrm>
            <a:off x="7598664" y="2770632"/>
            <a:ext cx="3703320"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More logins don't guarantee care action</a:t>
            </a:r>
            <a:endParaRPr lang="en-US" sz="1050" dirty="0"/>
          </a:p>
        </p:txBody>
      </p:sp>
      <p:sp>
        <p:nvSpPr>
          <p:cNvPr id="17" name="Shape 15"/>
          <p:cNvSpPr/>
          <p:nvPr/>
        </p:nvSpPr>
        <p:spPr>
          <a:xfrm>
            <a:off x="777240" y="3282696"/>
            <a:ext cx="10637215" cy="0"/>
          </a:xfrm>
          <a:prstGeom prst="line">
            <a:avLst/>
          </a:prstGeom>
          <a:noFill/>
          <a:ln w="9525">
            <a:solidFill>
              <a:srgbClr val="E2E2DC"/>
            </a:solidFill>
            <a:prstDash val="solid"/>
          </a:ln>
        </p:spPr>
      </p:sp>
      <p:sp>
        <p:nvSpPr>
          <p:cNvPr id="18" name="Text 16"/>
          <p:cNvSpPr/>
          <p:nvPr/>
        </p:nvSpPr>
        <p:spPr>
          <a:xfrm>
            <a:off x="923544" y="3282696"/>
            <a:ext cx="2487168"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Family live-view</a:t>
            </a:r>
            <a:endParaRPr lang="en-US" sz="1050" dirty="0"/>
          </a:p>
        </p:txBody>
      </p:sp>
      <p:sp>
        <p:nvSpPr>
          <p:cNvPr id="19" name="Text 17"/>
          <p:cNvSpPr/>
          <p:nvPr/>
        </p:nvSpPr>
        <p:spPr>
          <a:xfrm>
            <a:off x="3666744" y="3282696"/>
            <a:ext cx="3675888"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Families ask to see rooms</a:t>
            </a:r>
            <a:endParaRPr lang="en-US" sz="1050" dirty="0"/>
          </a:p>
        </p:txBody>
      </p:sp>
      <p:sp>
        <p:nvSpPr>
          <p:cNvPr id="20" name="Text 18"/>
          <p:cNvSpPr/>
          <p:nvPr/>
        </p:nvSpPr>
        <p:spPr>
          <a:xfrm>
            <a:off x="7598664" y="3282696"/>
            <a:ext cx="3703320"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Privacy &amp; surveillance risk before the workflow is proven</a:t>
            </a:r>
            <a:endParaRPr lang="en-US" sz="1050" dirty="0"/>
          </a:p>
        </p:txBody>
      </p:sp>
      <p:sp>
        <p:nvSpPr>
          <p:cNvPr id="21" name="Shape 19"/>
          <p:cNvSpPr/>
          <p:nvPr/>
        </p:nvSpPr>
        <p:spPr>
          <a:xfrm>
            <a:off x="777240" y="3794760"/>
            <a:ext cx="10637215" cy="0"/>
          </a:xfrm>
          <a:prstGeom prst="line">
            <a:avLst/>
          </a:prstGeom>
          <a:noFill/>
          <a:ln w="9525">
            <a:solidFill>
              <a:srgbClr val="E2E2DC"/>
            </a:solidFill>
            <a:prstDash val="solid"/>
          </a:ln>
        </p:spPr>
      </p:sp>
      <p:sp>
        <p:nvSpPr>
          <p:cNvPr id="22" name="Text 20"/>
          <p:cNvSpPr/>
          <p:nvPr/>
        </p:nvSpPr>
        <p:spPr>
          <a:xfrm>
            <a:off x="923544" y="3794760"/>
            <a:ext cx="2487168"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Full EHR integration</a:t>
            </a:r>
            <a:endParaRPr lang="en-US" sz="1050" dirty="0"/>
          </a:p>
        </p:txBody>
      </p:sp>
      <p:sp>
        <p:nvSpPr>
          <p:cNvPr id="23" name="Text 21"/>
          <p:cNvSpPr/>
          <p:nvPr/>
        </p:nvSpPr>
        <p:spPr>
          <a:xfrm>
            <a:off x="3666744" y="3794760"/>
            <a:ext cx="3675888"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The EHR is the record</a:t>
            </a:r>
            <a:endParaRPr lang="en-US" sz="1050" dirty="0"/>
          </a:p>
        </p:txBody>
      </p:sp>
      <p:sp>
        <p:nvSpPr>
          <p:cNvPr id="24" name="Text 22"/>
          <p:cNvSpPr/>
          <p:nvPr/>
        </p:nvSpPr>
        <p:spPr>
          <a:xfrm>
            <a:off x="7598664" y="3794760"/>
            <a:ext cx="3703320"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Too broad across a dozen EHRs for six months</a:t>
            </a:r>
            <a:endParaRPr lang="en-US" sz="1050" dirty="0"/>
          </a:p>
        </p:txBody>
      </p:sp>
      <p:sp>
        <p:nvSpPr>
          <p:cNvPr id="25" name="Shape 23"/>
          <p:cNvSpPr/>
          <p:nvPr/>
        </p:nvSpPr>
        <p:spPr>
          <a:xfrm>
            <a:off x="777240" y="4306824"/>
            <a:ext cx="10637215" cy="0"/>
          </a:xfrm>
          <a:prstGeom prst="line">
            <a:avLst/>
          </a:prstGeom>
          <a:noFill/>
          <a:ln w="9525">
            <a:solidFill>
              <a:srgbClr val="E2E2DC"/>
            </a:solidFill>
            <a:prstDash val="solid"/>
          </a:ln>
        </p:spPr>
      </p:sp>
      <p:sp>
        <p:nvSpPr>
          <p:cNvPr id="26" name="Text 24"/>
          <p:cNvSpPr/>
          <p:nvPr/>
        </p:nvSpPr>
        <p:spPr>
          <a:xfrm>
            <a:off x="923544" y="4306824"/>
            <a:ext cx="2487168"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Auto care-level recommendation</a:t>
            </a:r>
            <a:endParaRPr lang="en-US" sz="1050" dirty="0"/>
          </a:p>
        </p:txBody>
      </p:sp>
      <p:sp>
        <p:nvSpPr>
          <p:cNvPr id="27" name="Text 25"/>
          <p:cNvSpPr/>
          <p:nvPr/>
        </p:nvSpPr>
        <p:spPr>
          <a:xfrm>
            <a:off x="3666744" y="4306824"/>
            <a:ext cx="3675888"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Care levels drive billing &amp; care plans</a:t>
            </a:r>
            <a:endParaRPr lang="en-US" sz="1050" dirty="0"/>
          </a:p>
        </p:txBody>
      </p:sp>
      <p:sp>
        <p:nvSpPr>
          <p:cNvPr id="28" name="Text 26"/>
          <p:cNvSpPr/>
          <p:nvPr/>
        </p:nvSpPr>
        <p:spPr>
          <a:xfrm>
            <a:off x="7598664" y="4306824"/>
            <a:ext cx="3703320"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Too close to automated billing decisions</a:t>
            </a:r>
            <a:endParaRPr lang="en-US" sz="1050" dirty="0"/>
          </a:p>
        </p:txBody>
      </p:sp>
      <p:sp>
        <p:nvSpPr>
          <p:cNvPr id="29" name="Shape 27"/>
          <p:cNvSpPr/>
          <p:nvPr/>
        </p:nvSpPr>
        <p:spPr>
          <a:xfrm>
            <a:off x="667512" y="4818888"/>
            <a:ext cx="10856671" cy="512064"/>
          </a:xfrm>
          <a:prstGeom prst="roundRect">
            <a:avLst>
              <a:gd name="adj" fmla="val 14286"/>
            </a:avLst>
          </a:prstGeom>
          <a:solidFill>
            <a:srgbClr val="EBEEFB"/>
          </a:solidFill>
          <a:ln/>
        </p:spPr>
      </p:sp>
      <p:sp>
        <p:nvSpPr>
          <p:cNvPr id="30" name="Text 28"/>
          <p:cNvSpPr/>
          <p:nvPr/>
        </p:nvSpPr>
        <p:spPr>
          <a:xfrm>
            <a:off x="923544" y="4818888"/>
            <a:ext cx="2487168" cy="512064"/>
          </a:xfrm>
          <a:prstGeom prst="rect">
            <a:avLst/>
          </a:prstGeom>
          <a:noFill/>
          <a:ln/>
        </p:spPr>
        <p:txBody>
          <a:bodyPr wrap="square" lIns="0" tIns="0" rIns="0" bIns="0" rtlCol="0" anchor="ctr"/>
          <a:lstStyle/>
          <a:p>
            <a:pPr algn="l" indent="0" marL="0">
              <a:lnSpc>
                <a:spcPct val="103000"/>
              </a:lnSpc>
              <a:buNone/>
            </a:pPr>
            <a:r>
              <a:rPr lang="en-US" sz="1050" b="1" dirty="0">
                <a:solidFill>
                  <a:srgbClr val="5A6CE6"/>
                </a:solidFill>
                <a:latin typeface="Calibri" pitchFamily="34" charset="0"/>
                <a:ea typeface="Calibri" pitchFamily="34" charset="-122"/>
                <a:cs typeface="Calibri" pitchFamily="34" charset="-120"/>
              </a:rPr>
              <a:t>Change-of-condition review</a:t>
            </a:r>
            <a:endParaRPr lang="en-US" sz="1050" dirty="0"/>
          </a:p>
        </p:txBody>
      </p:sp>
      <p:sp>
        <p:nvSpPr>
          <p:cNvPr id="31" name="Text 29"/>
          <p:cNvSpPr/>
          <p:nvPr/>
        </p:nvSpPr>
        <p:spPr>
          <a:xfrm>
            <a:off x="3666744" y="4818888"/>
            <a:ext cx="3675888"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Gradual decline is missed and costly</a:t>
            </a:r>
            <a:endParaRPr lang="en-US" sz="1050" dirty="0"/>
          </a:p>
        </p:txBody>
      </p:sp>
      <p:sp>
        <p:nvSpPr>
          <p:cNvPr id="32" name="Text 30"/>
          <p:cNvSpPr/>
          <p:nvPr/>
        </p:nvSpPr>
        <p:spPr>
          <a:xfrm>
            <a:off x="7598664" y="4818888"/>
            <a:ext cx="3703320" cy="512064"/>
          </a:xfrm>
          <a:prstGeom prst="rect">
            <a:avLst/>
          </a:prstGeom>
          <a:noFill/>
          <a:ln/>
        </p:spPr>
        <p:txBody>
          <a:bodyPr wrap="square" lIns="0" tIns="0" rIns="0" bIns="0" rtlCol="0" anchor="ctr"/>
          <a:lstStyle/>
          <a:p>
            <a:pPr algn="l" indent="0" marL="0">
              <a:lnSpc>
                <a:spcPct val="103000"/>
              </a:lnSpc>
              <a:buNone/>
            </a:pPr>
            <a:r>
              <a:rPr lang="en-US" sz="1050" dirty="0">
                <a:solidFill>
                  <a:srgbClr val="1B1B18"/>
                </a:solidFill>
                <a:latin typeface="Calibri" pitchFamily="34" charset="0"/>
                <a:ea typeface="Calibri" pitchFamily="34" charset="-122"/>
                <a:cs typeface="Calibri" pitchFamily="34" charset="-120"/>
              </a:rPr>
              <a:t>Turns existing Teton signal into a nurse-owned review</a:t>
            </a:r>
            <a:endParaRPr lang="en-US" sz="1050" dirty="0"/>
          </a:p>
        </p:txBody>
      </p:sp>
      <p:sp>
        <p:nvSpPr>
          <p:cNvPr id="33" name="Shape 31"/>
          <p:cNvSpPr/>
          <p:nvPr/>
        </p:nvSpPr>
        <p:spPr>
          <a:xfrm>
            <a:off x="777240" y="5623560"/>
            <a:ext cx="10637215" cy="0"/>
          </a:xfrm>
          <a:prstGeom prst="line">
            <a:avLst/>
          </a:prstGeom>
          <a:noFill/>
          <a:ln w="9525">
            <a:solidFill>
              <a:srgbClr val="E2E2DC"/>
            </a:solidFill>
            <a:prstDash val="solid"/>
          </a:ln>
        </p:spPr>
      </p:sp>
      <p:sp>
        <p:nvSpPr>
          <p:cNvPr id="34" name="Text 32"/>
          <p:cNvSpPr/>
          <p:nvPr/>
        </p:nvSpPr>
        <p:spPr>
          <a:xfrm>
            <a:off x="777240" y="5742432"/>
            <a:ext cx="10637215" cy="457200"/>
          </a:xfrm>
          <a:prstGeom prst="rect">
            <a:avLst/>
          </a:prstGeom>
          <a:noFill/>
          <a:ln/>
        </p:spPr>
        <p:txBody>
          <a:bodyPr wrap="square" lIns="0" tIns="0" rIns="0" bIns="0" rtlCol="0" anchor="ctr"/>
          <a:lstStyle/>
          <a:p>
            <a:pPr algn="l" indent="0" marL="0">
              <a:buNone/>
            </a:pPr>
            <a:r>
              <a:rPr lang="en-US" sz="1250" b="1" dirty="0">
                <a:solidFill>
                  <a:srgbClr val="5A6CE6"/>
                </a:solidFill>
                <a:latin typeface="Calibri" pitchFamily="34" charset="0"/>
                <a:ea typeface="Calibri" pitchFamily="34" charset="-122"/>
                <a:cs typeface="Calibri" pitchFamily="34" charset="-120"/>
              </a:rPr>
              <a:t>Guardrail   </a:t>
            </a:r>
            <a:pPr algn="l" indent="0" marL="0">
              <a:buNone/>
            </a:pPr>
            <a:r>
              <a:rPr lang="en-US" sz="1250" dirty="0">
                <a:solidFill>
                  <a:srgbClr val="1B1B18"/>
                </a:solidFill>
                <a:latin typeface="Calibri" pitchFamily="34" charset="0"/>
                <a:ea typeface="Calibri" pitchFamily="34" charset="-122"/>
                <a:cs typeface="Calibri" pitchFamily="34" charset="-120"/>
              </a:rPr>
              <a:t>Teton surfaces review-worthy evidence. A nurse decides what happens next.</a:t>
            </a:r>
            <a:endParaRPr lang="en-US" sz="1250" dirty="0"/>
          </a:p>
        </p:txBody>
      </p:sp>
      <p:sp>
        <p:nvSpPr>
          <p:cNvPr id="35" name="Text 33"/>
          <p:cNvSpPr/>
          <p:nvPr/>
        </p:nvSpPr>
        <p:spPr>
          <a:xfrm>
            <a:off x="777240" y="6473952"/>
            <a:ext cx="5486400" cy="237744"/>
          </a:xfrm>
          <a:prstGeom prst="rect">
            <a:avLst/>
          </a:prstGeom>
          <a:noFill/>
          <a:ln/>
        </p:spPr>
        <p:txBody>
          <a:bodyPr wrap="square" lIns="0" tIns="0" rIns="0" bIns="0" rtlCol="0" anchor="ctr"/>
          <a:lstStyle/>
          <a:p>
            <a:pPr algn="l" indent="0" marL="0">
              <a:buNone/>
            </a:pPr>
            <a:r>
              <a:rPr lang="en-US" sz="850" dirty="0">
                <a:solidFill>
                  <a:srgbClr val="83837B"/>
                </a:solidFill>
                <a:latin typeface="Calibri" pitchFamily="34" charset="0"/>
                <a:ea typeface="Calibri" pitchFamily="34" charset="-122"/>
                <a:cs typeface="Calibri" pitchFamily="34" charset="-120"/>
              </a:rPr>
              <a:t>Teton  ·  Product recommendation</a:t>
            </a:r>
            <a:endParaRPr lang="en-US" sz="850" dirty="0"/>
          </a:p>
        </p:txBody>
      </p:sp>
      <p:sp>
        <p:nvSpPr>
          <p:cNvPr id="36" name="Text 34"/>
          <p:cNvSpPr/>
          <p:nvPr/>
        </p:nvSpPr>
        <p:spPr>
          <a:xfrm>
            <a:off x="10500055" y="6473952"/>
            <a:ext cx="914400" cy="237744"/>
          </a:xfrm>
          <a:prstGeom prst="rect">
            <a:avLst/>
          </a:prstGeom>
          <a:noFill/>
          <a:ln/>
        </p:spPr>
        <p:txBody>
          <a:bodyPr wrap="square" lIns="0" tIns="0" rIns="0" bIns="0" rtlCol="0" anchor="ctr"/>
          <a:lstStyle/>
          <a:p>
            <a:pPr algn="r" indent="0" marL="0">
              <a:buNone/>
            </a:pPr>
            <a:r>
              <a:rPr lang="en-US" sz="850" dirty="0">
                <a:solidFill>
                  <a:srgbClr val="83837B"/>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8F5"/>
        </a:solidFill>
      </p:bgPr>
    </p:bg>
    <p:spTree>
      <p:nvGrpSpPr>
        <p:cNvPr id="1" name=""/>
        <p:cNvGrpSpPr/>
        <p:nvPr/>
      </p:nvGrpSpPr>
      <p:grpSpPr>
        <a:xfrm>
          <a:off x="0" y="0"/>
          <a:ext cx="0" cy="0"/>
          <a:chOff x="0" y="0"/>
          <a:chExt cx="0" cy="0"/>
        </a:xfrm>
      </p:grpSpPr>
      <p:sp>
        <p:nvSpPr>
          <p:cNvPr id="2" name="Shape 0"/>
          <p:cNvSpPr/>
          <p:nvPr/>
        </p:nvSpPr>
        <p:spPr>
          <a:xfrm>
            <a:off x="777240" y="384048"/>
            <a:ext cx="100584" cy="100584"/>
          </a:xfrm>
          <a:prstGeom prst="ellipse">
            <a:avLst/>
          </a:prstGeom>
          <a:solidFill>
            <a:srgbClr val="5A6CE6"/>
          </a:solidFill>
          <a:ln/>
        </p:spPr>
      </p:sp>
      <p:sp>
        <p:nvSpPr>
          <p:cNvPr id="3" name="Text 1"/>
          <p:cNvSpPr/>
          <p:nvPr/>
        </p:nvSpPr>
        <p:spPr>
          <a:xfrm>
            <a:off x="978408" y="320040"/>
            <a:ext cx="9144000" cy="237744"/>
          </a:xfrm>
          <a:prstGeom prst="rect">
            <a:avLst/>
          </a:prstGeom>
          <a:noFill/>
          <a:ln/>
        </p:spPr>
        <p:txBody>
          <a:bodyPr wrap="square" lIns="0" tIns="0" rIns="0" bIns="0" rtlCol="0" anchor="ctr"/>
          <a:lstStyle/>
          <a:p>
            <a:pPr algn="l" indent="0" marL="0">
              <a:buNone/>
            </a:pPr>
            <a:r>
              <a:rPr lang="en-US" sz="1050" b="1" spc="160" kern="0" dirty="0">
                <a:solidFill>
                  <a:srgbClr val="83837B"/>
                </a:solidFill>
                <a:latin typeface="Calibri" pitchFamily="34" charset="0"/>
                <a:ea typeface="Calibri" pitchFamily="34" charset="-122"/>
                <a:cs typeface="Calibri" pitchFamily="34" charset="-120"/>
              </a:rPr>
              <a:t>PRODUCT DIRECTION</a:t>
            </a:r>
            <a:endParaRPr lang="en-US" sz="1050" dirty="0"/>
          </a:p>
        </p:txBody>
      </p:sp>
      <p:sp>
        <p:nvSpPr>
          <p:cNvPr id="4" name="Text 2"/>
          <p:cNvSpPr/>
          <p:nvPr/>
        </p:nvSpPr>
        <p:spPr>
          <a:xfrm>
            <a:off x="777240" y="676656"/>
            <a:ext cx="10424160" cy="822960"/>
          </a:xfrm>
          <a:prstGeom prst="rect">
            <a:avLst/>
          </a:prstGeom>
          <a:noFill/>
          <a:ln/>
        </p:spPr>
        <p:txBody>
          <a:bodyPr wrap="square" lIns="0" tIns="0" rIns="0" bIns="0" rtlCol="0" anchor="t"/>
          <a:lstStyle/>
          <a:p>
            <a:pPr algn="l" indent="0" marL="0">
              <a:lnSpc>
                <a:spcPct val="102000"/>
              </a:lnSpc>
              <a:buNone/>
            </a:pPr>
            <a:r>
              <a:rPr lang="en-US" sz="2400" b="1" dirty="0">
                <a:solidFill>
                  <a:srgbClr val="1B1B18"/>
                </a:solidFill>
                <a:latin typeface="Calibri" pitchFamily="34" charset="0"/>
                <a:ea typeface="Calibri" pitchFamily="34" charset="-122"/>
                <a:cs typeface="Calibri" pitchFamily="34" charset="-120"/>
              </a:rPr>
              <a:t>Turn ambient signals into reviewed care evidence</a:t>
            </a:r>
            <a:endParaRPr lang="en-US" sz="2400" dirty="0"/>
          </a:p>
        </p:txBody>
      </p:sp>
      <p:sp>
        <p:nvSpPr>
          <p:cNvPr id="5" name="Text 3"/>
          <p:cNvSpPr/>
          <p:nvPr/>
        </p:nvSpPr>
        <p:spPr>
          <a:xfrm>
            <a:off x="777240" y="1463040"/>
            <a:ext cx="10058400" cy="457200"/>
          </a:xfrm>
          <a:prstGeom prst="rect">
            <a:avLst/>
          </a:prstGeom>
          <a:noFill/>
          <a:ln/>
        </p:spPr>
        <p:txBody>
          <a:bodyPr wrap="square" lIns="0" tIns="0" rIns="0" bIns="0" rtlCol="0" anchor="t"/>
          <a:lstStyle/>
          <a:p>
            <a:pPr algn="l" indent="0" marL="0">
              <a:lnSpc>
                <a:spcPct val="112000"/>
              </a:lnSpc>
              <a:buNone/>
            </a:pPr>
            <a:r>
              <a:rPr lang="en-US" sz="1250" dirty="0">
                <a:solidFill>
                  <a:srgbClr val="83837B"/>
                </a:solidFill>
                <a:latin typeface="Calibri" pitchFamily="34" charset="0"/>
                <a:ea typeface="Calibri" pitchFamily="34" charset="-122"/>
                <a:cs typeface="Calibri" pitchFamily="34" charset="-120"/>
              </a:rPr>
              <a:t>Detect a meaningful change, route it to a clinical owner, and document the reviewed outcome.</a:t>
            </a:r>
            <a:endParaRPr lang="en-US" sz="1250" dirty="0"/>
          </a:p>
        </p:txBody>
      </p:sp>
      <p:sp>
        <p:nvSpPr>
          <p:cNvPr id="6" name="Text 4"/>
          <p:cNvSpPr/>
          <p:nvPr/>
        </p:nvSpPr>
        <p:spPr>
          <a:xfrm>
            <a:off x="777240" y="1901952"/>
            <a:ext cx="1280160" cy="274320"/>
          </a:xfrm>
          <a:prstGeom prst="rect">
            <a:avLst/>
          </a:prstGeom>
          <a:noFill/>
          <a:ln/>
        </p:spPr>
        <p:txBody>
          <a:bodyPr wrap="square" lIns="0" tIns="0" rIns="0" bIns="0" rtlCol="0" anchor="t"/>
          <a:lstStyle/>
          <a:p>
            <a:pPr algn="l" indent="0" marL="0">
              <a:buNone/>
            </a:pPr>
            <a:r>
              <a:rPr lang="en-US" sz="1300" b="1" dirty="0">
                <a:solidFill>
                  <a:srgbClr val="1B1B18"/>
                </a:solidFill>
                <a:latin typeface="Calibri" pitchFamily="34" charset="0"/>
                <a:ea typeface="Calibri" pitchFamily="34" charset="-122"/>
                <a:cs typeface="Calibri" pitchFamily="34" charset="-120"/>
              </a:rPr>
              <a:t>Detect</a:t>
            </a:r>
            <a:endParaRPr lang="en-US" sz="1300" dirty="0"/>
          </a:p>
        </p:txBody>
      </p:sp>
      <p:sp>
        <p:nvSpPr>
          <p:cNvPr id="7" name="Text 5"/>
          <p:cNvSpPr/>
          <p:nvPr/>
        </p:nvSpPr>
        <p:spPr>
          <a:xfrm>
            <a:off x="1837944" y="1901952"/>
            <a:ext cx="365760" cy="274320"/>
          </a:xfrm>
          <a:prstGeom prst="rect">
            <a:avLst/>
          </a:prstGeom>
          <a:noFill/>
          <a:ln/>
        </p:spPr>
        <p:txBody>
          <a:bodyPr wrap="square" lIns="0" tIns="0" rIns="0" bIns="0" rtlCol="0" anchor="t"/>
          <a:lstStyle/>
          <a:p>
            <a:pPr algn="l" indent="0" marL="0">
              <a:buNone/>
            </a:pPr>
            <a:r>
              <a:rPr lang="en-US" sz="1300" b="1" dirty="0">
                <a:solidFill>
                  <a:srgbClr val="5A6CE6"/>
                </a:solidFill>
                <a:latin typeface="Calibri" pitchFamily="34" charset="0"/>
                <a:ea typeface="Calibri" pitchFamily="34" charset="-122"/>
                <a:cs typeface="Calibri" pitchFamily="34" charset="-120"/>
              </a:rPr>
              <a:t>→</a:t>
            </a:r>
            <a:endParaRPr lang="en-US" sz="1300" dirty="0"/>
          </a:p>
        </p:txBody>
      </p:sp>
      <p:sp>
        <p:nvSpPr>
          <p:cNvPr id="8" name="Text 6"/>
          <p:cNvSpPr/>
          <p:nvPr/>
        </p:nvSpPr>
        <p:spPr>
          <a:xfrm>
            <a:off x="2203704" y="1901952"/>
            <a:ext cx="1280160" cy="274320"/>
          </a:xfrm>
          <a:prstGeom prst="rect">
            <a:avLst/>
          </a:prstGeom>
          <a:noFill/>
          <a:ln/>
        </p:spPr>
        <p:txBody>
          <a:bodyPr wrap="square" lIns="0" tIns="0" rIns="0" bIns="0" rtlCol="0" anchor="t"/>
          <a:lstStyle/>
          <a:p>
            <a:pPr algn="l" indent="0" marL="0">
              <a:buNone/>
            </a:pPr>
            <a:r>
              <a:rPr lang="en-US" sz="1300" b="1" dirty="0">
                <a:solidFill>
                  <a:srgbClr val="1B1B18"/>
                </a:solidFill>
                <a:latin typeface="Calibri" pitchFamily="34" charset="0"/>
                <a:ea typeface="Calibri" pitchFamily="34" charset="-122"/>
                <a:cs typeface="Calibri" pitchFamily="34" charset="-120"/>
              </a:rPr>
              <a:t>Review</a:t>
            </a:r>
            <a:endParaRPr lang="en-US" sz="1300" dirty="0"/>
          </a:p>
        </p:txBody>
      </p:sp>
      <p:sp>
        <p:nvSpPr>
          <p:cNvPr id="9" name="Text 7"/>
          <p:cNvSpPr/>
          <p:nvPr/>
        </p:nvSpPr>
        <p:spPr>
          <a:xfrm>
            <a:off x="3264408" y="1901952"/>
            <a:ext cx="365760" cy="274320"/>
          </a:xfrm>
          <a:prstGeom prst="rect">
            <a:avLst/>
          </a:prstGeom>
          <a:noFill/>
          <a:ln/>
        </p:spPr>
        <p:txBody>
          <a:bodyPr wrap="square" lIns="0" tIns="0" rIns="0" bIns="0" rtlCol="0" anchor="t"/>
          <a:lstStyle/>
          <a:p>
            <a:pPr algn="l" indent="0" marL="0">
              <a:buNone/>
            </a:pPr>
            <a:r>
              <a:rPr lang="en-US" sz="1300" b="1" dirty="0">
                <a:solidFill>
                  <a:srgbClr val="5A6CE6"/>
                </a:solidFill>
                <a:latin typeface="Calibri" pitchFamily="34" charset="0"/>
                <a:ea typeface="Calibri" pitchFamily="34" charset="-122"/>
                <a:cs typeface="Calibri" pitchFamily="34" charset="-120"/>
              </a:rPr>
              <a:t>→</a:t>
            </a:r>
            <a:endParaRPr lang="en-US" sz="1300" dirty="0"/>
          </a:p>
        </p:txBody>
      </p:sp>
      <p:sp>
        <p:nvSpPr>
          <p:cNvPr id="10" name="Text 8"/>
          <p:cNvSpPr/>
          <p:nvPr/>
        </p:nvSpPr>
        <p:spPr>
          <a:xfrm>
            <a:off x="3630168" y="1901952"/>
            <a:ext cx="1280160" cy="274320"/>
          </a:xfrm>
          <a:prstGeom prst="rect">
            <a:avLst/>
          </a:prstGeom>
          <a:noFill/>
          <a:ln/>
        </p:spPr>
        <p:txBody>
          <a:bodyPr wrap="square" lIns="0" tIns="0" rIns="0" bIns="0" rtlCol="0" anchor="t"/>
          <a:lstStyle/>
          <a:p>
            <a:pPr algn="l" indent="0" marL="0">
              <a:buNone/>
            </a:pPr>
            <a:r>
              <a:rPr lang="en-US" sz="1300" b="1" dirty="0">
                <a:solidFill>
                  <a:srgbClr val="1B1B18"/>
                </a:solidFill>
                <a:latin typeface="Calibri" pitchFamily="34" charset="0"/>
                <a:ea typeface="Calibri" pitchFamily="34" charset="-122"/>
                <a:cs typeface="Calibri" pitchFamily="34" charset="-120"/>
              </a:rPr>
              <a:t>Document</a:t>
            </a:r>
            <a:endParaRPr lang="en-US" sz="1300" dirty="0"/>
          </a:p>
        </p:txBody>
      </p:sp>
      <p:sp>
        <p:nvSpPr>
          <p:cNvPr id="11" name="Text 9"/>
          <p:cNvSpPr/>
          <p:nvPr/>
        </p:nvSpPr>
        <p:spPr>
          <a:xfrm>
            <a:off x="4690872" y="1901952"/>
            <a:ext cx="365760" cy="274320"/>
          </a:xfrm>
          <a:prstGeom prst="rect">
            <a:avLst/>
          </a:prstGeom>
          <a:noFill/>
          <a:ln/>
        </p:spPr>
        <p:txBody>
          <a:bodyPr wrap="square" lIns="0" tIns="0" rIns="0" bIns="0" rtlCol="0" anchor="t"/>
          <a:lstStyle/>
          <a:p>
            <a:pPr algn="l" indent="0" marL="0">
              <a:buNone/>
            </a:pPr>
            <a:r>
              <a:rPr lang="en-US" sz="1300" b="1" dirty="0">
                <a:solidFill>
                  <a:srgbClr val="5A6CE6"/>
                </a:solidFill>
                <a:latin typeface="Calibri" pitchFamily="34" charset="0"/>
                <a:ea typeface="Calibri" pitchFamily="34" charset="-122"/>
                <a:cs typeface="Calibri" pitchFamily="34" charset="-120"/>
              </a:rPr>
              <a:t>→</a:t>
            </a:r>
            <a:endParaRPr lang="en-US" sz="1300" dirty="0"/>
          </a:p>
        </p:txBody>
      </p:sp>
      <p:sp>
        <p:nvSpPr>
          <p:cNvPr id="12" name="Text 10"/>
          <p:cNvSpPr/>
          <p:nvPr/>
        </p:nvSpPr>
        <p:spPr>
          <a:xfrm>
            <a:off x="5056632" y="1901952"/>
            <a:ext cx="1280160" cy="274320"/>
          </a:xfrm>
          <a:prstGeom prst="rect">
            <a:avLst/>
          </a:prstGeom>
          <a:noFill/>
          <a:ln/>
        </p:spPr>
        <p:txBody>
          <a:bodyPr wrap="square" lIns="0" tIns="0" rIns="0" bIns="0" rtlCol="0" anchor="t"/>
          <a:lstStyle/>
          <a:p>
            <a:pPr algn="l" indent="0" marL="0">
              <a:buNone/>
            </a:pPr>
            <a:r>
              <a:rPr lang="en-US" sz="1300" b="1" dirty="0">
                <a:solidFill>
                  <a:srgbClr val="1B1B18"/>
                </a:solidFill>
                <a:latin typeface="Calibri" pitchFamily="34" charset="0"/>
                <a:ea typeface="Calibri" pitchFamily="34" charset="-122"/>
                <a:cs typeface="Calibri" pitchFamily="34" charset="-120"/>
              </a:rPr>
              <a:t>Explain</a:t>
            </a:r>
            <a:endParaRPr lang="en-US" sz="1300" dirty="0"/>
          </a:p>
        </p:txBody>
      </p:sp>
      <p:sp>
        <p:nvSpPr>
          <p:cNvPr id="13" name="Shape 11"/>
          <p:cNvSpPr/>
          <p:nvPr/>
        </p:nvSpPr>
        <p:spPr>
          <a:xfrm>
            <a:off x="777240" y="2395728"/>
            <a:ext cx="7315200" cy="3364992"/>
          </a:xfrm>
          <a:prstGeom prst="roundRect">
            <a:avLst>
              <a:gd name="adj" fmla="val 3261"/>
            </a:avLst>
          </a:prstGeom>
          <a:solidFill>
            <a:srgbClr val="F8F8F5"/>
          </a:solidFill>
          <a:ln w="15875">
            <a:solidFill>
              <a:srgbClr val="E2E2DC"/>
            </a:solidFill>
            <a:prstDash val="solid"/>
          </a:ln>
          <a:effectLst>
            <a:outerShdw sx="100000" sy="100000" kx="0" ky="0" algn="bl" rotWithShape="0" blurRad="114300" dist="38100" dir="5400000">
              <a:srgbClr val="20232A">
                <a:alpha val="10000"/>
              </a:srgbClr>
            </a:outerShdw>
          </a:effectLst>
        </p:spPr>
      </p:sp>
      <p:sp>
        <p:nvSpPr>
          <p:cNvPr id="14" name="Text 12"/>
          <p:cNvSpPr/>
          <p:nvPr/>
        </p:nvSpPr>
        <p:spPr>
          <a:xfrm>
            <a:off x="1106424" y="2651760"/>
            <a:ext cx="2743200" cy="201168"/>
          </a:xfrm>
          <a:prstGeom prst="rect">
            <a:avLst/>
          </a:prstGeom>
          <a:noFill/>
          <a:ln/>
        </p:spPr>
        <p:txBody>
          <a:bodyPr wrap="square" lIns="0" tIns="0" rIns="0" bIns="0" rtlCol="0" anchor="ctr"/>
          <a:lstStyle/>
          <a:p>
            <a:pPr algn="l" indent="0" marL="0">
              <a:buNone/>
            </a:pPr>
            <a:r>
              <a:rPr lang="en-US" sz="950" b="1" spc="40" kern="0" dirty="0">
                <a:solidFill>
                  <a:srgbClr val="83837B"/>
                </a:solidFill>
                <a:latin typeface="Calibri" pitchFamily="34" charset="0"/>
                <a:ea typeface="Calibri" pitchFamily="34" charset="-122"/>
                <a:cs typeface="Calibri" pitchFamily="34" charset="-120"/>
              </a:rPr>
              <a:t>Suggested review</a:t>
            </a:r>
            <a:endParaRPr lang="en-US" sz="950" dirty="0"/>
          </a:p>
        </p:txBody>
      </p:sp>
      <p:sp>
        <p:nvSpPr>
          <p:cNvPr id="15" name="Text 13"/>
          <p:cNvSpPr/>
          <p:nvPr/>
        </p:nvSpPr>
        <p:spPr>
          <a:xfrm>
            <a:off x="1106424" y="2852928"/>
            <a:ext cx="5120640" cy="365760"/>
          </a:xfrm>
          <a:prstGeom prst="rect">
            <a:avLst/>
          </a:prstGeom>
          <a:noFill/>
          <a:ln/>
        </p:spPr>
        <p:txBody>
          <a:bodyPr wrap="square" lIns="0" tIns="0" rIns="0" bIns="0" rtlCol="0" anchor="t"/>
          <a:lstStyle/>
          <a:p>
            <a:pPr algn="l" indent="0" marL="0">
              <a:buNone/>
            </a:pPr>
            <a:r>
              <a:rPr lang="en-US" sz="1700" b="1" dirty="0">
                <a:solidFill>
                  <a:srgbClr val="1B1B18"/>
                </a:solidFill>
                <a:latin typeface="Calibri" pitchFamily="34" charset="0"/>
                <a:ea typeface="Calibri" pitchFamily="34" charset="-122"/>
                <a:cs typeface="Calibri" pitchFamily="34" charset="-120"/>
              </a:rPr>
              <a:t>E. Alvarez  ·  Room 312</a:t>
            </a:r>
            <a:endParaRPr lang="en-US" sz="1700" dirty="0"/>
          </a:p>
        </p:txBody>
      </p:sp>
      <p:sp>
        <p:nvSpPr>
          <p:cNvPr id="16" name="Text 14"/>
          <p:cNvSpPr/>
          <p:nvPr/>
        </p:nvSpPr>
        <p:spPr>
          <a:xfrm>
            <a:off x="5989320" y="2871216"/>
            <a:ext cx="1773936" cy="329184"/>
          </a:xfrm>
          <a:prstGeom prst="rect">
            <a:avLst/>
          </a:prstGeom>
          <a:noFill/>
          <a:ln/>
        </p:spPr>
        <p:txBody>
          <a:bodyPr wrap="square" lIns="0" tIns="0" rIns="0" bIns="0" rtlCol="0" anchor="ctr"/>
          <a:lstStyle/>
          <a:p>
            <a:pPr algn="r" indent="0" marL="0">
              <a:buNone/>
            </a:pPr>
            <a:r>
              <a:rPr lang="en-US" sz="1050" b="1" dirty="0">
                <a:solidFill>
                  <a:srgbClr val="5A6CE6"/>
                </a:solidFill>
                <a:latin typeface="Calibri" pitchFamily="34" charset="0"/>
                <a:ea typeface="Calibri" pitchFamily="34" charset="-122"/>
                <a:cs typeface="Calibri" pitchFamily="34" charset="-120"/>
              </a:rPr>
              <a:t>Review priority: High</a:t>
            </a:r>
            <a:endParaRPr lang="en-US" sz="1050" dirty="0"/>
          </a:p>
        </p:txBody>
      </p:sp>
      <p:sp>
        <p:nvSpPr>
          <p:cNvPr id="17" name="Text 15"/>
          <p:cNvSpPr/>
          <p:nvPr/>
        </p:nvSpPr>
        <p:spPr>
          <a:xfrm>
            <a:off x="1106424" y="3346704"/>
            <a:ext cx="2743200" cy="201168"/>
          </a:xfrm>
          <a:prstGeom prst="rect">
            <a:avLst/>
          </a:prstGeom>
          <a:noFill/>
          <a:ln/>
        </p:spPr>
        <p:txBody>
          <a:bodyPr wrap="square" lIns="0" tIns="0" rIns="0" bIns="0" rtlCol="0" anchor="ctr"/>
          <a:lstStyle/>
          <a:p>
            <a:pPr algn="l" indent="0" marL="0">
              <a:buNone/>
            </a:pPr>
            <a:r>
              <a:rPr lang="en-US" sz="950" b="1" spc="40" kern="0" dirty="0">
                <a:solidFill>
                  <a:srgbClr val="83837B"/>
                </a:solidFill>
                <a:latin typeface="Calibri" pitchFamily="34" charset="0"/>
                <a:ea typeface="Calibri" pitchFamily="34" charset="-122"/>
                <a:cs typeface="Calibri" pitchFamily="34" charset="-120"/>
              </a:rPr>
              <a:t>Why surfaced</a:t>
            </a:r>
            <a:endParaRPr lang="en-US" sz="950" dirty="0"/>
          </a:p>
        </p:txBody>
      </p:sp>
      <p:sp>
        <p:nvSpPr>
          <p:cNvPr id="18" name="Text 16"/>
          <p:cNvSpPr/>
          <p:nvPr/>
        </p:nvSpPr>
        <p:spPr>
          <a:xfrm>
            <a:off x="1106424" y="3547872"/>
            <a:ext cx="6656832" cy="603504"/>
          </a:xfrm>
          <a:prstGeom prst="rect">
            <a:avLst/>
          </a:prstGeom>
          <a:noFill/>
          <a:ln/>
        </p:spPr>
        <p:txBody>
          <a:bodyPr wrap="square" lIns="0" tIns="0" rIns="0" bIns="0" rtlCol="0" anchor="t"/>
          <a:lstStyle/>
          <a:p>
            <a:pPr algn="l" indent="0" marL="0">
              <a:lnSpc>
                <a:spcPct val="110000"/>
              </a:lnSpc>
              <a:buNone/>
            </a:pPr>
            <a:r>
              <a:rPr lang="en-US" sz="1250" dirty="0">
                <a:solidFill>
                  <a:srgbClr val="1B1B18"/>
                </a:solidFill>
                <a:latin typeface="Calibri" pitchFamily="34" charset="0"/>
                <a:ea typeface="Calibri" pitchFamily="34" charset="-122"/>
                <a:cs typeface="Calibri" pitchFamily="34" charset="-120"/>
              </a:rPr>
              <a:t>Nighttime rising increased from 1.2 to 4.6 per night over six weeks. Staff-supported entries increased. Two possible unwitnessed events.</a:t>
            </a:r>
            <a:endParaRPr lang="en-US" sz="1250" dirty="0"/>
          </a:p>
        </p:txBody>
      </p:sp>
      <p:sp>
        <p:nvSpPr>
          <p:cNvPr id="19" name="Text 17"/>
          <p:cNvSpPr/>
          <p:nvPr/>
        </p:nvSpPr>
        <p:spPr>
          <a:xfrm>
            <a:off x="1106424" y="4187952"/>
            <a:ext cx="6656832" cy="219456"/>
          </a:xfrm>
          <a:prstGeom prst="rect">
            <a:avLst/>
          </a:prstGeom>
          <a:noFill/>
          <a:ln/>
        </p:spPr>
        <p:txBody>
          <a:bodyPr wrap="square" lIns="0" tIns="0" rIns="0" bIns="0" rtlCol="0" anchor="t"/>
          <a:lstStyle/>
          <a:p>
            <a:pPr algn="l" indent="0" marL="0">
              <a:buNone/>
            </a:pPr>
            <a:r>
              <a:rPr lang="en-US" sz="1000" i="1" dirty="0">
                <a:solidFill>
                  <a:srgbClr val="83837B"/>
                </a:solidFill>
                <a:latin typeface="Calibri" pitchFamily="34" charset="0"/>
                <a:ea typeface="Calibri" pitchFamily="34" charset="-122"/>
                <a:cs typeface="Calibri" pitchFamily="34" charset="-120"/>
              </a:rPr>
              <a:t>Evidence period: May 18 – Jun 29</a:t>
            </a:r>
            <a:endParaRPr lang="en-US" sz="1000" dirty="0"/>
          </a:p>
        </p:txBody>
      </p:sp>
      <p:sp>
        <p:nvSpPr>
          <p:cNvPr id="20" name="Shape 18"/>
          <p:cNvSpPr/>
          <p:nvPr/>
        </p:nvSpPr>
        <p:spPr>
          <a:xfrm>
            <a:off x="1106424" y="4572000"/>
            <a:ext cx="6656832" cy="0"/>
          </a:xfrm>
          <a:prstGeom prst="line">
            <a:avLst/>
          </a:prstGeom>
          <a:noFill/>
          <a:ln w="9525">
            <a:solidFill>
              <a:srgbClr val="E2E2DC"/>
            </a:solidFill>
            <a:prstDash val="solid"/>
          </a:ln>
        </p:spPr>
      </p:sp>
      <p:sp>
        <p:nvSpPr>
          <p:cNvPr id="21" name="Text 19"/>
          <p:cNvSpPr/>
          <p:nvPr/>
        </p:nvSpPr>
        <p:spPr>
          <a:xfrm>
            <a:off x="1106424" y="4681728"/>
            <a:ext cx="2743200" cy="201168"/>
          </a:xfrm>
          <a:prstGeom prst="rect">
            <a:avLst/>
          </a:prstGeom>
          <a:noFill/>
          <a:ln/>
        </p:spPr>
        <p:txBody>
          <a:bodyPr wrap="square" lIns="0" tIns="0" rIns="0" bIns="0" rtlCol="0" anchor="ctr"/>
          <a:lstStyle/>
          <a:p>
            <a:pPr algn="l" indent="0" marL="0">
              <a:buNone/>
            </a:pPr>
            <a:r>
              <a:rPr lang="en-US" sz="950" b="1" spc="40" kern="0" dirty="0">
                <a:solidFill>
                  <a:srgbClr val="83837B"/>
                </a:solidFill>
                <a:latin typeface="Calibri" pitchFamily="34" charset="0"/>
                <a:ea typeface="Calibri" pitchFamily="34" charset="-122"/>
                <a:cs typeface="Calibri" pitchFamily="34" charset="-120"/>
              </a:rPr>
              <a:t>Nurse decision</a:t>
            </a:r>
            <a:endParaRPr lang="en-US" sz="950" dirty="0"/>
          </a:p>
        </p:txBody>
      </p:sp>
      <p:sp>
        <p:nvSpPr>
          <p:cNvPr id="22" name="Shape 20"/>
          <p:cNvSpPr/>
          <p:nvPr/>
        </p:nvSpPr>
        <p:spPr>
          <a:xfrm>
            <a:off x="1143000" y="4965192"/>
            <a:ext cx="82296" cy="82296"/>
          </a:xfrm>
          <a:prstGeom prst="ellipse">
            <a:avLst/>
          </a:prstGeom>
          <a:solidFill>
            <a:srgbClr val="5A6CE6"/>
          </a:solidFill>
          <a:ln/>
        </p:spPr>
      </p:sp>
      <p:sp>
        <p:nvSpPr>
          <p:cNvPr id="23" name="Text 21"/>
          <p:cNvSpPr/>
          <p:nvPr/>
        </p:nvSpPr>
        <p:spPr>
          <a:xfrm>
            <a:off x="1344168" y="4919472"/>
            <a:ext cx="6400800" cy="219456"/>
          </a:xfrm>
          <a:prstGeom prst="rect">
            <a:avLst/>
          </a:prstGeom>
          <a:noFill/>
          <a:ln/>
        </p:spPr>
        <p:txBody>
          <a:bodyPr wrap="square" lIns="0" tIns="0" rIns="0" bIns="0" rtlCol="0" anchor="ctr"/>
          <a:lstStyle/>
          <a:p>
            <a:pPr algn="l" indent="0" marL="0">
              <a:buNone/>
            </a:pPr>
            <a:r>
              <a:rPr lang="en-US" sz="1150" b="1" dirty="0">
                <a:solidFill>
                  <a:srgbClr val="1B1B18"/>
                </a:solidFill>
                <a:latin typeface="Calibri" pitchFamily="34" charset="0"/>
                <a:ea typeface="Calibri" pitchFamily="34" charset="-122"/>
                <a:cs typeface="Calibri" pitchFamily="34" charset="-120"/>
              </a:rPr>
              <a:t>Start change-of-condition review</a:t>
            </a:r>
            <a:endParaRPr lang="en-US" sz="1150" dirty="0"/>
          </a:p>
        </p:txBody>
      </p:sp>
      <p:sp>
        <p:nvSpPr>
          <p:cNvPr id="24" name="Shape 22"/>
          <p:cNvSpPr/>
          <p:nvPr/>
        </p:nvSpPr>
        <p:spPr>
          <a:xfrm>
            <a:off x="1143000" y="5184648"/>
            <a:ext cx="82296" cy="82296"/>
          </a:xfrm>
          <a:prstGeom prst="ellipse">
            <a:avLst/>
          </a:prstGeom>
          <a:solidFill>
            <a:srgbClr val="C7C7C1"/>
          </a:solidFill>
          <a:ln/>
        </p:spPr>
      </p:sp>
      <p:sp>
        <p:nvSpPr>
          <p:cNvPr id="25" name="Text 23"/>
          <p:cNvSpPr/>
          <p:nvPr/>
        </p:nvSpPr>
        <p:spPr>
          <a:xfrm>
            <a:off x="1344168" y="5138928"/>
            <a:ext cx="6400800" cy="219456"/>
          </a:xfrm>
          <a:prstGeom prst="rect">
            <a:avLst/>
          </a:prstGeom>
          <a:noFill/>
          <a:ln/>
        </p:spPr>
        <p:txBody>
          <a:bodyPr wrap="square" lIns="0" tIns="0" rIns="0" bIns="0" rtlCol="0" anchor="ctr"/>
          <a:lstStyle/>
          <a:p>
            <a:pPr algn="l" indent="0" marL="0">
              <a:buNone/>
            </a:pPr>
            <a:r>
              <a:rPr lang="en-US" sz="1150" dirty="0">
                <a:solidFill>
                  <a:srgbClr val="83837B"/>
                </a:solidFill>
                <a:latin typeface="Calibri" pitchFamily="34" charset="0"/>
                <a:ea typeface="Calibri" pitchFamily="34" charset="-122"/>
                <a:cs typeface="Calibri" pitchFamily="34" charset="-120"/>
              </a:rPr>
              <a:t>Monitor for two weeks</a:t>
            </a:r>
            <a:endParaRPr lang="en-US" sz="1150" dirty="0"/>
          </a:p>
        </p:txBody>
      </p:sp>
      <p:sp>
        <p:nvSpPr>
          <p:cNvPr id="26" name="Shape 24"/>
          <p:cNvSpPr/>
          <p:nvPr/>
        </p:nvSpPr>
        <p:spPr>
          <a:xfrm>
            <a:off x="1143000" y="5404104"/>
            <a:ext cx="82296" cy="82296"/>
          </a:xfrm>
          <a:prstGeom prst="ellipse">
            <a:avLst/>
          </a:prstGeom>
          <a:solidFill>
            <a:srgbClr val="C7C7C1"/>
          </a:solidFill>
          <a:ln/>
        </p:spPr>
      </p:sp>
      <p:sp>
        <p:nvSpPr>
          <p:cNvPr id="27" name="Text 25"/>
          <p:cNvSpPr/>
          <p:nvPr/>
        </p:nvSpPr>
        <p:spPr>
          <a:xfrm>
            <a:off x="1344168" y="5358384"/>
            <a:ext cx="6400800" cy="219456"/>
          </a:xfrm>
          <a:prstGeom prst="rect">
            <a:avLst/>
          </a:prstGeom>
          <a:noFill/>
          <a:ln/>
        </p:spPr>
        <p:txBody>
          <a:bodyPr wrap="square" lIns="0" tIns="0" rIns="0" bIns="0" rtlCol="0" anchor="ctr"/>
          <a:lstStyle/>
          <a:p>
            <a:pPr algn="l" indent="0" marL="0">
              <a:buNone/>
            </a:pPr>
            <a:r>
              <a:rPr lang="en-US" sz="1150" dirty="0">
                <a:solidFill>
                  <a:srgbClr val="83837B"/>
                </a:solidFill>
                <a:latin typeface="Calibri" pitchFamily="34" charset="0"/>
                <a:ea typeface="Calibri" pitchFamily="34" charset="-122"/>
                <a:cs typeface="Calibri" pitchFamily="34" charset="-120"/>
              </a:rPr>
              <a:t>Dismiss with reason</a:t>
            </a:r>
            <a:endParaRPr lang="en-US" sz="1150" dirty="0"/>
          </a:p>
        </p:txBody>
      </p:sp>
      <p:sp>
        <p:nvSpPr>
          <p:cNvPr id="28" name="Text 26"/>
          <p:cNvSpPr/>
          <p:nvPr/>
        </p:nvSpPr>
        <p:spPr>
          <a:xfrm>
            <a:off x="8503920" y="2651760"/>
            <a:ext cx="2910535" cy="201168"/>
          </a:xfrm>
          <a:prstGeom prst="rect">
            <a:avLst/>
          </a:prstGeom>
          <a:noFill/>
          <a:ln/>
        </p:spPr>
        <p:txBody>
          <a:bodyPr wrap="square" lIns="0" tIns="0" rIns="0" bIns="0" rtlCol="0" anchor="ctr"/>
          <a:lstStyle/>
          <a:p>
            <a:pPr algn="l" indent="0" marL="0">
              <a:buNone/>
            </a:pPr>
            <a:r>
              <a:rPr lang="en-US" sz="950" b="1" spc="40" kern="0" dirty="0">
                <a:solidFill>
                  <a:srgbClr val="83837B"/>
                </a:solidFill>
                <a:latin typeface="Calibri" pitchFamily="34" charset="0"/>
                <a:ea typeface="Calibri" pitchFamily="34" charset="-122"/>
                <a:cs typeface="Calibri" pitchFamily="34" charset="-120"/>
              </a:rPr>
              <a:t>Documentation</a:t>
            </a:r>
            <a:endParaRPr lang="en-US" sz="950" dirty="0"/>
          </a:p>
        </p:txBody>
      </p:sp>
      <p:sp>
        <p:nvSpPr>
          <p:cNvPr id="29" name="Text 27"/>
          <p:cNvSpPr/>
          <p:nvPr/>
        </p:nvSpPr>
        <p:spPr>
          <a:xfrm>
            <a:off x="8503920" y="2852928"/>
            <a:ext cx="2910535" cy="640080"/>
          </a:xfrm>
          <a:prstGeom prst="rect">
            <a:avLst/>
          </a:prstGeom>
          <a:noFill/>
          <a:ln/>
        </p:spPr>
        <p:txBody>
          <a:bodyPr wrap="square" lIns="0" tIns="0" rIns="0" bIns="0" rtlCol="0" anchor="t"/>
          <a:lstStyle/>
          <a:p>
            <a:pPr algn="l" indent="0" marL="0">
              <a:lnSpc>
                <a:spcPct val="110000"/>
              </a:lnSpc>
              <a:buNone/>
            </a:pPr>
            <a:r>
              <a:rPr lang="en-US" sz="1200" dirty="0">
                <a:solidFill>
                  <a:srgbClr val="1B1B18"/>
                </a:solidFill>
                <a:latin typeface="Calibri" pitchFamily="34" charset="0"/>
                <a:ea typeface="Calibri" pitchFamily="34" charset="-122"/>
                <a:cs typeface="Calibri" pitchFamily="34" charset="-120"/>
              </a:rPr>
              <a:t>If confirmed, the review is added to the resident record.</a:t>
            </a:r>
            <a:endParaRPr lang="en-US" sz="1200" dirty="0"/>
          </a:p>
        </p:txBody>
      </p:sp>
      <p:sp>
        <p:nvSpPr>
          <p:cNvPr id="30" name="Shape 28"/>
          <p:cNvSpPr/>
          <p:nvPr/>
        </p:nvSpPr>
        <p:spPr>
          <a:xfrm>
            <a:off x="8503920" y="3602736"/>
            <a:ext cx="2910535" cy="0"/>
          </a:xfrm>
          <a:prstGeom prst="line">
            <a:avLst/>
          </a:prstGeom>
          <a:noFill/>
          <a:ln w="9525">
            <a:solidFill>
              <a:srgbClr val="E2E2DC"/>
            </a:solidFill>
            <a:prstDash val="solid"/>
          </a:ln>
        </p:spPr>
      </p:sp>
      <p:sp>
        <p:nvSpPr>
          <p:cNvPr id="31" name="Text 29"/>
          <p:cNvSpPr/>
          <p:nvPr/>
        </p:nvSpPr>
        <p:spPr>
          <a:xfrm>
            <a:off x="8503920" y="3730752"/>
            <a:ext cx="2910535" cy="201168"/>
          </a:xfrm>
          <a:prstGeom prst="rect">
            <a:avLst/>
          </a:prstGeom>
          <a:noFill/>
          <a:ln/>
        </p:spPr>
        <p:txBody>
          <a:bodyPr wrap="square" lIns="0" tIns="0" rIns="0" bIns="0" rtlCol="0" anchor="ctr"/>
          <a:lstStyle/>
          <a:p>
            <a:pPr algn="l" indent="0" marL="0">
              <a:buNone/>
            </a:pPr>
            <a:r>
              <a:rPr lang="en-US" sz="950" b="1" spc="40" kern="0" dirty="0">
                <a:solidFill>
                  <a:srgbClr val="83837B"/>
                </a:solidFill>
                <a:latin typeface="Calibri" pitchFamily="34" charset="0"/>
                <a:ea typeface="Calibri" pitchFamily="34" charset="-122"/>
                <a:cs typeface="Calibri" pitchFamily="34" charset="-120"/>
              </a:rPr>
              <a:t>Designed for adoption</a:t>
            </a:r>
            <a:endParaRPr lang="en-US" sz="950" dirty="0"/>
          </a:p>
        </p:txBody>
      </p:sp>
      <p:sp>
        <p:nvSpPr>
          <p:cNvPr id="32" name="Text 30"/>
          <p:cNvSpPr/>
          <p:nvPr/>
        </p:nvSpPr>
        <p:spPr>
          <a:xfrm>
            <a:off x="8503920" y="3968496"/>
            <a:ext cx="2910535" cy="1554480"/>
          </a:xfrm>
          <a:prstGeom prst="rect">
            <a:avLst/>
          </a:prstGeom>
          <a:noFill/>
          <a:ln/>
        </p:spPr>
        <p:txBody>
          <a:bodyPr wrap="square" lIns="0" tIns="0" rIns="0" bIns="0" rtlCol="0" anchor="t"/>
          <a:lstStyle/>
          <a:p>
            <a:pPr algn="l" marL="203200" indent="-203200">
              <a:lnSpc>
                <a:spcPct val="128000"/>
              </a:lnSpc>
              <a:spcAft>
                <a:spcPts val="300"/>
              </a:spcAft>
              <a:buSzPct val="100000"/>
              <a:buChar char="•"/>
            </a:pPr>
            <a:r>
              <a:rPr lang="en-US" sz="1200" dirty="0">
                <a:solidFill>
                  <a:srgbClr val="1B1B18"/>
                </a:solidFill>
                <a:latin typeface="Calibri" pitchFamily="34" charset="0"/>
                <a:ea typeface="Calibri" pitchFamily="34" charset="-122"/>
                <a:cs typeface="Calibri" pitchFamily="34" charset="-120"/>
              </a:rPr>
              <a:t>One clinical owner</a:t>
            </a:r>
            <a:endParaRPr lang="en-US" sz="1200" dirty="0"/>
          </a:p>
          <a:p>
            <a:pPr algn="l" marL="203200" indent="-203200">
              <a:lnSpc>
                <a:spcPct val="128000"/>
              </a:lnSpc>
              <a:spcAft>
                <a:spcPts val="300"/>
              </a:spcAft>
              <a:buSzPct val="100000"/>
              <a:buChar char="•"/>
            </a:pPr>
            <a:r>
              <a:rPr lang="en-US" sz="1200" dirty="0">
                <a:solidFill>
                  <a:srgbClr val="1B1B18"/>
                </a:solidFill>
                <a:latin typeface="Calibri" pitchFamily="34" charset="0"/>
                <a:ea typeface="Calibri" pitchFamily="34" charset="-122"/>
                <a:cs typeface="Calibri" pitchFamily="34" charset="-120"/>
              </a:rPr>
              <a:t>One existing cadence</a:t>
            </a:r>
            <a:endParaRPr lang="en-US" sz="1200" dirty="0"/>
          </a:p>
          <a:p>
            <a:pPr algn="l" marL="203200" indent="-203200">
              <a:lnSpc>
                <a:spcPct val="128000"/>
              </a:lnSpc>
              <a:spcAft>
                <a:spcPts val="300"/>
              </a:spcAft>
              <a:buSzPct val="100000"/>
              <a:buChar char="•"/>
            </a:pPr>
            <a:r>
              <a:rPr lang="en-US" sz="1200" dirty="0">
                <a:solidFill>
                  <a:srgbClr val="1B1B18"/>
                </a:solidFill>
                <a:latin typeface="Calibri" pitchFamily="34" charset="0"/>
                <a:ea typeface="Calibri" pitchFamily="34" charset="-122"/>
                <a:cs typeface="Calibri" pitchFamily="34" charset="-120"/>
              </a:rPr>
              <a:t>Two to three candidates a week</a:t>
            </a:r>
            <a:endParaRPr lang="en-US" sz="1200" dirty="0"/>
          </a:p>
          <a:p>
            <a:pPr algn="l" marL="203200" indent="-203200">
              <a:lnSpc>
                <a:spcPct val="128000"/>
              </a:lnSpc>
              <a:spcAft>
                <a:spcPts val="300"/>
              </a:spcAft>
              <a:buSzPct val="100000"/>
              <a:buChar char="•"/>
            </a:pPr>
            <a:r>
              <a:rPr lang="en-US" sz="1200" dirty="0">
                <a:solidFill>
                  <a:srgbClr val="1B1B18"/>
                </a:solidFill>
                <a:latin typeface="Calibri" pitchFamily="34" charset="0"/>
                <a:ea typeface="Calibri" pitchFamily="34" charset="-122"/>
                <a:cs typeface="Calibri" pitchFamily="34" charset="-120"/>
              </a:rPr>
              <a:t>Not a new dashboard for every caregiver</a:t>
            </a:r>
            <a:endParaRPr lang="en-US" sz="1200" dirty="0"/>
          </a:p>
        </p:txBody>
      </p:sp>
      <p:sp>
        <p:nvSpPr>
          <p:cNvPr id="33" name="Text 31"/>
          <p:cNvSpPr/>
          <p:nvPr/>
        </p:nvSpPr>
        <p:spPr>
          <a:xfrm>
            <a:off x="777240" y="5815584"/>
            <a:ext cx="7315200" cy="219456"/>
          </a:xfrm>
          <a:prstGeom prst="rect">
            <a:avLst/>
          </a:prstGeom>
          <a:noFill/>
          <a:ln/>
        </p:spPr>
        <p:txBody>
          <a:bodyPr wrap="square" lIns="0" tIns="0" rIns="0" bIns="0" rtlCol="0" anchor="t"/>
          <a:lstStyle/>
          <a:p>
            <a:pPr algn="l" indent="0" marL="0">
              <a:buNone/>
            </a:pPr>
            <a:r>
              <a:rPr lang="en-US" sz="950" i="1" dirty="0">
                <a:solidFill>
                  <a:srgbClr val="83837B"/>
                </a:solidFill>
                <a:latin typeface="Calibri" pitchFamily="34" charset="0"/>
                <a:ea typeface="Calibri" pitchFamily="34" charset="-122"/>
                <a:cs typeface="Calibri" pitchFamily="34" charset="-120"/>
              </a:rPr>
              <a:t>Family summaries are generated only after staff confirmation.</a:t>
            </a:r>
            <a:endParaRPr lang="en-US" sz="950" dirty="0"/>
          </a:p>
        </p:txBody>
      </p:sp>
      <p:sp>
        <p:nvSpPr>
          <p:cNvPr id="34" name="Text 32"/>
          <p:cNvSpPr/>
          <p:nvPr/>
        </p:nvSpPr>
        <p:spPr>
          <a:xfrm>
            <a:off x="777240" y="6473952"/>
            <a:ext cx="5486400" cy="237744"/>
          </a:xfrm>
          <a:prstGeom prst="rect">
            <a:avLst/>
          </a:prstGeom>
          <a:noFill/>
          <a:ln/>
        </p:spPr>
        <p:txBody>
          <a:bodyPr wrap="square" lIns="0" tIns="0" rIns="0" bIns="0" rtlCol="0" anchor="ctr"/>
          <a:lstStyle/>
          <a:p>
            <a:pPr algn="l" indent="0" marL="0">
              <a:buNone/>
            </a:pPr>
            <a:r>
              <a:rPr lang="en-US" sz="850" dirty="0">
                <a:solidFill>
                  <a:srgbClr val="83837B"/>
                </a:solidFill>
                <a:latin typeface="Calibri" pitchFamily="34" charset="0"/>
                <a:ea typeface="Calibri" pitchFamily="34" charset="-122"/>
                <a:cs typeface="Calibri" pitchFamily="34" charset="-120"/>
              </a:rPr>
              <a:t>Teton  ·  Product recommendation</a:t>
            </a:r>
            <a:endParaRPr lang="en-US" sz="850" dirty="0"/>
          </a:p>
        </p:txBody>
      </p:sp>
      <p:sp>
        <p:nvSpPr>
          <p:cNvPr id="35" name="Text 33"/>
          <p:cNvSpPr/>
          <p:nvPr/>
        </p:nvSpPr>
        <p:spPr>
          <a:xfrm>
            <a:off x="10500055" y="6473952"/>
            <a:ext cx="914400" cy="237744"/>
          </a:xfrm>
          <a:prstGeom prst="rect">
            <a:avLst/>
          </a:prstGeom>
          <a:noFill/>
          <a:ln/>
        </p:spPr>
        <p:txBody>
          <a:bodyPr wrap="square" lIns="0" tIns="0" rIns="0" bIns="0" rtlCol="0" anchor="ctr"/>
          <a:lstStyle/>
          <a:p>
            <a:pPr algn="r" indent="0" marL="0">
              <a:buNone/>
            </a:pPr>
            <a:r>
              <a:rPr lang="en-US" sz="850" dirty="0">
                <a:solidFill>
                  <a:srgbClr val="83837B"/>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8F5"/>
        </a:solidFill>
      </p:bgPr>
    </p:bg>
    <p:spTree>
      <p:nvGrpSpPr>
        <p:cNvPr id="1" name=""/>
        <p:cNvGrpSpPr/>
        <p:nvPr/>
      </p:nvGrpSpPr>
      <p:grpSpPr>
        <a:xfrm>
          <a:off x="0" y="0"/>
          <a:ext cx="0" cy="0"/>
          <a:chOff x="0" y="0"/>
          <a:chExt cx="0" cy="0"/>
        </a:xfrm>
      </p:grpSpPr>
      <p:sp>
        <p:nvSpPr>
          <p:cNvPr id="2" name="Shape 0"/>
          <p:cNvSpPr/>
          <p:nvPr/>
        </p:nvSpPr>
        <p:spPr>
          <a:xfrm>
            <a:off x="777240" y="384048"/>
            <a:ext cx="100584" cy="100584"/>
          </a:xfrm>
          <a:prstGeom prst="ellipse">
            <a:avLst/>
          </a:prstGeom>
          <a:solidFill>
            <a:srgbClr val="5A6CE6"/>
          </a:solidFill>
          <a:ln/>
        </p:spPr>
      </p:sp>
      <p:sp>
        <p:nvSpPr>
          <p:cNvPr id="3" name="Text 1"/>
          <p:cNvSpPr/>
          <p:nvPr/>
        </p:nvSpPr>
        <p:spPr>
          <a:xfrm>
            <a:off x="978408" y="320040"/>
            <a:ext cx="9144000" cy="237744"/>
          </a:xfrm>
          <a:prstGeom prst="rect">
            <a:avLst/>
          </a:prstGeom>
          <a:noFill/>
          <a:ln/>
        </p:spPr>
        <p:txBody>
          <a:bodyPr wrap="square" lIns="0" tIns="0" rIns="0" bIns="0" rtlCol="0" anchor="ctr"/>
          <a:lstStyle/>
          <a:p>
            <a:pPr algn="l" indent="0" marL="0">
              <a:buNone/>
            </a:pPr>
            <a:r>
              <a:rPr lang="en-US" sz="1050" b="1" spc="160" kern="0" dirty="0">
                <a:solidFill>
                  <a:srgbClr val="83837B"/>
                </a:solidFill>
                <a:latin typeface="Calibri" pitchFamily="34" charset="0"/>
                <a:ea typeface="Calibri" pitchFamily="34" charset="-122"/>
                <a:cs typeface="Calibri" pitchFamily="34" charset="-120"/>
              </a:rPr>
              <a:t>DE-RISKING</a:t>
            </a:r>
            <a:endParaRPr lang="en-US" sz="1050" dirty="0"/>
          </a:p>
        </p:txBody>
      </p:sp>
      <p:sp>
        <p:nvSpPr>
          <p:cNvPr id="4" name="Text 2"/>
          <p:cNvSpPr/>
          <p:nvPr/>
        </p:nvSpPr>
        <p:spPr>
          <a:xfrm>
            <a:off x="777240" y="676656"/>
            <a:ext cx="10424160" cy="822960"/>
          </a:xfrm>
          <a:prstGeom prst="rect">
            <a:avLst/>
          </a:prstGeom>
          <a:noFill/>
          <a:ln/>
        </p:spPr>
        <p:txBody>
          <a:bodyPr wrap="square" lIns="0" tIns="0" rIns="0" bIns="0" rtlCol="0" anchor="t"/>
          <a:lstStyle/>
          <a:p>
            <a:pPr algn="l" indent="0" marL="0">
              <a:lnSpc>
                <a:spcPct val="102000"/>
              </a:lnSpc>
              <a:buNone/>
            </a:pPr>
            <a:r>
              <a:rPr lang="en-US" sz="2400" b="1" dirty="0">
                <a:solidFill>
                  <a:srgbClr val="1B1B18"/>
                </a:solidFill>
                <a:latin typeface="Calibri" pitchFamily="34" charset="0"/>
                <a:ea typeface="Calibri" pitchFamily="34" charset="-122"/>
                <a:cs typeface="Calibri" pitchFamily="34" charset="-120"/>
              </a:rPr>
              <a:t>What must be true before we scale the build</a:t>
            </a:r>
            <a:endParaRPr lang="en-US" sz="2400" dirty="0"/>
          </a:p>
        </p:txBody>
      </p:sp>
      <p:sp>
        <p:nvSpPr>
          <p:cNvPr id="5" name="Text 3"/>
          <p:cNvSpPr/>
          <p:nvPr/>
        </p:nvSpPr>
        <p:spPr>
          <a:xfrm>
            <a:off x="777240" y="1463040"/>
            <a:ext cx="10058400" cy="457200"/>
          </a:xfrm>
          <a:prstGeom prst="rect">
            <a:avLst/>
          </a:prstGeom>
          <a:noFill/>
          <a:ln/>
        </p:spPr>
        <p:txBody>
          <a:bodyPr wrap="square" lIns="0" tIns="0" rIns="0" bIns="0" rtlCol="0" anchor="t"/>
          <a:lstStyle/>
          <a:p>
            <a:pPr algn="l" indent="0" marL="0">
              <a:lnSpc>
                <a:spcPct val="112000"/>
              </a:lnSpc>
              <a:buNone/>
            </a:pPr>
            <a:r>
              <a:rPr lang="en-US" sz="1250" dirty="0">
                <a:solidFill>
                  <a:srgbClr val="83837B"/>
                </a:solidFill>
                <a:latin typeface="Calibri" pitchFamily="34" charset="0"/>
                <a:ea typeface="Calibri" pitchFamily="34" charset="-122"/>
                <a:cs typeface="Calibri" pitchFamily="34" charset="-120"/>
              </a:rPr>
              <a:t>Signal quality gates the bet. Workflow fit shapes the product. Behavior change proves value.</a:t>
            </a:r>
            <a:endParaRPr lang="en-US" sz="1250" dirty="0"/>
          </a:p>
        </p:txBody>
      </p:sp>
      <p:sp>
        <p:nvSpPr>
          <p:cNvPr id="6" name="Shape 4"/>
          <p:cNvSpPr/>
          <p:nvPr/>
        </p:nvSpPr>
        <p:spPr>
          <a:xfrm>
            <a:off x="777240" y="1874520"/>
            <a:ext cx="10637215" cy="1371600"/>
          </a:xfrm>
          <a:prstGeom prst="roundRect">
            <a:avLst>
              <a:gd name="adj" fmla="val 6667"/>
            </a:avLst>
          </a:prstGeom>
          <a:solidFill>
            <a:srgbClr val="EBEEFB"/>
          </a:solidFill>
          <a:ln/>
        </p:spPr>
      </p:sp>
      <p:sp>
        <p:nvSpPr>
          <p:cNvPr id="7" name="Text 5"/>
          <p:cNvSpPr/>
          <p:nvPr/>
        </p:nvSpPr>
        <p:spPr>
          <a:xfrm>
            <a:off x="1051560" y="2112264"/>
            <a:ext cx="640080" cy="457200"/>
          </a:xfrm>
          <a:prstGeom prst="rect">
            <a:avLst/>
          </a:prstGeom>
          <a:noFill/>
          <a:ln/>
        </p:spPr>
        <p:txBody>
          <a:bodyPr wrap="square" lIns="0" tIns="0" rIns="0" bIns="0" rtlCol="0" anchor="t"/>
          <a:lstStyle/>
          <a:p>
            <a:pPr algn="l" indent="0" marL="0">
              <a:buNone/>
            </a:pPr>
            <a:r>
              <a:rPr lang="en-US" sz="3000" b="1" dirty="0">
                <a:solidFill>
                  <a:srgbClr val="5A6CE6"/>
                </a:solidFill>
                <a:latin typeface="Calibri" pitchFamily="34" charset="0"/>
                <a:ea typeface="Calibri" pitchFamily="34" charset="-122"/>
                <a:cs typeface="Calibri" pitchFamily="34" charset="-120"/>
              </a:rPr>
              <a:t>1</a:t>
            </a:r>
            <a:endParaRPr lang="en-US" sz="3000" dirty="0"/>
          </a:p>
        </p:txBody>
      </p:sp>
      <p:sp>
        <p:nvSpPr>
          <p:cNvPr id="8" name="Text 6"/>
          <p:cNvSpPr/>
          <p:nvPr/>
        </p:nvSpPr>
        <p:spPr>
          <a:xfrm>
            <a:off x="1691640" y="2185416"/>
            <a:ext cx="1554480" cy="274320"/>
          </a:xfrm>
          <a:prstGeom prst="rect">
            <a:avLst/>
          </a:prstGeom>
          <a:noFill/>
          <a:ln/>
        </p:spPr>
        <p:txBody>
          <a:bodyPr wrap="square" lIns="0" tIns="0" rIns="0" bIns="0" rtlCol="0" anchor="t"/>
          <a:lstStyle/>
          <a:p>
            <a:pPr algn="l" indent="0" marL="0">
              <a:buNone/>
            </a:pPr>
            <a:r>
              <a:rPr lang="en-US" sz="1300" b="1" dirty="0">
                <a:solidFill>
                  <a:srgbClr val="1B1B18"/>
                </a:solidFill>
                <a:latin typeface="Calibri" pitchFamily="34" charset="0"/>
                <a:ea typeface="Calibri" pitchFamily="34" charset="-122"/>
                <a:cs typeface="Calibri" pitchFamily="34" charset="-120"/>
              </a:rPr>
              <a:t>Signal quality</a:t>
            </a:r>
            <a:endParaRPr lang="en-US" sz="1300" dirty="0"/>
          </a:p>
        </p:txBody>
      </p:sp>
      <p:sp>
        <p:nvSpPr>
          <p:cNvPr id="9" name="Text 7"/>
          <p:cNvSpPr/>
          <p:nvPr/>
        </p:nvSpPr>
        <p:spPr>
          <a:xfrm>
            <a:off x="1691640" y="2441448"/>
            <a:ext cx="1828800" cy="219456"/>
          </a:xfrm>
          <a:prstGeom prst="rect">
            <a:avLst/>
          </a:prstGeom>
          <a:noFill/>
          <a:ln/>
        </p:spPr>
        <p:txBody>
          <a:bodyPr wrap="square" lIns="0" tIns="0" rIns="0" bIns="0" rtlCol="0" anchor="t"/>
          <a:lstStyle/>
          <a:p>
            <a:pPr algn="l" indent="0" marL="0">
              <a:buNone/>
            </a:pPr>
            <a:r>
              <a:rPr lang="en-US" sz="900" b="1" i="1" dirty="0">
                <a:solidFill>
                  <a:srgbClr val="5A6CE6"/>
                </a:solidFill>
                <a:latin typeface="Calibri" pitchFamily="34" charset="0"/>
                <a:ea typeface="Calibri" pitchFamily="34" charset="-122"/>
                <a:cs typeface="Calibri" pitchFamily="34" charset="-120"/>
              </a:rPr>
              <a:t>Gates the entire bet</a:t>
            </a:r>
            <a:endParaRPr lang="en-US" sz="900" dirty="0"/>
          </a:p>
        </p:txBody>
      </p:sp>
      <p:sp>
        <p:nvSpPr>
          <p:cNvPr id="10" name="Text 8"/>
          <p:cNvSpPr/>
          <p:nvPr/>
        </p:nvSpPr>
        <p:spPr>
          <a:xfrm>
            <a:off x="3383280" y="2093976"/>
            <a:ext cx="2926080" cy="640080"/>
          </a:xfrm>
          <a:prstGeom prst="rect">
            <a:avLst/>
          </a:prstGeom>
          <a:noFill/>
          <a:ln/>
        </p:spPr>
        <p:txBody>
          <a:bodyPr wrap="square" lIns="0" tIns="0" rIns="0" bIns="0" rtlCol="0" anchor="t"/>
          <a:lstStyle/>
          <a:p>
            <a:pPr algn="l" indent="0" marL="0">
              <a:lnSpc>
                <a:spcPct val="106000"/>
              </a:lnSpc>
              <a:buNone/>
            </a:pPr>
            <a:r>
              <a:rPr lang="en-US" sz="1250" b="1" dirty="0">
                <a:solidFill>
                  <a:srgbClr val="1B1B18"/>
                </a:solidFill>
                <a:latin typeface="Calibri" pitchFamily="34" charset="0"/>
                <a:ea typeface="Calibri" pitchFamily="34" charset="-122"/>
                <a:cs typeface="Calibri" pitchFamily="34" charset="-120"/>
              </a:rPr>
              <a:t>Can Teton identify meaningful decline weeks before crisis?</a:t>
            </a:r>
            <a:endParaRPr lang="en-US" sz="1250" dirty="0"/>
          </a:p>
        </p:txBody>
      </p:sp>
      <p:sp>
        <p:nvSpPr>
          <p:cNvPr id="11" name="Text 9"/>
          <p:cNvSpPr/>
          <p:nvPr/>
        </p:nvSpPr>
        <p:spPr>
          <a:xfrm>
            <a:off x="6446520" y="2112264"/>
            <a:ext cx="2377440" cy="201168"/>
          </a:xfrm>
          <a:prstGeom prst="rect">
            <a:avLst/>
          </a:prstGeom>
          <a:noFill/>
          <a:ln/>
        </p:spPr>
        <p:txBody>
          <a:bodyPr wrap="square" lIns="0" tIns="0" rIns="0" bIns="0" rtlCol="0" anchor="ctr"/>
          <a:lstStyle/>
          <a:p>
            <a:pPr algn="l" indent="0" marL="0">
              <a:buNone/>
            </a:pPr>
            <a:r>
              <a:rPr lang="en-US" sz="850" b="1" spc="40" kern="0" dirty="0">
                <a:solidFill>
                  <a:srgbClr val="83837B"/>
                </a:solidFill>
                <a:latin typeface="Calibri" pitchFamily="34" charset="0"/>
                <a:ea typeface="Calibri" pitchFamily="34" charset="-122"/>
                <a:cs typeface="Calibri" pitchFamily="34" charset="-120"/>
              </a:rPr>
              <a:t>Test</a:t>
            </a:r>
            <a:endParaRPr lang="en-US" sz="850" dirty="0"/>
          </a:p>
        </p:txBody>
      </p:sp>
      <p:sp>
        <p:nvSpPr>
          <p:cNvPr id="12" name="Text 10"/>
          <p:cNvSpPr/>
          <p:nvPr/>
        </p:nvSpPr>
        <p:spPr>
          <a:xfrm>
            <a:off x="6446520" y="2295144"/>
            <a:ext cx="2331720" cy="1005840"/>
          </a:xfrm>
          <a:prstGeom prst="rect">
            <a:avLst/>
          </a:prstGeom>
          <a:noFill/>
          <a:ln/>
        </p:spPr>
        <p:txBody>
          <a:bodyPr wrap="square" lIns="0" tIns="0" rIns="0" bIns="0" rtlCol="0" anchor="t"/>
          <a:lstStyle/>
          <a:p>
            <a:pPr algn="l" indent="0" marL="0">
              <a:lnSpc>
                <a:spcPct val="108000"/>
              </a:lnSpc>
              <a:buNone/>
            </a:pPr>
            <a:r>
              <a:rPr lang="en-US" sz="950" dirty="0">
                <a:solidFill>
                  <a:srgbClr val="83837B"/>
                </a:solidFill>
                <a:latin typeface="Calibri" pitchFamily="34" charset="0"/>
                <a:ea typeface="Calibri" pitchFamily="34" charset="-122"/>
                <a:cs typeface="Calibri" pitchFamily="34" charset="-120"/>
              </a:rPr>
              <a:t>Retrospective review of care-level changes, falls, hospitalizations, and change-of-condition events across two to three buildings.</a:t>
            </a:r>
            <a:endParaRPr lang="en-US" sz="950" dirty="0"/>
          </a:p>
        </p:txBody>
      </p:sp>
      <p:sp>
        <p:nvSpPr>
          <p:cNvPr id="13" name="Text 11"/>
          <p:cNvSpPr/>
          <p:nvPr/>
        </p:nvSpPr>
        <p:spPr>
          <a:xfrm>
            <a:off x="9098280" y="2112264"/>
            <a:ext cx="2316175" cy="201168"/>
          </a:xfrm>
          <a:prstGeom prst="rect">
            <a:avLst/>
          </a:prstGeom>
          <a:noFill/>
          <a:ln/>
        </p:spPr>
        <p:txBody>
          <a:bodyPr wrap="square" lIns="0" tIns="0" rIns="0" bIns="0" rtlCol="0" anchor="ctr"/>
          <a:lstStyle/>
          <a:p>
            <a:pPr algn="l" indent="0" marL="0">
              <a:buNone/>
            </a:pPr>
            <a:r>
              <a:rPr lang="en-US" sz="850" b="1" spc="40" kern="0" dirty="0">
                <a:solidFill>
                  <a:srgbClr val="5A6CE6"/>
                </a:solidFill>
                <a:latin typeface="Calibri" pitchFamily="34" charset="0"/>
                <a:ea typeface="Calibri" pitchFamily="34" charset="-122"/>
                <a:cs typeface="Calibri" pitchFamily="34" charset="-120"/>
              </a:rPr>
              <a:t>Proceed if</a:t>
            </a:r>
            <a:endParaRPr lang="en-US" sz="850" dirty="0"/>
          </a:p>
        </p:txBody>
      </p:sp>
      <p:sp>
        <p:nvSpPr>
          <p:cNvPr id="14" name="Text 12"/>
          <p:cNvSpPr/>
          <p:nvPr/>
        </p:nvSpPr>
        <p:spPr>
          <a:xfrm>
            <a:off x="9098280" y="2295144"/>
            <a:ext cx="2041855" cy="1005840"/>
          </a:xfrm>
          <a:prstGeom prst="rect">
            <a:avLst/>
          </a:prstGeom>
          <a:noFill/>
          <a:ln/>
        </p:spPr>
        <p:txBody>
          <a:bodyPr wrap="square" lIns="0" tIns="0" rIns="0" bIns="0" rtlCol="0" anchor="t"/>
          <a:lstStyle/>
          <a:p>
            <a:pPr algn="l" indent="0" marL="0">
              <a:lnSpc>
                <a:spcPct val="108000"/>
              </a:lnSpc>
              <a:buNone/>
            </a:pPr>
            <a:r>
              <a:rPr lang="en-US" sz="950" dirty="0">
                <a:solidFill>
                  <a:srgbClr val="1B1B18"/>
                </a:solidFill>
                <a:latin typeface="Calibri" pitchFamily="34" charset="0"/>
                <a:ea typeface="Calibri" pitchFamily="34" charset="-122"/>
                <a:cs typeface="Calibri" pitchFamily="34" charset="-120"/>
              </a:rPr>
              <a:t>Clinical reviewers agree the signal would have warranted earlier review.</a:t>
            </a:r>
            <a:endParaRPr lang="en-US" sz="950" dirty="0"/>
          </a:p>
        </p:txBody>
      </p:sp>
      <p:sp>
        <p:nvSpPr>
          <p:cNvPr id="15" name="Shape 13"/>
          <p:cNvSpPr/>
          <p:nvPr/>
        </p:nvSpPr>
        <p:spPr>
          <a:xfrm>
            <a:off x="777240" y="3401568"/>
            <a:ext cx="10637215" cy="0"/>
          </a:xfrm>
          <a:prstGeom prst="line">
            <a:avLst/>
          </a:prstGeom>
          <a:noFill/>
          <a:ln w="9525">
            <a:solidFill>
              <a:srgbClr val="E2E2DC"/>
            </a:solidFill>
            <a:prstDash val="solid"/>
          </a:ln>
        </p:spPr>
      </p:sp>
      <p:sp>
        <p:nvSpPr>
          <p:cNvPr id="16" name="Text 14"/>
          <p:cNvSpPr/>
          <p:nvPr/>
        </p:nvSpPr>
        <p:spPr>
          <a:xfrm>
            <a:off x="777240" y="3566160"/>
            <a:ext cx="640080" cy="457200"/>
          </a:xfrm>
          <a:prstGeom prst="rect">
            <a:avLst/>
          </a:prstGeom>
          <a:noFill/>
          <a:ln/>
        </p:spPr>
        <p:txBody>
          <a:bodyPr wrap="square" lIns="0" tIns="0" rIns="0" bIns="0" rtlCol="0" anchor="t"/>
          <a:lstStyle/>
          <a:p>
            <a:pPr algn="l" indent="0" marL="0">
              <a:buNone/>
            </a:pPr>
            <a:r>
              <a:rPr lang="en-US" sz="2200" b="1" dirty="0">
                <a:solidFill>
                  <a:srgbClr val="5A6CE6"/>
                </a:solidFill>
                <a:latin typeface="Calibri" pitchFamily="34" charset="0"/>
                <a:ea typeface="Calibri" pitchFamily="34" charset="-122"/>
                <a:cs typeface="Calibri" pitchFamily="34" charset="-120"/>
              </a:rPr>
              <a:t>2</a:t>
            </a:r>
            <a:endParaRPr lang="en-US" sz="2200" dirty="0"/>
          </a:p>
        </p:txBody>
      </p:sp>
      <p:sp>
        <p:nvSpPr>
          <p:cNvPr id="17" name="Text 15"/>
          <p:cNvSpPr/>
          <p:nvPr/>
        </p:nvSpPr>
        <p:spPr>
          <a:xfrm>
            <a:off x="1417320" y="3593592"/>
            <a:ext cx="1554480" cy="274320"/>
          </a:xfrm>
          <a:prstGeom prst="rect">
            <a:avLst/>
          </a:prstGeom>
          <a:noFill/>
          <a:ln/>
        </p:spPr>
        <p:txBody>
          <a:bodyPr wrap="square" lIns="0" tIns="0" rIns="0" bIns="0" rtlCol="0" anchor="t"/>
          <a:lstStyle/>
          <a:p>
            <a:pPr algn="l" indent="0" marL="0">
              <a:buNone/>
            </a:pPr>
            <a:r>
              <a:rPr lang="en-US" sz="1300" b="1" dirty="0">
                <a:solidFill>
                  <a:srgbClr val="1B1B18"/>
                </a:solidFill>
                <a:latin typeface="Calibri" pitchFamily="34" charset="0"/>
                <a:ea typeface="Calibri" pitchFamily="34" charset="-122"/>
                <a:cs typeface="Calibri" pitchFamily="34" charset="-120"/>
              </a:rPr>
              <a:t>Workflow fit</a:t>
            </a:r>
            <a:endParaRPr lang="en-US" sz="1300" dirty="0"/>
          </a:p>
        </p:txBody>
      </p:sp>
      <p:sp>
        <p:nvSpPr>
          <p:cNvPr id="18" name="Text 16"/>
          <p:cNvSpPr/>
          <p:nvPr/>
        </p:nvSpPr>
        <p:spPr>
          <a:xfrm>
            <a:off x="3108960" y="3547872"/>
            <a:ext cx="2926080" cy="640080"/>
          </a:xfrm>
          <a:prstGeom prst="rect">
            <a:avLst/>
          </a:prstGeom>
          <a:noFill/>
          <a:ln/>
        </p:spPr>
        <p:txBody>
          <a:bodyPr wrap="square" lIns="0" tIns="0" rIns="0" bIns="0" rtlCol="0" anchor="t"/>
          <a:lstStyle/>
          <a:p>
            <a:pPr algn="l" indent="0" marL="0">
              <a:lnSpc>
                <a:spcPct val="106000"/>
              </a:lnSpc>
              <a:buNone/>
            </a:pPr>
            <a:r>
              <a:rPr lang="en-US" sz="1250" b="1" dirty="0">
                <a:solidFill>
                  <a:srgbClr val="1B1B18"/>
                </a:solidFill>
                <a:latin typeface="Calibri" pitchFamily="34" charset="0"/>
                <a:ea typeface="Calibri" pitchFamily="34" charset="-122"/>
                <a:cs typeface="Calibri" pitchFamily="34" charset="-120"/>
              </a:rPr>
              <a:t>Can one role own the review inside an existing cadence?</a:t>
            </a:r>
            <a:endParaRPr lang="en-US" sz="1250" dirty="0"/>
          </a:p>
        </p:txBody>
      </p:sp>
      <p:sp>
        <p:nvSpPr>
          <p:cNvPr id="19" name="Text 17"/>
          <p:cNvSpPr/>
          <p:nvPr/>
        </p:nvSpPr>
        <p:spPr>
          <a:xfrm>
            <a:off x="6172200" y="3566160"/>
            <a:ext cx="2377440" cy="201168"/>
          </a:xfrm>
          <a:prstGeom prst="rect">
            <a:avLst/>
          </a:prstGeom>
          <a:noFill/>
          <a:ln/>
        </p:spPr>
        <p:txBody>
          <a:bodyPr wrap="square" lIns="0" tIns="0" rIns="0" bIns="0" rtlCol="0" anchor="ctr"/>
          <a:lstStyle/>
          <a:p>
            <a:pPr algn="l" indent="0" marL="0">
              <a:buNone/>
            </a:pPr>
            <a:r>
              <a:rPr lang="en-US" sz="850" b="1" spc="40" kern="0" dirty="0">
                <a:solidFill>
                  <a:srgbClr val="83837B"/>
                </a:solidFill>
                <a:latin typeface="Calibri" pitchFamily="34" charset="0"/>
                <a:ea typeface="Calibri" pitchFamily="34" charset="-122"/>
                <a:cs typeface="Calibri" pitchFamily="34" charset="-120"/>
              </a:rPr>
              <a:t>Test</a:t>
            </a:r>
            <a:endParaRPr lang="en-US" sz="850" dirty="0"/>
          </a:p>
        </p:txBody>
      </p:sp>
      <p:sp>
        <p:nvSpPr>
          <p:cNvPr id="20" name="Text 18"/>
          <p:cNvSpPr/>
          <p:nvPr/>
        </p:nvSpPr>
        <p:spPr>
          <a:xfrm>
            <a:off x="6172200" y="3749040"/>
            <a:ext cx="2331720" cy="548640"/>
          </a:xfrm>
          <a:prstGeom prst="rect">
            <a:avLst/>
          </a:prstGeom>
          <a:noFill/>
          <a:ln/>
        </p:spPr>
        <p:txBody>
          <a:bodyPr wrap="square" lIns="0" tIns="0" rIns="0" bIns="0" rtlCol="0" anchor="t"/>
          <a:lstStyle/>
          <a:p>
            <a:pPr algn="l" indent="0" marL="0">
              <a:lnSpc>
                <a:spcPct val="108000"/>
              </a:lnSpc>
              <a:buNone/>
            </a:pPr>
            <a:r>
              <a:rPr lang="en-US" sz="950" dirty="0">
                <a:solidFill>
                  <a:srgbClr val="83837B"/>
                </a:solidFill>
                <a:latin typeface="Calibri" pitchFamily="34" charset="0"/>
                <a:ea typeface="Calibri" pitchFamily="34" charset="-122"/>
                <a:cs typeface="Calibri" pitchFamily="34" charset="-120"/>
              </a:rPr>
              <a:t>Shadow huddles, reassessments, and family-conference prep to see where review fits.</a:t>
            </a:r>
            <a:endParaRPr lang="en-US" sz="950" dirty="0"/>
          </a:p>
        </p:txBody>
      </p:sp>
      <p:sp>
        <p:nvSpPr>
          <p:cNvPr id="21" name="Text 19"/>
          <p:cNvSpPr/>
          <p:nvPr/>
        </p:nvSpPr>
        <p:spPr>
          <a:xfrm>
            <a:off x="8686800" y="3566160"/>
            <a:ext cx="2727655" cy="201168"/>
          </a:xfrm>
          <a:prstGeom prst="rect">
            <a:avLst/>
          </a:prstGeom>
          <a:noFill/>
          <a:ln/>
        </p:spPr>
        <p:txBody>
          <a:bodyPr wrap="square" lIns="0" tIns="0" rIns="0" bIns="0" rtlCol="0" anchor="ctr"/>
          <a:lstStyle/>
          <a:p>
            <a:pPr algn="l" indent="0" marL="0">
              <a:buNone/>
            </a:pPr>
            <a:r>
              <a:rPr lang="en-US" sz="850" b="1" spc="40" kern="0" dirty="0">
                <a:solidFill>
                  <a:srgbClr val="5A6CE6"/>
                </a:solidFill>
                <a:latin typeface="Calibri" pitchFamily="34" charset="0"/>
                <a:ea typeface="Calibri" pitchFamily="34" charset="-122"/>
                <a:cs typeface="Calibri" pitchFamily="34" charset="-120"/>
              </a:rPr>
              <a:t>Proceed if</a:t>
            </a:r>
            <a:endParaRPr lang="en-US" sz="850" dirty="0"/>
          </a:p>
        </p:txBody>
      </p:sp>
      <p:sp>
        <p:nvSpPr>
          <p:cNvPr id="22" name="Text 20"/>
          <p:cNvSpPr/>
          <p:nvPr/>
        </p:nvSpPr>
        <p:spPr>
          <a:xfrm>
            <a:off x="8686800" y="3749040"/>
            <a:ext cx="2727655" cy="548640"/>
          </a:xfrm>
          <a:prstGeom prst="rect">
            <a:avLst/>
          </a:prstGeom>
          <a:noFill/>
          <a:ln/>
        </p:spPr>
        <p:txBody>
          <a:bodyPr wrap="square" lIns="0" tIns="0" rIns="0" bIns="0" rtlCol="0" anchor="t"/>
          <a:lstStyle/>
          <a:p>
            <a:pPr algn="l" indent="0" marL="0">
              <a:lnSpc>
                <a:spcPct val="108000"/>
              </a:lnSpc>
              <a:buNone/>
            </a:pPr>
            <a:r>
              <a:rPr lang="en-US" sz="950" dirty="0">
                <a:solidFill>
                  <a:srgbClr val="1B1B18"/>
                </a:solidFill>
                <a:latin typeface="Calibri" pitchFamily="34" charset="0"/>
                <a:ea typeface="Calibri" pitchFamily="34" charset="-122"/>
                <a:cs typeface="Calibri" pitchFamily="34" charset="-120"/>
              </a:rPr>
              <a:t>A clinical owner reviews a small shortlist without creating another inbox.</a:t>
            </a:r>
            <a:endParaRPr lang="en-US" sz="950" dirty="0"/>
          </a:p>
        </p:txBody>
      </p:sp>
      <p:sp>
        <p:nvSpPr>
          <p:cNvPr id="23" name="Shape 21"/>
          <p:cNvSpPr/>
          <p:nvPr/>
        </p:nvSpPr>
        <p:spPr>
          <a:xfrm>
            <a:off x="777240" y="4407408"/>
            <a:ext cx="10637215" cy="0"/>
          </a:xfrm>
          <a:prstGeom prst="line">
            <a:avLst/>
          </a:prstGeom>
          <a:noFill/>
          <a:ln w="9525">
            <a:solidFill>
              <a:srgbClr val="E2E2DC"/>
            </a:solidFill>
            <a:prstDash val="solid"/>
          </a:ln>
        </p:spPr>
      </p:sp>
      <p:sp>
        <p:nvSpPr>
          <p:cNvPr id="24" name="Text 22"/>
          <p:cNvSpPr/>
          <p:nvPr/>
        </p:nvSpPr>
        <p:spPr>
          <a:xfrm>
            <a:off x="777240" y="4572000"/>
            <a:ext cx="640080" cy="457200"/>
          </a:xfrm>
          <a:prstGeom prst="rect">
            <a:avLst/>
          </a:prstGeom>
          <a:noFill/>
          <a:ln/>
        </p:spPr>
        <p:txBody>
          <a:bodyPr wrap="square" lIns="0" tIns="0" rIns="0" bIns="0" rtlCol="0" anchor="t"/>
          <a:lstStyle/>
          <a:p>
            <a:pPr algn="l" indent="0" marL="0">
              <a:buNone/>
            </a:pPr>
            <a:r>
              <a:rPr lang="en-US" sz="2200" b="1" dirty="0">
                <a:solidFill>
                  <a:srgbClr val="5A6CE6"/>
                </a:solidFill>
                <a:latin typeface="Calibri" pitchFamily="34" charset="0"/>
                <a:ea typeface="Calibri" pitchFamily="34" charset="-122"/>
                <a:cs typeface="Calibri" pitchFamily="34" charset="-120"/>
              </a:rPr>
              <a:t>3</a:t>
            </a:r>
            <a:endParaRPr lang="en-US" sz="2200" dirty="0"/>
          </a:p>
        </p:txBody>
      </p:sp>
      <p:sp>
        <p:nvSpPr>
          <p:cNvPr id="25" name="Text 23"/>
          <p:cNvSpPr/>
          <p:nvPr/>
        </p:nvSpPr>
        <p:spPr>
          <a:xfrm>
            <a:off x="1417320" y="4599432"/>
            <a:ext cx="1554480" cy="274320"/>
          </a:xfrm>
          <a:prstGeom prst="rect">
            <a:avLst/>
          </a:prstGeom>
          <a:noFill/>
          <a:ln/>
        </p:spPr>
        <p:txBody>
          <a:bodyPr wrap="square" lIns="0" tIns="0" rIns="0" bIns="0" rtlCol="0" anchor="t"/>
          <a:lstStyle/>
          <a:p>
            <a:pPr algn="l" indent="0" marL="0">
              <a:buNone/>
            </a:pPr>
            <a:r>
              <a:rPr lang="en-US" sz="1300" b="1" dirty="0">
                <a:solidFill>
                  <a:srgbClr val="1B1B18"/>
                </a:solidFill>
                <a:latin typeface="Calibri" pitchFamily="34" charset="0"/>
                <a:ea typeface="Calibri" pitchFamily="34" charset="-122"/>
                <a:cs typeface="Calibri" pitchFamily="34" charset="-120"/>
              </a:rPr>
              <a:t>Behavior change</a:t>
            </a:r>
            <a:endParaRPr lang="en-US" sz="1300" dirty="0"/>
          </a:p>
        </p:txBody>
      </p:sp>
      <p:sp>
        <p:nvSpPr>
          <p:cNvPr id="26" name="Text 24"/>
          <p:cNvSpPr/>
          <p:nvPr/>
        </p:nvSpPr>
        <p:spPr>
          <a:xfrm>
            <a:off x="3108960" y="4553712"/>
            <a:ext cx="2926080" cy="640080"/>
          </a:xfrm>
          <a:prstGeom prst="rect">
            <a:avLst/>
          </a:prstGeom>
          <a:noFill/>
          <a:ln/>
        </p:spPr>
        <p:txBody>
          <a:bodyPr wrap="square" lIns="0" tIns="0" rIns="0" bIns="0" rtlCol="0" anchor="t"/>
          <a:lstStyle/>
          <a:p>
            <a:pPr algn="l" indent="0" marL="0">
              <a:lnSpc>
                <a:spcPct val="106000"/>
              </a:lnSpc>
              <a:buNone/>
            </a:pPr>
            <a:r>
              <a:rPr lang="en-US" sz="1250" b="1" dirty="0">
                <a:solidFill>
                  <a:srgbClr val="1B1B18"/>
                </a:solidFill>
                <a:latin typeface="Calibri" pitchFamily="34" charset="0"/>
                <a:ea typeface="Calibri" pitchFamily="34" charset="-122"/>
                <a:cs typeface="Calibri" pitchFamily="34" charset="-120"/>
              </a:rPr>
              <a:t>Does reviewed evidence change staff action?</a:t>
            </a:r>
            <a:endParaRPr lang="en-US" sz="1250" dirty="0"/>
          </a:p>
        </p:txBody>
      </p:sp>
      <p:sp>
        <p:nvSpPr>
          <p:cNvPr id="27" name="Text 25"/>
          <p:cNvSpPr/>
          <p:nvPr/>
        </p:nvSpPr>
        <p:spPr>
          <a:xfrm>
            <a:off x="6172200" y="4572000"/>
            <a:ext cx="2377440" cy="201168"/>
          </a:xfrm>
          <a:prstGeom prst="rect">
            <a:avLst/>
          </a:prstGeom>
          <a:noFill/>
          <a:ln/>
        </p:spPr>
        <p:txBody>
          <a:bodyPr wrap="square" lIns="0" tIns="0" rIns="0" bIns="0" rtlCol="0" anchor="ctr"/>
          <a:lstStyle/>
          <a:p>
            <a:pPr algn="l" indent="0" marL="0">
              <a:buNone/>
            </a:pPr>
            <a:r>
              <a:rPr lang="en-US" sz="850" b="1" spc="40" kern="0" dirty="0">
                <a:solidFill>
                  <a:srgbClr val="83837B"/>
                </a:solidFill>
                <a:latin typeface="Calibri" pitchFamily="34" charset="0"/>
                <a:ea typeface="Calibri" pitchFamily="34" charset="-122"/>
                <a:cs typeface="Calibri" pitchFamily="34" charset="-120"/>
              </a:rPr>
              <a:t>Test</a:t>
            </a:r>
            <a:endParaRPr lang="en-US" sz="850" dirty="0"/>
          </a:p>
        </p:txBody>
      </p:sp>
      <p:sp>
        <p:nvSpPr>
          <p:cNvPr id="28" name="Text 26"/>
          <p:cNvSpPr/>
          <p:nvPr/>
        </p:nvSpPr>
        <p:spPr>
          <a:xfrm>
            <a:off x="6172200" y="4754880"/>
            <a:ext cx="2331720" cy="548640"/>
          </a:xfrm>
          <a:prstGeom prst="rect">
            <a:avLst/>
          </a:prstGeom>
          <a:noFill/>
          <a:ln/>
        </p:spPr>
        <p:txBody>
          <a:bodyPr wrap="square" lIns="0" tIns="0" rIns="0" bIns="0" rtlCol="0" anchor="t"/>
          <a:lstStyle/>
          <a:p>
            <a:pPr algn="l" indent="0" marL="0">
              <a:lnSpc>
                <a:spcPct val="108000"/>
              </a:lnSpc>
              <a:buNone/>
            </a:pPr>
            <a:r>
              <a:rPr lang="en-US" sz="950" dirty="0">
                <a:solidFill>
                  <a:srgbClr val="83837B"/>
                </a:solidFill>
                <a:latin typeface="Calibri" pitchFamily="34" charset="0"/>
                <a:ea typeface="Calibri" pitchFamily="34" charset="-122"/>
                <a:cs typeface="Calibri" pitchFamily="34" charset="-120"/>
              </a:rPr>
              <a:t>Concierge pilot with hand-built weekly candidates in one to two communities.</a:t>
            </a:r>
            <a:endParaRPr lang="en-US" sz="950" dirty="0"/>
          </a:p>
        </p:txBody>
      </p:sp>
      <p:sp>
        <p:nvSpPr>
          <p:cNvPr id="29" name="Text 27"/>
          <p:cNvSpPr/>
          <p:nvPr/>
        </p:nvSpPr>
        <p:spPr>
          <a:xfrm>
            <a:off x="8686800" y="4572000"/>
            <a:ext cx="2727655" cy="201168"/>
          </a:xfrm>
          <a:prstGeom prst="rect">
            <a:avLst/>
          </a:prstGeom>
          <a:noFill/>
          <a:ln/>
        </p:spPr>
        <p:txBody>
          <a:bodyPr wrap="square" lIns="0" tIns="0" rIns="0" bIns="0" rtlCol="0" anchor="ctr"/>
          <a:lstStyle/>
          <a:p>
            <a:pPr algn="l" indent="0" marL="0">
              <a:buNone/>
            </a:pPr>
            <a:r>
              <a:rPr lang="en-US" sz="850" b="1" spc="40" kern="0" dirty="0">
                <a:solidFill>
                  <a:srgbClr val="5A6CE6"/>
                </a:solidFill>
                <a:latin typeface="Calibri" pitchFamily="34" charset="0"/>
                <a:ea typeface="Calibri" pitchFamily="34" charset="-122"/>
                <a:cs typeface="Calibri" pitchFamily="34" charset="-120"/>
              </a:rPr>
              <a:t>Proceed if</a:t>
            </a:r>
            <a:endParaRPr lang="en-US" sz="850" dirty="0"/>
          </a:p>
        </p:txBody>
      </p:sp>
      <p:sp>
        <p:nvSpPr>
          <p:cNvPr id="30" name="Text 28"/>
          <p:cNvSpPr/>
          <p:nvPr/>
        </p:nvSpPr>
        <p:spPr>
          <a:xfrm>
            <a:off x="8686800" y="4754880"/>
            <a:ext cx="2727655" cy="548640"/>
          </a:xfrm>
          <a:prstGeom prst="rect">
            <a:avLst/>
          </a:prstGeom>
          <a:noFill/>
          <a:ln/>
        </p:spPr>
        <p:txBody>
          <a:bodyPr wrap="square" lIns="0" tIns="0" rIns="0" bIns="0" rtlCol="0" anchor="t"/>
          <a:lstStyle/>
          <a:p>
            <a:pPr algn="l" indent="0" marL="0">
              <a:lnSpc>
                <a:spcPct val="108000"/>
              </a:lnSpc>
              <a:buNone/>
            </a:pPr>
            <a:r>
              <a:rPr lang="en-US" sz="950" dirty="0">
                <a:solidFill>
                  <a:srgbClr val="1B1B18"/>
                </a:solidFill>
                <a:latin typeface="Calibri" pitchFamily="34" charset="0"/>
                <a:ea typeface="Calibri" pitchFamily="34" charset="-122"/>
                <a:cs typeface="Calibri" pitchFamily="34" charset="-120"/>
              </a:rPr>
              <a:t>Reviews lead to monitoring, intervention, reassessment, or documentation.</a:t>
            </a:r>
            <a:endParaRPr lang="en-US" sz="950" dirty="0"/>
          </a:p>
        </p:txBody>
      </p:sp>
      <p:sp>
        <p:nvSpPr>
          <p:cNvPr id="31" name="Shape 29"/>
          <p:cNvSpPr/>
          <p:nvPr/>
        </p:nvSpPr>
        <p:spPr>
          <a:xfrm>
            <a:off x="777240" y="5440680"/>
            <a:ext cx="10637215" cy="786384"/>
          </a:xfrm>
          <a:prstGeom prst="roundRect">
            <a:avLst>
              <a:gd name="adj" fmla="val 11628"/>
            </a:avLst>
          </a:prstGeom>
          <a:solidFill>
            <a:srgbClr val="EEEEE9"/>
          </a:solidFill>
          <a:ln/>
        </p:spPr>
      </p:sp>
      <p:sp>
        <p:nvSpPr>
          <p:cNvPr id="32" name="Text 30"/>
          <p:cNvSpPr/>
          <p:nvPr/>
        </p:nvSpPr>
        <p:spPr>
          <a:xfrm>
            <a:off x="1051560" y="5596128"/>
            <a:ext cx="2743200" cy="201168"/>
          </a:xfrm>
          <a:prstGeom prst="rect">
            <a:avLst/>
          </a:prstGeom>
          <a:noFill/>
          <a:ln/>
        </p:spPr>
        <p:txBody>
          <a:bodyPr wrap="square" lIns="0" tIns="0" rIns="0" bIns="0" rtlCol="0" anchor="ctr"/>
          <a:lstStyle/>
          <a:p>
            <a:pPr algn="l" indent="0" marL="0">
              <a:buNone/>
            </a:pPr>
            <a:r>
              <a:rPr lang="en-US" sz="950" b="1" spc="40" kern="0" dirty="0">
                <a:solidFill>
                  <a:srgbClr val="83837B"/>
                </a:solidFill>
                <a:latin typeface="Calibri" pitchFamily="34" charset="0"/>
                <a:ea typeface="Calibri" pitchFamily="34" charset="-122"/>
                <a:cs typeface="Calibri" pitchFamily="34" charset="-120"/>
              </a:rPr>
              <a:t>If a gate fails</a:t>
            </a:r>
            <a:endParaRPr lang="en-US" sz="950" dirty="0"/>
          </a:p>
        </p:txBody>
      </p:sp>
      <p:sp>
        <p:nvSpPr>
          <p:cNvPr id="33" name="Text 31"/>
          <p:cNvSpPr/>
          <p:nvPr/>
        </p:nvSpPr>
        <p:spPr>
          <a:xfrm>
            <a:off x="1051560" y="5815584"/>
            <a:ext cx="3179978" cy="310896"/>
          </a:xfrm>
          <a:prstGeom prst="rect">
            <a:avLst/>
          </a:prstGeom>
          <a:noFill/>
          <a:ln/>
        </p:spPr>
        <p:txBody>
          <a:bodyPr wrap="square" lIns="0" tIns="0" rIns="0" bIns="0" rtlCol="0" anchor="ctr"/>
          <a:lstStyle/>
          <a:p>
            <a:pPr algn="l" indent="0" marL="0">
              <a:buNone/>
            </a:pPr>
            <a:r>
              <a:rPr lang="en-US" sz="1050" b="1" dirty="0">
                <a:solidFill>
                  <a:srgbClr val="1B1B18"/>
                </a:solidFill>
                <a:latin typeface="Calibri" pitchFamily="34" charset="0"/>
                <a:ea typeface="Calibri" pitchFamily="34" charset="-122"/>
                <a:cs typeface="Calibri" pitchFamily="34" charset="-120"/>
              </a:rPr>
              <a:t>Weak signal  →  </a:t>
            </a:r>
            <a:pPr algn="l" indent="0" marL="0">
              <a:buNone/>
            </a:pPr>
            <a:r>
              <a:rPr lang="en-US" sz="1050" dirty="0">
                <a:solidFill>
                  <a:srgbClr val="83837B"/>
                </a:solidFill>
                <a:latin typeface="Calibri" pitchFamily="34" charset="0"/>
                <a:ea typeface="Calibri" pitchFamily="34" charset="-122"/>
                <a:cs typeface="Calibri" pitchFamily="34" charset="-120"/>
              </a:rPr>
              <a:t>stay closer to fall documentation</a:t>
            </a:r>
            <a:endParaRPr lang="en-US" sz="1050" dirty="0"/>
          </a:p>
        </p:txBody>
      </p:sp>
      <p:sp>
        <p:nvSpPr>
          <p:cNvPr id="34" name="Text 32"/>
          <p:cNvSpPr/>
          <p:nvPr/>
        </p:nvSpPr>
        <p:spPr>
          <a:xfrm>
            <a:off x="4414418" y="5815584"/>
            <a:ext cx="3179978" cy="310896"/>
          </a:xfrm>
          <a:prstGeom prst="rect">
            <a:avLst/>
          </a:prstGeom>
          <a:noFill/>
          <a:ln/>
        </p:spPr>
        <p:txBody>
          <a:bodyPr wrap="square" lIns="0" tIns="0" rIns="0" bIns="0" rtlCol="0" anchor="ctr"/>
          <a:lstStyle/>
          <a:p>
            <a:pPr algn="l" indent="0" marL="0">
              <a:buNone/>
            </a:pPr>
            <a:r>
              <a:rPr lang="en-US" sz="1050" b="1" dirty="0">
                <a:solidFill>
                  <a:srgbClr val="1B1B18"/>
                </a:solidFill>
                <a:latin typeface="Calibri" pitchFamily="34" charset="0"/>
                <a:ea typeface="Calibri" pitchFamily="34" charset="-122"/>
                <a:cs typeface="Calibri" pitchFamily="34" charset="-120"/>
              </a:rPr>
              <a:t>Weak workflow fit  →  </a:t>
            </a:r>
            <a:pPr algn="l" indent="0" marL="0">
              <a:buNone/>
            </a:pPr>
            <a:r>
              <a:rPr lang="en-US" sz="1050" dirty="0">
                <a:solidFill>
                  <a:srgbClr val="83837B"/>
                </a:solidFill>
                <a:latin typeface="Calibri" pitchFamily="34" charset="0"/>
                <a:ea typeface="Calibri" pitchFamily="34" charset="-122"/>
                <a:cs typeface="Calibri" pitchFamily="34" charset="-120"/>
              </a:rPr>
              <a:t>attach evidence to scheduled reassessments</a:t>
            </a:r>
            <a:endParaRPr lang="en-US" sz="1050" dirty="0"/>
          </a:p>
        </p:txBody>
      </p:sp>
      <p:sp>
        <p:nvSpPr>
          <p:cNvPr id="35" name="Text 33"/>
          <p:cNvSpPr/>
          <p:nvPr/>
        </p:nvSpPr>
        <p:spPr>
          <a:xfrm>
            <a:off x="7777277" y="5815584"/>
            <a:ext cx="3179978" cy="310896"/>
          </a:xfrm>
          <a:prstGeom prst="rect">
            <a:avLst/>
          </a:prstGeom>
          <a:noFill/>
          <a:ln/>
        </p:spPr>
        <p:txBody>
          <a:bodyPr wrap="square" lIns="0" tIns="0" rIns="0" bIns="0" rtlCol="0" anchor="ctr"/>
          <a:lstStyle/>
          <a:p>
            <a:pPr algn="l" indent="0" marL="0">
              <a:buNone/>
            </a:pPr>
            <a:r>
              <a:rPr lang="en-US" sz="1050" b="1" dirty="0">
                <a:solidFill>
                  <a:srgbClr val="1B1B18"/>
                </a:solidFill>
                <a:latin typeface="Calibri" pitchFamily="34" charset="0"/>
                <a:ea typeface="Calibri" pitchFamily="34" charset="-122"/>
                <a:cs typeface="Calibri" pitchFamily="34" charset="-120"/>
              </a:rPr>
              <a:t>Too much volume  →  </a:t>
            </a:r>
            <a:pPr algn="l" indent="0" marL="0">
              <a:buNone/>
            </a:pPr>
            <a:r>
              <a:rPr lang="en-US" sz="1050" dirty="0">
                <a:solidFill>
                  <a:srgbClr val="83837B"/>
                </a:solidFill>
                <a:latin typeface="Calibri" pitchFamily="34" charset="0"/>
                <a:ea typeface="Calibri" pitchFamily="34" charset="-122"/>
                <a:cs typeface="Calibri" pitchFamily="34" charset="-120"/>
              </a:rPr>
              <a:t>raise the threshold</a:t>
            </a:r>
            <a:endParaRPr lang="en-US" sz="1050" dirty="0"/>
          </a:p>
        </p:txBody>
      </p:sp>
      <p:sp>
        <p:nvSpPr>
          <p:cNvPr id="36" name="Text 34"/>
          <p:cNvSpPr/>
          <p:nvPr/>
        </p:nvSpPr>
        <p:spPr>
          <a:xfrm>
            <a:off x="777240" y="6473952"/>
            <a:ext cx="5486400" cy="237744"/>
          </a:xfrm>
          <a:prstGeom prst="rect">
            <a:avLst/>
          </a:prstGeom>
          <a:noFill/>
          <a:ln/>
        </p:spPr>
        <p:txBody>
          <a:bodyPr wrap="square" lIns="0" tIns="0" rIns="0" bIns="0" rtlCol="0" anchor="ctr"/>
          <a:lstStyle/>
          <a:p>
            <a:pPr algn="l" indent="0" marL="0">
              <a:buNone/>
            </a:pPr>
            <a:r>
              <a:rPr lang="en-US" sz="850" dirty="0">
                <a:solidFill>
                  <a:srgbClr val="83837B"/>
                </a:solidFill>
                <a:latin typeface="Calibri" pitchFamily="34" charset="0"/>
                <a:ea typeface="Calibri" pitchFamily="34" charset="-122"/>
                <a:cs typeface="Calibri" pitchFamily="34" charset="-120"/>
              </a:rPr>
              <a:t>Teton  ·  Product recommendation</a:t>
            </a:r>
            <a:endParaRPr lang="en-US" sz="850" dirty="0"/>
          </a:p>
        </p:txBody>
      </p:sp>
      <p:sp>
        <p:nvSpPr>
          <p:cNvPr id="37" name="Text 35"/>
          <p:cNvSpPr/>
          <p:nvPr/>
        </p:nvSpPr>
        <p:spPr>
          <a:xfrm>
            <a:off x="10500055" y="6473952"/>
            <a:ext cx="914400" cy="237744"/>
          </a:xfrm>
          <a:prstGeom prst="rect">
            <a:avLst/>
          </a:prstGeom>
          <a:noFill/>
          <a:ln/>
        </p:spPr>
        <p:txBody>
          <a:bodyPr wrap="square" lIns="0" tIns="0" rIns="0" bIns="0" rtlCol="0" anchor="ctr"/>
          <a:lstStyle/>
          <a:p>
            <a:pPr algn="r" indent="0" marL="0">
              <a:buNone/>
            </a:pPr>
            <a:r>
              <a:rPr lang="en-US" sz="850" dirty="0">
                <a:solidFill>
                  <a:srgbClr val="83837B"/>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5"/>
        </a:solidFill>
      </p:bgPr>
    </p:bg>
    <p:spTree>
      <p:nvGrpSpPr>
        <p:cNvPr id="1" name=""/>
        <p:cNvGrpSpPr/>
        <p:nvPr/>
      </p:nvGrpSpPr>
      <p:grpSpPr>
        <a:xfrm>
          <a:off x="0" y="0"/>
          <a:ext cx="0" cy="0"/>
          <a:chOff x="0" y="0"/>
          <a:chExt cx="0" cy="0"/>
        </a:xfrm>
      </p:grpSpPr>
      <p:sp>
        <p:nvSpPr>
          <p:cNvPr id="2" name="Shape 0"/>
          <p:cNvSpPr/>
          <p:nvPr/>
        </p:nvSpPr>
        <p:spPr>
          <a:xfrm>
            <a:off x="777240" y="384048"/>
            <a:ext cx="100584" cy="100584"/>
          </a:xfrm>
          <a:prstGeom prst="ellipse">
            <a:avLst/>
          </a:prstGeom>
          <a:solidFill>
            <a:srgbClr val="5A6CE6"/>
          </a:solidFill>
          <a:ln/>
        </p:spPr>
      </p:sp>
      <p:sp>
        <p:nvSpPr>
          <p:cNvPr id="3" name="Text 1"/>
          <p:cNvSpPr/>
          <p:nvPr/>
        </p:nvSpPr>
        <p:spPr>
          <a:xfrm>
            <a:off x="978408" y="320040"/>
            <a:ext cx="9144000" cy="237744"/>
          </a:xfrm>
          <a:prstGeom prst="rect">
            <a:avLst/>
          </a:prstGeom>
          <a:noFill/>
          <a:ln/>
        </p:spPr>
        <p:txBody>
          <a:bodyPr wrap="square" lIns="0" tIns="0" rIns="0" bIns="0" rtlCol="0" anchor="ctr"/>
          <a:lstStyle/>
          <a:p>
            <a:pPr algn="l" indent="0" marL="0">
              <a:buNone/>
            </a:pPr>
            <a:r>
              <a:rPr lang="en-US" sz="1050" b="1" spc="160" kern="0" dirty="0">
                <a:solidFill>
                  <a:srgbClr val="83837B"/>
                </a:solidFill>
                <a:latin typeface="Calibri" pitchFamily="34" charset="0"/>
                <a:ea typeface="Calibri" pitchFamily="34" charset="-122"/>
                <a:cs typeface="Calibri" pitchFamily="34" charset="-120"/>
              </a:rPr>
              <a:t>SIX-MONTH PLAN</a:t>
            </a:r>
            <a:endParaRPr lang="en-US" sz="1050" dirty="0"/>
          </a:p>
        </p:txBody>
      </p:sp>
      <p:sp>
        <p:nvSpPr>
          <p:cNvPr id="4" name="Text 2"/>
          <p:cNvSpPr/>
          <p:nvPr/>
        </p:nvSpPr>
        <p:spPr>
          <a:xfrm>
            <a:off x="777240" y="676656"/>
            <a:ext cx="10424160" cy="822960"/>
          </a:xfrm>
          <a:prstGeom prst="rect">
            <a:avLst/>
          </a:prstGeom>
          <a:noFill/>
          <a:ln/>
        </p:spPr>
        <p:txBody>
          <a:bodyPr wrap="square" lIns="0" tIns="0" rIns="0" bIns="0" rtlCol="0" anchor="t"/>
          <a:lstStyle/>
          <a:p>
            <a:pPr algn="l" indent="0" marL="0">
              <a:lnSpc>
                <a:spcPct val="102000"/>
              </a:lnSpc>
              <a:buNone/>
            </a:pPr>
            <a:r>
              <a:rPr lang="en-US" sz="2400" b="1" dirty="0">
                <a:solidFill>
                  <a:srgbClr val="1B1B18"/>
                </a:solidFill>
                <a:latin typeface="Calibri" pitchFamily="34" charset="0"/>
                <a:ea typeface="Calibri" pitchFamily="34" charset="-122"/>
                <a:cs typeface="Calibri" pitchFamily="34" charset="-120"/>
              </a:rPr>
              <a:t>Six months to prove earlier reviewed action</a:t>
            </a:r>
            <a:endParaRPr lang="en-US" sz="2400" dirty="0"/>
          </a:p>
        </p:txBody>
      </p:sp>
      <p:sp>
        <p:nvSpPr>
          <p:cNvPr id="5" name="Text 3"/>
          <p:cNvSpPr/>
          <p:nvPr/>
        </p:nvSpPr>
        <p:spPr>
          <a:xfrm>
            <a:off x="777240" y="1463040"/>
            <a:ext cx="10058400" cy="457200"/>
          </a:xfrm>
          <a:prstGeom prst="rect">
            <a:avLst/>
          </a:prstGeom>
          <a:noFill/>
          <a:ln/>
        </p:spPr>
        <p:txBody>
          <a:bodyPr wrap="square" lIns="0" tIns="0" rIns="0" bIns="0" rtlCol="0" anchor="t"/>
          <a:lstStyle/>
          <a:p>
            <a:pPr algn="l" indent="0" marL="0">
              <a:lnSpc>
                <a:spcPct val="112000"/>
              </a:lnSpc>
              <a:buNone/>
            </a:pPr>
            <a:r>
              <a:rPr lang="en-US" sz="1250" dirty="0">
                <a:solidFill>
                  <a:srgbClr val="83837B"/>
                </a:solidFill>
                <a:latin typeface="Calibri" pitchFamily="34" charset="0"/>
                <a:ea typeface="Calibri" pitchFamily="34" charset="-122"/>
                <a:cs typeface="Calibri" pitchFamily="34" charset="-120"/>
              </a:rPr>
              <a:t>Validate on history, pilot by hand, then automate the workflow that earns renewal confidence.</a:t>
            </a:r>
            <a:endParaRPr lang="en-US" sz="1250" dirty="0"/>
          </a:p>
        </p:txBody>
      </p:sp>
      <p:sp>
        <p:nvSpPr>
          <p:cNvPr id="6" name="Shape 4"/>
          <p:cNvSpPr/>
          <p:nvPr/>
        </p:nvSpPr>
        <p:spPr>
          <a:xfrm>
            <a:off x="777240" y="1883664"/>
            <a:ext cx="137160" cy="137160"/>
          </a:xfrm>
          <a:prstGeom prst="ellipse">
            <a:avLst/>
          </a:prstGeom>
          <a:solidFill>
            <a:srgbClr val="5A6CE6"/>
          </a:solidFill>
          <a:ln/>
        </p:spPr>
      </p:sp>
      <p:sp>
        <p:nvSpPr>
          <p:cNvPr id="7" name="Text 5"/>
          <p:cNvSpPr/>
          <p:nvPr/>
        </p:nvSpPr>
        <p:spPr>
          <a:xfrm>
            <a:off x="1033272" y="1847088"/>
            <a:ext cx="3362858" cy="219456"/>
          </a:xfrm>
          <a:prstGeom prst="rect">
            <a:avLst/>
          </a:prstGeom>
          <a:noFill/>
          <a:ln/>
        </p:spPr>
        <p:txBody>
          <a:bodyPr wrap="square" lIns="0" tIns="0" rIns="0" bIns="0" rtlCol="0" anchor="t"/>
          <a:lstStyle/>
          <a:p>
            <a:pPr algn="l" indent="0" marL="0">
              <a:buNone/>
            </a:pPr>
            <a:r>
              <a:rPr lang="en-US" sz="1000" b="1" dirty="0">
                <a:solidFill>
                  <a:srgbClr val="5A6CE6"/>
                </a:solidFill>
                <a:latin typeface="Calibri" pitchFamily="34" charset="0"/>
                <a:ea typeface="Calibri" pitchFamily="34" charset="-122"/>
                <a:cs typeface="Calibri" pitchFamily="34" charset="-120"/>
              </a:rPr>
              <a:t>Months 1–2</a:t>
            </a:r>
            <a:endParaRPr lang="en-US" sz="1000" dirty="0"/>
          </a:p>
        </p:txBody>
      </p:sp>
      <p:sp>
        <p:nvSpPr>
          <p:cNvPr id="8" name="Text 6"/>
          <p:cNvSpPr/>
          <p:nvPr/>
        </p:nvSpPr>
        <p:spPr>
          <a:xfrm>
            <a:off x="777240" y="2139696"/>
            <a:ext cx="3362858" cy="274320"/>
          </a:xfrm>
          <a:prstGeom prst="rect">
            <a:avLst/>
          </a:prstGeom>
          <a:noFill/>
          <a:ln/>
        </p:spPr>
        <p:txBody>
          <a:bodyPr wrap="square" lIns="0" tIns="0" rIns="0" bIns="0" rtlCol="0" anchor="t"/>
          <a:lstStyle/>
          <a:p>
            <a:pPr algn="l" indent="0" marL="0">
              <a:buNone/>
            </a:pPr>
            <a:r>
              <a:rPr lang="en-US" sz="1400" b="1" dirty="0">
                <a:solidFill>
                  <a:srgbClr val="1B1B18"/>
                </a:solidFill>
                <a:latin typeface="Calibri" pitchFamily="34" charset="0"/>
                <a:ea typeface="Calibri" pitchFamily="34" charset="-122"/>
                <a:cs typeface="Calibri" pitchFamily="34" charset="-120"/>
              </a:rPr>
              <a:t>Prove signal on history</a:t>
            </a:r>
            <a:endParaRPr lang="en-US" sz="1400" dirty="0"/>
          </a:p>
        </p:txBody>
      </p:sp>
      <p:sp>
        <p:nvSpPr>
          <p:cNvPr id="9" name="Text 7"/>
          <p:cNvSpPr/>
          <p:nvPr/>
        </p:nvSpPr>
        <p:spPr>
          <a:xfrm>
            <a:off x="777240" y="2450592"/>
            <a:ext cx="3362858" cy="548640"/>
          </a:xfrm>
          <a:prstGeom prst="rect">
            <a:avLst/>
          </a:prstGeom>
          <a:noFill/>
          <a:ln/>
        </p:spPr>
        <p:txBody>
          <a:bodyPr wrap="square" lIns="0" tIns="0" rIns="0" bIns="0" rtlCol="0" anchor="t"/>
          <a:lstStyle/>
          <a:p>
            <a:pPr algn="l" indent="0" marL="0">
              <a:lnSpc>
                <a:spcPct val="108000"/>
              </a:lnSpc>
              <a:buNone/>
            </a:pPr>
            <a:r>
              <a:rPr lang="en-US" sz="1000" dirty="0">
                <a:solidFill>
                  <a:srgbClr val="83837B"/>
                </a:solidFill>
                <a:latin typeface="Calibri" pitchFamily="34" charset="0"/>
                <a:ea typeface="Calibri" pitchFamily="34" charset="-122"/>
                <a:cs typeface="Calibri" pitchFamily="34" charset="-120"/>
              </a:rPr>
              <a:t>Find historical cases where Teton saw decline before it was documented.</a:t>
            </a:r>
            <a:endParaRPr lang="en-US" sz="1000" dirty="0"/>
          </a:p>
        </p:txBody>
      </p:sp>
      <p:sp>
        <p:nvSpPr>
          <p:cNvPr id="10" name="Shape 8"/>
          <p:cNvSpPr/>
          <p:nvPr/>
        </p:nvSpPr>
        <p:spPr>
          <a:xfrm>
            <a:off x="4414418" y="1883664"/>
            <a:ext cx="137160" cy="137160"/>
          </a:xfrm>
          <a:prstGeom prst="ellipse">
            <a:avLst/>
          </a:prstGeom>
          <a:solidFill>
            <a:srgbClr val="5A6CE6"/>
          </a:solidFill>
          <a:ln/>
        </p:spPr>
      </p:sp>
      <p:sp>
        <p:nvSpPr>
          <p:cNvPr id="11" name="Text 9"/>
          <p:cNvSpPr/>
          <p:nvPr/>
        </p:nvSpPr>
        <p:spPr>
          <a:xfrm>
            <a:off x="4670450" y="1847088"/>
            <a:ext cx="3362858" cy="219456"/>
          </a:xfrm>
          <a:prstGeom prst="rect">
            <a:avLst/>
          </a:prstGeom>
          <a:noFill/>
          <a:ln/>
        </p:spPr>
        <p:txBody>
          <a:bodyPr wrap="square" lIns="0" tIns="0" rIns="0" bIns="0" rtlCol="0" anchor="t"/>
          <a:lstStyle/>
          <a:p>
            <a:pPr algn="l" indent="0" marL="0">
              <a:buNone/>
            </a:pPr>
            <a:r>
              <a:rPr lang="en-US" sz="1000" b="1" dirty="0">
                <a:solidFill>
                  <a:srgbClr val="5A6CE6"/>
                </a:solidFill>
                <a:latin typeface="Calibri" pitchFamily="34" charset="0"/>
                <a:ea typeface="Calibri" pitchFamily="34" charset="-122"/>
                <a:cs typeface="Calibri" pitchFamily="34" charset="-120"/>
              </a:rPr>
              <a:t>Months 2–4</a:t>
            </a:r>
            <a:endParaRPr lang="en-US" sz="1000" dirty="0"/>
          </a:p>
        </p:txBody>
      </p:sp>
      <p:sp>
        <p:nvSpPr>
          <p:cNvPr id="12" name="Text 10"/>
          <p:cNvSpPr/>
          <p:nvPr/>
        </p:nvSpPr>
        <p:spPr>
          <a:xfrm>
            <a:off x="4414418" y="2139696"/>
            <a:ext cx="3362858" cy="274320"/>
          </a:xfrm>
          <a:prstGeom prst="rect">
            <a:avLst/>
          </a:prstGeom>
          <a:noFill/>
          <a:ln/>
        </p:spPr>
        <p:txBody>
          <a:bodyPr wrap="square" lIns="0" tIns="0" rIns="0" bIns="0" rtlCol="0" anchor="t"/>
          <a:lstStyle/>
          <a:p>
            <a:pPr algn="l" indent="0" marL="0">
              <a:buNone/>
            </a:pPr>
            <a:r>
              <a:rPr lang="en-US" sz="1400" b="1" dirty="0">
                <a:solidFill>
                  <a:srgbClr val="1B1B18"/>
                </a:solidFill>
                <a:latin typeface="Calibri" pitchFamily="34" charset="0"/>
                <a:ea typeface="Calibri" pitchFamily="34" charset="-122"/>
                <a:cs typeface="Calibri" pitchFamily="34" charset="-120"/>
              </a:rPr>
              <a:t>Pilot by hand</a:t>
            </a:r>
            <a:endParaRPr lang="en-US" sz="1400" dirty="0"/>
          </a:p>
        </p:txBody>
      </p:sp>
      <p:sp>
        <p:nvSpPr>
          <p:cNvPr id="13" name="Text 11"/>
          <p:cNvSpPr/>
          <p:nvPr/>
        </p:nvSpPr>
        <p:spPr>
          <a:xfrm>
            <a:off x="4414418" y="2450592"/>
            <a:ext cx="3362858" cy="548640"/>
          </a:xfrm>
          <a:prstGeom prst="rect">
            <a:avLst/>
          </a:prstGeom>
          <a:noFill/>
          <a:ln/>
        </p:spPr>
        <p:txBody>
          <a:bodyPr wrap="square" lIns="0" tIns="0" rIns="0" bIns="0" rtlCol="0" anchor="t"/>
          <a:lstStyle/>
          <a:p>
            <a:pPr algn="l" indent="0" marL="0">
              <a:lnSpc>
                <a:spcPct val="108000"/>
              </a:lnSpc>
              <a:buNone/>
            </a:pPr>
            <a:r>
              <a:rPr lang="en-US" sz="1000" dirty="0">
                <a:solidFill>
                  <a:srgbClr val="83837B"/>
                </a:solidFill>
                <a:latin typeface="Calibri" pitchFamily="34" charset="0"/>
                <a:ea typeface="Calibri" pitchFamily="34" charset="-122"/>
                <a:cs typeface="Calibri" pitchFamily="34" charset="-120"/>
              </a:rPr>
              <a:t>Run weekly review candidates with one to two design partners.</a:t>
            </a:r>
            <a:endParaRPr lang="en-US" sz="1000" dirty="0"/>
          </a:p>
        </p:txBody>
      </p:sp>
      <p:sp>
        <p:nvSpPr>
          <p:cNvPr id="14" name="Shape 12"/>
          <p:cNvSpPr/>
          <p:nvPr/>
        </p:nvSpPr>
        <p:spPr>
          <a:xfrm>
            <a:off x="8051597" y="1883664"/>
            <a:ext cx="137160" cy="137160"/>
          </a:xfrm>
          <a:prstGeom prst="ellipse">
            <a:avLst/>
          </a:prstGeom>
          <a:solidFill>
            <a:srgbClr val="5A6CE6"/>
          </a:solidFill>
          <a:ln/>
        </p:spPr>
      </p:sp>
      <p:sp>
        <p:nvSpPr>
          <p:cNvPr id="15" name="Text 13"/>
          <p:cNvSpPr/>
          <p:nvPr/>
        </p:nvSpPr>
        <p:spPr>
          <a:xfrm>
            <a:off x="8307629" y="1847088"/>
            <a:ext cx="3362858" cy="219456"/>
          </a:xfrm>
          <a:prstGeom prst="rect">
            <a:avLst/>
          </a:prstGeom>
          <a:noFill/>
          <a:ln/>
        </p:spPr>
        <p:txBody>
          <a:bodyPr wrap="square" lIns="0" tIns="0" rIns="0" bIns="0" rtlCol="0" anchor="t"/>
          <a:lstStyle/>
          <a:p>
            <a:pPr algn="l" indent="0" marL="0">
              <a:buNone/>
            </a:pPr>
            <a:r>
              <a:rPr lang="en-US" sz="1000" b="1" dirty="0">
                <a:solidFill>
                  <a:srgbClr val="5A6CE6"/>
                </a:solidFill>
                <a:latin typeface="Calibri" pitchFamily="34" charset="0"/>
                <a:ea typeface="Calibri" pitchFamily="34" charset="-122"/>
                <a:cs typeface="Calibri" pitchFamily="34" charset="-120"/>
              </a:rPr>
              <a:t>Months 4–6</a:t>
            </a:r>
            <a:endParaRPr lang="en-US" sz="1000" dirty="0"/>
          </a:p>
        </p:txBody>
      </p:sp>
      <p:sp>
        <p:nvSpPr>
          <p:cNvPr id="16" name="Text 14"/>
          <p:cNvSpPr/>
          <p:nvPr/>
        </p:nvSpPr>
        <p:spPr>
          <a:xfrm>
            <a:off x="8051597" y="2139696"/>
            <a:ext cx="3362858" cy="274320"/>
          </a:xfrm>
          <a:prstGeom prst="rect">
            <a:avLst/>
          </a:prstGeom>
          <a:noFill/>
          <a:ln/>
        </p:spPr>
        <p:txBody>
          <a:bodyPr wrap="square" lIns="0" tIns="0" rIns="0" bIns="0" rtlCol="0" anchor="t"/>
          <a:lstStyle/>
          <a:p>
            <a:pPr algn="l" indent="0" marL="0">
              <a:buNone/>
            </a:pPr>
            <a:r>
              <a:rPr lang="en-US" sz="1400" b="1" dirty="0">
                <a:solidFill>
                  <a:srgbClr val="1B1B18"/>
                </a:solidFill>
                <a:latin typeface="Calibri" pitchFamily="34" charset="0"/>
                <a:ea typeface="Calibri" pitchFamily="34" charset="-122"/>
                <a:cs typeface="Calibri" pitchFamily="34" charset="-120"/>
              </a:rPr>
              <a:t>Automate what worked</a:t>
            </a:r>
            <a:endParaRPr lang="en-US" sz="1400" dirty="0"/>
          </a:p>
        </p:txBody>
      </p:sp>
      <p:sp>
        <p:nvSpPr>
          <p:cNvPr id="17" name="Text 15"/>
          <p:cNvSpPr/>
          <p:nvPr/>
        </p:nvSpPr>
        <p:spPr>
          <a:xfrm>
            <a:off x="8051597" y="2450592"/>
            <a:ext cx="3362858" cy="548640"/>
          </a:xfrm>
          <a:prstGeom prst="rect">
            <a:avLst/>
          </a:prstGeom>
          <a:noFill/>
          <a:ln/>
        </p:spPr>
        <p:txBody>
          <a:bodyPr wrap="square" lIns="0" tIns="0" rIns="0" bIns="0" rtlCol="0" anchor="t"/>
          <a:lstStyle/>
          <a:p>
            <a:pPr algn="l" indent="0" marL="0">
              <a:lnSpc>
                <a:spcPct val="108000"/>
              </a:lnSpc>
              <a:buNone/>
            </a:pPr>
            <a:r>
              <a:rPr lang="en-US" sz="1000" dirty="0">
                <a:solidFill>
                  <a:srgbClr val="83837B"/>
                </a:solidFill>
                <a:latin typeface="Calibri" pitchFamily="34" charset="0"/>
                <a:ea typeface="Calibri" pitchFamily="34" charset="-122"/>
                <a:cs typeface="Calibri" pitchFamily="34" charset="-120"/>
              </a:rPr>
              <a:t>Launch candidate generation, review actions, and documentation.</a:t>
            </a:r>
            <a:endParaRPr lang="en-US" sz="1000" dirty="0"/>
          </a:p>
        </p:txBody>
      </p:sp>
      <p:sp>
        <p:nvSpPr>
          <p:cNvPr id="18" name="Shape 16"/>
          <p:cNvSpPr/>
          <p:nvPr/>
        </p:nvSpPr>
        <p:spPr>
          <a:xfrm>
            <a:off x="777240" y="3090672"/>
            <a:ext cx="10637215" cy="1024128"/>
          </a:xfrm>
          <a:prstGeom prst="roundRect">
            <a:avLst>
              <a:gd name="adj" fmla="val 10714"/>
            </a:avLst>
          </a:prstGeom>
          <a:solidFill>
            <a:srgbClr val="EBEEFB"/>
          </a:solidFill>
          <a:ln/>
        </p:spPr>
      </p:sp>
      <p:sp>
        <p:nvSpPr>
          <p:cNvPr id="19" name="Text 17"/>
          <p:cNvSpPr/>
          <p:nvPr/>
        </p:nvSpPr>
        <p:spPr>
          <a:xfrm>
            <a:off x="1143000" y="3255264"/>
            <a:ext cx="3657600" cy="201168"/>
          </a:xfrm>
          <a:prstGeom prst="rect">
            <a:avLst/>
          </a:prstGeom>
          <a:noFill/>
          <a:ln/>
        </p:spPr>
        <p:txBody>
          <a:bodyPr wrap="square" lIns="0" tIns="0" rIns="0" bIns="0" rtlCol="0" anchor="ctr"/>
          <a:lstStyle/>
          <a:p>
            <a:pPr algn="l" indent="0" marL="0">
              <a:buNone/>
            </a:pPr>
            <a:r>
              <a:rPr lang="en-US" sz="950" b="1" spc="40" kern="0" dirty="0">
                <a:solidFill>
                  <a:srgbClr val="5A6CE6"/>
                </a:solidFill>
                <a:latin typeface="Calibri" pitchFamily="34" charset="0"/>
                <a:ea typeface="Calibri" pitchFamily="34" charset="-122"/>
                <a:cs typeface="Calibri" pitchFamily="34" charset="-120"/>
              </a:rPr>
              <a:t>North Star</a:t>
            </a:r>
            <a:endParaRPr lang="en-US" sz="950" dirty="0"/>
          </a:p>
        </p:txBody>
      </p:sp>
      <p:sp>
        <p:nvSpPr>
          <p:cNvPr id="20" name="Text 18"/>
          <p:cNvSpPr/>
          <p:nvPr/>
        </p:nvSpPr>
        <p:spPr>
          <a:xfrm>
            <a:off x="1143000" y="3456432"/>
            <a:ext cx="9905695" cy="365760"/>
          </a:xfrm>
          <a:prstGeom prst="rect">
            <a:avLst/>
          </a:prstGeom>
          <a:noFill/>
          <a:ln/>
        </p:spPr>
        <p:txBody>
          <a:bodyPr wrap="square" lIns="0" tIns="0" rIns="0" bIns="0" rtlCol="0" anchor="t"/>
          <a:lstStyle/>
          <a:p>
            <a:pPr algn="l" indent="0" marL="0">
              <a:buNone/>
            </a:pPr>
            <a:r>
              <a:rPr lang="en-US" sz="2200" b="1" dirty="0">
                <a:solidFill>
                  <a:srgbClr val="1B1B18"/>
                </a:solidFill>
                <a:latin typeface="Calibri" pitchFamily="34" charset="0"/>
                <a:ea typeface="Calibri" pitchFamily="34" charset="-122"/>
                <a:cs typeface="Calibri" pitchFamily="34" charset="-120"/>
              </a:rPr>
              <a:t>Median weeks earlier that meaningful decline is reviewed</a:t>
            </a:r>
            <a:endParaRPr lang="en-US" sz="2200" dirty="0"/>
          </a:p>
        </p:txBody>
      </p:sp>
      <p:sp>
        <p:nvSpPr>
          <p:cNvPr id="21" name="Text 19"/>
          <p:cNvSpPr/>
          <p:nvPr/>
        </p:nvSpPr>
        <p:spPr>
          <a:xfrm>
            <a:off x="1143000" y="3858768"/>
            <a:ext cx="9905695" cy="256032"/>
          </a:xfrm>
          <a:prstGeom prst="rect">
            <a:avLst/>
          </a:prstGeom>
          <a:noFill/>
          <a:ln/>
        </p:spPr>
        <p:txBody>
          <a:bodyPr wrap="square" lIns="0" tIns="0" rIns="0" bIns="0" rtlCol="0" anchor="ctr"/>
          <a:lstStyle/>
          <a:p>
            <a:pPr algn="l" indent="0" marL="0">
              <a:buNone/>
            </a:pPr>
            <a:r>
              <a:rPr lang="en-US" sz="1400" dirty="0">
                <a:solidFill>
                  <a:srgbClr val="1B1B18"/>
                </a:solidFill>
                <a:latin typeface="Calibri" pitchFamily="34" charset="0"/>
                <a:ea typeface="Calibri" pitchFamily="34" charset="-122"/>
                <a:cs typeface="Calibri" pitchFamily="34" charset="-120"/>
              </a:rPr>
              <a:t>The goal is </a:t>
            </a:r>
            <a:pPr algn="l" indent="0" marL="0">
              <a:buNone/>
            </a:pPr>
            <a:r>
              <a:rPr lang="en-US" sz="1400" b="1" dirty="0">
                <a:solidFill>
                  <a:srgbClr val="5A6CE6"/>
                </a:solidFill>
                <a:latin typeface="Calibri" pitchFamily="34" charset="0"/>
                <a:ea typeface="Calibri" pitchFamily="34" charset="-122"/>
                <a:cs typeface="Calibri" pitchFamily="34" charset="-120"/>
              </a:rPr>
              <a:t>Week 2, not Week 12.</a:t>
            </a:r>
            <a:endParaRPr lang="en-US" sz="1400" dirty="0"/>
          </a:p>
        </p:txBody>
      </p:sp>
      <p:sp>
        <p:nvSpPr>
          <p:cNvPr id="22" name="Text 20"/>
          <p:cNvSpPr/>
          <p:nvPr/>
        </p:nvSpPr>
        <p:spPr>
          <a:xfrm>
            <a:off x="777240" y="4334256"/>
            <a:ext cx="3240938" cy="274320"/>
          </a:xfrm>
          <a:prstGeom prst="rect">
            <a:avLst/>
          </a:prstGeom>
          <a:noFill/>
          <a:ln/>
        </p:spPr>
        <p:txBody>
          <a:bodyPr wrap="square" lIns="0" tIns="0" rIns="0" bIns="0" rtlCol="0" anchor="t"/>
          <a:lstStyle/>
          <a:p>
            <a:pPr algn="l" indent="0" marL="0">
              <a:buNone/>
            </a:pPr>
            <a:r>
              <a:rPr lang="en-US" sz="1400" b="1" dirty="0">
                <a:solidFill>
                  <a:srgbClr val="1B1B18"/>
                </a:solidFill>
                <a:latin typeface="Calibri" pitchFamily="34" charset="0"/>
                <a:ea typeface="Calibri" pitchFamily="34" charset="-122"/>
                <a:cs typeface="Calibri" pitchFamily="34" charset="-120"/>
              </a:rPr>
              <a:t>Reviewed</a:t>
            </a:r>
            <a:endParaRPr lang="en-US" sz="1400" dirty="0"/>
          </a:p>
        </p:txBody>
      </p:sp>
      <p:sp>
        <p:nvSpPr>
          <p:cNvPr id="23" name="Shape 21"/>
          <p:cNvSpPr/>
          <p:nvPr/>
        </p:nvSpPr>
        <p:spPr>
          <a:xfrm>
            <a:off x="777240" y="4663440"/>
            <a:ext cx="3240938" cy="0"/>
          </a:xfrm>
          <a:prstGeom prst="line">
            <a:avLst/>
          </a:prstGeom>
          <a:noFill/>
          <a:ln w="9525">
            <a:solidFill>
              <a:srgbClr val="E2E2DC"/>
            </a:solidFill>
            <a:prstDash val="solid"/>
          </a:ln>
        </p:spPr>
      </p:sp>
      <p:sp>
        <p:nvSpPr>
          <p:cNvPr id="24" name="Text 22"/>
          <p:cNvSpPr/>
          <p:nvPr/>
        </p:nvSpPr>
        <p:spPr>
          <a:xfrm>
            <a:off x="777240" y="4754880"/>
            <a:ext cx="3240938" cy="548640"/>
          </a:xfrm>
          <a:prstGeom prst="rect">
            <a:avLst/>
          </a:prstGeom>
          <a:noFill/>
          <a:ln/>
        </p:spPr>
        <p:txBody>
          <a:bodyPr wrap="square" lIns="0" tIns="0" rIns="0" bIns="0" rtlCol="0" anchor="t"/>
          <a:lstStyle/>
          <a:p>
            <a:pPr algn="l" indent="0" marL="0">
              <a:lnSpc>
                <a:spcPct val="110000"/>
              </a:lnSpc>
              <a:buNone/>
            </a:pPr>
            <a:r>
              <a:rPr lang="en-US" sz="1000" dirty="0">
                <a:solidFill>
                  <a:srgbClr val="83837B"/>
                </a:solidFill>
                <a:latin typeface="Calibri" pitchFamily="34" charset="0"/>
                <a:ea typeface="Calibri" pitchFamily="34" charset="-122"/>
                <a:cs typeface="Calibri" pitchFamily="34" charset="-120"/>
              </a:rPr>
              <a:t>Resolved in cadence · confirmed meaningful · time from signal to review</a:t>
            </a:r>
            <a:endParaRPr lang="en-US" sz="1000" dirty="0"/>
          </a:p>
        </p:txBody>
      </p:sp>
      <p:sp>
        <p:nvSpPr>
          <p:cNvPr id="25" name="Text 23"/>
          <p:cNvSpPr/>
          <p:nvPr/>
        </p:nvSpPr>
        <p:spPr>
          <a:xfrm>
            <a:off x="4475378" y="4334256"/>
            <a:ext cx="3240938" cy="274320"/>
          </a:xfrm>
          <a:prstGeom prst="rect">
            <a:avLst/>
          </a:prstGeom>
          <a:noFill/>
          <a:ln/>
        </p:spPr>
        <p:txBody>
          <a:bodyPr wrap="square" lIns="0" tIns="0" rIns="0" bIns="0" rtlCol="0" anchor="t"/>
          <a:lstStyle/>
          <a:p>
            <a:pPr algn="l" indent="0" marL="0">
              <a:buNone/>
            </a:pPr>
            <a:r>
              <a:rPr lang="en-US" sz="1400" b="1" dirty="0">
                <a:solidFill>
                  <a:srgbClr val="1B1B18"/>
                </a:solidFill>
                <a:latin typeface="Calibri" pitchFamily="34" charset="0"/>
                <a:ea typeface="Calibri" pitchFamily="34" charset="-122"/>
                <a:cs typeface="Calibri" pitchFamily="34" charset="-120"/>
              </a:rPr>
              <a:t>Acted on</a:t>
            </a:r>
            <a:endParaRPr lang="en-US" sz="1400" dirty="0"/>
          </a:p>
        </p:txBody>
      </p:sp>
      <p:sp>
        <p:nvSpPr>
          <p:cNvPr id="26" name="Shape 24"/>
          <p:cNvSpPr/>
          <p:nvPr/>
        </p:nvSpPr>
        <p:spPr>
          <a:xfrm>
            <a:off x="4475378" y="4663440"/>
            <a:ext cx="3240938" cy="0"/>
          </a:xfrm>
          <a:prstGeom prst="line">
            <a:avLst/>
          </a:prstGeom>
          <a:noFill/>
          <a:ln w="9525">
            <a:solidFill>
              <a:srgbClr val="E2E2DC"/>
            </a:solidFill>
            <a:prstDash val="solid"/>
          </a:ln>
        </p:spPr>
      </p:sp>
      <p:sp>
        <p:nvSpPr>
          <p:cNvPr id="27" name="Text 25"/>
          <p:cNvSpPr/>
          <p:nvPr/>
        </p:nvSpPr>
        <p:spPr>
          <a:xfrm>
            <a:off x="4475378" y="4754880"/>
            <a:ext cx="3240938" cy="548640"/>
          </a:xfrm>
          <a:prstGeom prst="rect">
            <a:avLst/>
          </a:prstGeom>
          <a:noFill/>
          <a:ln/>
        </p:spPr>
        <p:txBody>
          <a:bodyPr wrap="square" lIns="0" tIns="0" rIns="0" bIns="0" rtlCol="0" anchor="t"/>
          <a:lstStyle/>
          <a:p>
            <a:pPr algn="l" indent="0" marL="0">
              <a:lnSpc>
                <a:spcPct val="110000"/>
              </a:lnSpc>
              <a:buNone/>
            </a:pPr>
            <a:r>
              <a:rPr lang="en-US" sz="1000" dirty="0">
                <a:solidFill>
                  <a:srgbClr val="83837B"/>
                </a:solidFill>
                <a:latin typeface="Calibri" pitchFamily="34" charset="0"/>
                <a:ea typeface="Calibri" pitchFamily="34" charset="-122"/>
                <a:cs typeface="Calibri" pitchFamily="34" charset="-120"/>
              </a:rPr>
              <a:t>Monitoring, intervention, reassessment, or documentation started</a:t>
            </a:r>
            <a:endParaRPr lang="en-US" sz="1000" dirty="0"/>
          </a:p>
        </p:txBody>
      </p:sp>
      <p:sp>
        <p:nvSpPr>
          <p:cNvPr id="28" name="Text 26"/>
          <p:cNvSpPr/>
          <p:nvPr/>
        </p:nvSpPr>
        <p:spPr>
          <a:xfrm>
            <a:off x="8173517" y="4334256"/>
            <a:ext cx="3240938" cy="274320"/>
          </a:xfrm>
          <a:prstGeom prst="rect">
            <a:avLst/>
          </a:prstGeom>
          <a:noFill/>
          <a:ln/>
        </p:spPr>
        <p:txBody>
          <a:bodyPr wrap="square" lIns="0" tIns="0" rIns="0" bIns="0" rtlCol="0" anchor="t"/>
          <a:lstStyle/>
          <a:p>
            <a:pPr algn="l" indent="0" marL="0">
              <a:buNone/>
            </a:pPr>
            <a:r>
              <a:rPr lang="en-US" sz="1400" b="1" dirty="0">
                <a:solidFill>
                  <a:srgbClr val="5A6CE6"/>
                </a:solidFill>
                <a:latin typeface="Calibri" pitchFamily="34" charset="0"/>
                <a:ea typeface="Calibri" pitchFamily="34" charset="-122"/>
                <a:cs typeface="Calibri" pitchFamily="34" charset="-120"/>
              </a:rPr>
              <a:t>Earlier</a:t>
            </a:r>
            <a:endParaRPr lang="en-US" sz="1400" dirty="0"/>
          </a:p>
        </p:txBody>
      </p:sp>
      <p:sp>
        <p:nvSpPr>
          <p:cNvPr id="29" name="Shape 27"/>
          <p:cNvSpPr/>
          <p:nvPr/>
        </p:nvSpPr>
        <p:spPr>
          <a:xfrm>
            <a:off x="8173517" y="4663440"/>
            <a:ext cx="3240938" cy="0"/>
          </a:xfrm>
          <a:prstGeom prst="line">
            <a:avLst/>
          </a:prstGeom>
          <a:noFill/>
          <a:ln w="19050">
            <a:solidFill>
              <a:srgbClr val="5A6CE6"/>
            </a:solidFill>
            <a:prstDash val="solid"/>
          </a:ln>
        </p:spPr>
      </p:sp>
      <p:sp>
        <p:nvSpPr>
          <p:cNvPr id="30" name="Text 28"/>
          <p:cNvSpPr/>
          <p:nvPr/>
        </p:nvSpPr>
        <p:spPr>
          <a:xfrm>
            <a:off x="8173517" y="4754880"/>
            <a:ext cx="3240938" cy="548640"/>
          </a:xfrm>
          <a:prstGeom prst="rect">
            <a:avLst/>
          </a:prstGeom>
          <a:noFill/>
          <a:ln/>
        </p:spPr>
        <p:txBody>
          <a:bodyPr wrap="square" lIns="0" tIns="0" rIns="0" bIns="0" rtlCol="0" anchor="t"/>
          <a:lstStyle/>
          <a:p>
            <a:pPr algn="l" indent="0" marL="0">
              <a:lnSpc>
                <a:spcPct val="110000"/>
              </a:lnSpc>
              <a:buNone/>
            </a:pPr>
            <a:r>
              <a:rPr lang="en-US" sz="1000" dirty="0">
                <a:solidFill>
                  <a:srgbClr val="83837B"/>
                </a:solidFill>
                <a:latin typeface="Calibri" pitchFamily="34" charset="0"/>
                <a:ea typeface="Calibri" pitchFamily="34" charset="-122"/>
                <a:cs typeface="Calibri" pitchFamily="34" charset="-120"/>
              </a:rPr>
              <a:t>Weeks-earlier detection · fewer delayed reassessments · early directional signal on incidents</a:t>
            </a:r>
            <a:endParaRPr lang="en-US" sz="1000" dirty="0"/>
          </a:p>
        </p:txBody>
      </p:sp>
      <p:sp>
        <p:nvSpPr>
          <p:cNvPr id="31" name="Shape 29"/>
          <p:cNvSpPr/>
          <p:nvPr/>
        </p:nvSpPr>
        <p:spPr>
          <a:xfrm>
            <a:off x="777240" y="5504688"/>
            <a:ext cx="10637215" cy="749808"/>
          </a:xfrm>
          <a:prstGeom prst="roundRect">
            <a:avLst>
              <a:gd name="adj" fmla="val 12195"/>
            </a:avLst>
          </a:prstGeom>
          <a:solidFill>
            <a:srgbClr val="EEEEE9"/>
          </a:solidFill>
          <a:ln/>
        </p:spPr>
      </p:sp>
      <p:sp>
        <p:nvSpPr>
          <p:cNvPr id="32" name="Text 30"/>
          <p:cNvSpPr/>
          <p:nvPr/>
        </p:nvSpPr>
        <p:spPr>
          <a:xfrm>
            <a:off x="1069848" y="5504688"/>
            <a:ext cx="10051999" cy="749808"/>
          </a:xfrm>
          <a:prstGeom prst="rect">
            <a:avLst/>
          </a:prstGeom>
          <a:noFill/>
          <a:ln/>
        </p:spPr>
        <p:txBody>
          <a:bodyPr wrap="square" lIns="0" tIns="0" rIns="0" bIns="0" rtlCol="0" anchor="ctr"/>
          <a:lstStyle/>
          <a:p>
            <a:pPr algn="l" indent="0" marL="0">
              <a:lnSpc>
                <a:spcPct val="108000"/>
              </a:lnSpc>
              <a:buNone/>
            </a:pPr>
            <a:r>
              <a:rPr lang="en-US" sz="1150" b="1" dirty="0">
                <a:solidFill>
                  <a:srgbClr val="5A6CE6"/>
                </a:solidFill>
                <a:latin typeface="Calibri" pitchFamily="34" charset="0"/>
                <a:ea typeface="Calibri" pitchFamily="34" charset="-122"/>
                <a:cs typeface="Calibri" pitchFamily="34" charset="-120"/>
              </a:rPr>
              <a:t>Renewal story   </a:t>
            </a:r>
            <a:pPr algn="l" indent="0" marL="0">
              <a:lnSpc>
                <a:spcPct val="108000"/>
              </a:lnSpc>
              <a:buNone/>
            </a:pPr>
            <a:r>
              <a:rPr lang="en-US" sz="1150" dirty="0">
                <a:solidFill>
                  <a:srgbClr val="1B1B18"/>
                </a:solidFill>
                <a:latin typeface="Calibri" pitchFamily="34" charset="0"/>
                <a:ea typeface="Calibri" pitchFamily="34" charset="-122"/>
                <a:cs typeface="Calibri" pitchFamily="34" charset="-120"/>
              </a:rPr>
              <a:t>Teton helped identify N residents earlier, supported M documented reassessments, and gave operators a care-quality ROI story beyond fall response.</a:t>
            </a:r>
            <a:endParaRPr lang="en-US" sz="1150" dirty="0"/>
          </a:p>
        </p:txBody>
      </p:sp>
      <p:sp>
        <p:nvSpPr>
          <p:cNvPr id="33" name="Text 31"/>
          <p:cNvSpPr/>
          <p:nvPr/>
        </p:nvSpPr>
        <p:spPr>
          <a:xfrm>
            <a:off x="777240" y="6473952"/>
            <a:ext cx="5486400" cy="237744"/>
          </a:xfrm>
          <a:prstGeom prst="rect">
            <a:avLst/>
          </a:prstGeom>
          <a:noFill/>
          <a:ln/>
        </p:spPr>
        <p:txBody>
          <a:bodyPr wrap="square" lIns="0" tIns="0" rIns="0" bIns="0" rtlCol="0" anchor="ctr"/>
          <a:lstStyle/>
          <a:p>
            <a:pPr algn="l" indent="0" marL="0">
              <a:buNone/>
            </a:pPr>
            <a:r>
              <a:rPr lang="en-US" sz="850" dirty="0">
                <a:solidFill>
                  <a:srgbClr val="83837B"/>
                </a:solidFill>
                <a:latin typeface="Calibri" pitchFamily="34" charset="0"/>
                <a:ea typeface="Calibri" pitchFamily="34" charset="-122"/>
                <a:cs typeface="Calibri" pitchFamily="34" charset="-120"/>
              </a:rPr>
              <a:t>Teton  ·  Product recommendation</a:t>
            </a:r>
            <a:endParaRPr lang="en-US" sz="850" dirty="0"/>
          </a:p>
        </p:txBody>
      </p:sp>
      <p:sp>
        <p:nvSpPr>
          <p:cNvPr id="34" name="Text 32"/>
          <p:cNvSpPr/>
          <p:nvPr/>
        </p:nvSpPr>
        <p:spPr>
          <a:xfrm>
            <a:off x="10500055" y="6473952"/>
            <a:ext cx="914400" cy="237744"/>
          </a:xfrm>
          <a:prstGeom prst="rect">
            <a:avLst/>
          </a:prstGeom>
          <a:noFill/>
          <a:ln/>
        </p:spPr>
        <p:txBody>
          <a:bodyPr wrap="square" lIns="0" tIns="0" rIns="0" bIns="0" rtlCol="0" anchor="ctr"/>
          <a:lstStyle/>
          <a:p>
            <a:pPr algn="r" indent="0" marL="0">
              <a:buNone/>
            </a:pPr>
            <a:r>
              <a:rPr lang="en-US" sz="850" dirty="0">
                <a:solidFill>
                  <a:srgbClr val="83837B"/>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2, Not Week 12 — turning ambient signals into earlier care decisions</dc:title>
  <dc:subject>PptxGenJS Presentation</dc:subject>
  <dc:creator>Teton</dc:creator>
  <cp:lastModifiedBy>Teton</cp:lastModifiedBy>
  <cp:revision>1</cp:revision>
  <dcterms:created xsi:type="dcterms:W3CDTF">2026-07-07T01:56:03Z</dcterms:created>
  <dcterms:modified xsi:type="dcterms:W3CDTF">2026-07-07T01:56:03Z</dcterms:modified>
</cp:coreProperties>
</file>