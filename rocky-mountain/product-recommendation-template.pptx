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recommendation framing. This is a reusable Rocky Mountain deck template; the 'Project Summit' content is sample — replace it with your own product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ask — recommendation decks put the conclusion first. Left card is the recommendation; right column is exactly what approval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with numbers, not adjectives. These are illustrative sample figures — replace with your own evidence. The photo slot is for context imagery.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pivot. One idea, lots of air. The recommendation rests on this: the hard part is already done; shipping is the unlock.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we'd build, in three capabilities. Flag the panel as illustrative. The three status colors map to the palette: periwinkle / butter / mint.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'how it works' beat, on the brand's dark surface. The particle field is an abstract hero visual — swap for a product still or diagram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that it works. Sample pilot KPIs — replace with your real ones. Big numbers, muted captions, hairlines: the signature stat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decision was considered. Three honest options, four comparison rows. The recommended path is the mint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plan, four steps, with a real gate at the pilot (step 2). We don't roll out until the pilot clears its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in users' own voices — put evidence in quotes, not adjectives. Fictional sample quotes; replace with real pilot feedback. Rotating pastel tints.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real risks and the specific mitigation for each. The kill/scale gate at 90 days caps the downside — the most important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mirroring the cover and restating the ask in one breath: one squad, two partners, a decision by end of Q3. The mint pill is the single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Mountain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35915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267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to build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ship our next flagship — and why now is the moment.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  ·   Q3   ·   V1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Project Summit our flagship this year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6720840" cy="3703320"/>
          </a:xfrm>
          <a:prstGeom prst="roundRect">
            <a:avLst>
              <a:gd name="adj" fmla="val 3457"/>
            </a:avLst>
          </a:prstGeom>
          <a:solidFill>
            <a:srgbClr val="E7E3F5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04872"/>
            <a:ext cx="109728" cy="109728"/>
          </a:xfrm>
          <a:prstGeom prst="ellipse">
            <a:avLst/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27432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dedicated squad to build Project Summit — the capability our customers keep asking for — starting next quarter.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5989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existing strength into a new product line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our moat before competitors catch up</a:t>
            </a:r>
            <a:endParaRPr lang="en-US" sz="14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infrastructure we've already proven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46720" y="24048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9" name="Text 7"/>
          <p:cNvSpPr/>
          <p:nvPr/>
        </p:nvSpPr>
        <p:spPr>
          <a:xfrm>
            <a:off x="8247888" y="2313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squad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4672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people, ring-fenced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74904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pilot customers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4800600"/>
            <a:ext cx="36576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by end of Q3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46720" y="5367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hit a Q4 start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8648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asked for this in the last quarter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3037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42364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the workaround teams use today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6753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548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" y="56080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at-risk renewals it directly addresses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60469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EFEDF7"/>
          </a:solidFill>
          <a:ln w="12700">
            <a:solidFill>
              <a:srgbClr val="DED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3451860"/>
            <a:ext cx="621792" cy="475488"/>
          </a:xfrm>
          <a:prstGeom prst="roundRect">
            <a:avLst>
              <a:gd name="adj" fmla="val 11538"/>
            </a:avLst>
          </a:prstGeom>
          <a:solidFill>
            <a:srgbClr val="EFEDF7"/>
          </a:solidFill>
          <a:ln w="19050">
            <a:solidFill>
              <a:srgbClr val="B9B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3543300"/>
            <a:ext cx="109728" cy="109728"/>
          </a:xfrm>
          <a:prstGeom prst="ellipse">
            <a:avLst/>
          </a:prstGeom>
          <a:solidFill>
            <a:srgbClr val="B9B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3854196"/>
            <a:ext cx="512064" cy="0"/>
          </a:xfrm>
          <a:prstGeom prst="line">
            <a:avLst/>
          </a:prstGeom>
          <a:noFill/>
          <a:ln w="19050">
            <a:solidFill>
              <a:srgbClr val="B9B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07365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customer or context photo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the hard part.</a:t>
            </a:r>
            <a:endParaRPr lang="en-US" sz="3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haven't 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— yet.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capability already lives inside the platform. Summit turns it into something customers can buy — before someone else builds it first.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capability, productised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from day one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get value without a services engagement or long setup.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Insight, not just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599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the question, instead of handing over another raw feed.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existing workflow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266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where the work already happens — no new tool to adopt.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2331720"/>
            <a:ext cx="4690872" cy="3611880"/>
          </a:xfrm>
          <a:prstGeom prst="roundRect">
            <a:avLst>
              <a:gd name="adj" fmla="val 3544"/>
            </a:avLst>
          </a:prstGeom>
          <a:solidFill>
            <a:srgbClr val="16181C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2606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·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301752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7768" y="3255264"/>
            <a:ext cx="182880" cy="182880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175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 · Renewals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65792" y="30175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384048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4078224"/>
            <a:ext cx="182880" cy="182880"/>
          </a:xfrm>
          <a:prstGeom prst="ellipse">
            <a:avLst/>
          </a:prstGeom>
          <a:solidFill>
            <a:srgbClr val="F3EEA0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3840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 · Onboarding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65792" y="384048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466344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7768" y="4901184"/>
            <a:ext cx="182880" cy="182880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663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 · 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65792" y="46634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CE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53212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Project Summit priority 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data / intelligence vis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822960"/>
            <a:ext cx="5852160" cy="46817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07899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987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what we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35608" y="3026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35608" y="33558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already flows through the platform — nothing new to instrument.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35608" y="4379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it into a live, structured view teams can actually read.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111496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608" y="54041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and next steps, delivered where the work happens.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and tested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pilot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time-to-value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35508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during the pilot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 per week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automated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users would recommend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value, on average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considered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paths, one recommendation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3042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 Summit now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quarters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ours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we own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buy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quarters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erodes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6344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dependency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 year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7532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7532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7532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7532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others move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ship it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general availability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78408" y="2697480"/>
            <a:ext cx="0" cy="2743200"/>
          </a:xfrm>
          <a:prstGeom prst="line">
            <a:avLst/>
          </a:prstGeom>
          <a:noFill/>
          <a:ln w="19050">
            <a:solidFill>
              <a:srgbClr val="D9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5694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17320" y="2770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service on infrastructure we already run.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5204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4838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17320" y="36850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005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design partners, pre-agreed success metrics, tight tracking.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398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4599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919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the base once the pilot gate is passed.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49240"/>
            <a:ext cx="402336" cy="402336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5312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17320" y="55138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833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with a launch moment for the wider market.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2331720"/>
            <a:ext cx="4370832" cy="3657600"/>
          </a:xfrm>
          <a:prstGeom prst="roundRect">
            <a:avLst>
              <a:gd name="adj" fmla="val 3000"/>
            </a:avLst>
          </a:prstGeom>
          <a:solidFill>
            <a:srgbClr val="EFEDF7"/>
          </a:solidFill>
          <a:ln w="12700">
            <a:solidFill>
              <a:srgbClr val="DED9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3611880"/>
            <a:ext cx="621792" cy="475488"/>
          </a:xfrm>
          <a:prstGeom prst="roundRect">
            <a:avLst>
              <a:gd name="adj" fmla="val 11538"/>
            </a:avLst>
          </a:prstGeom>
          <a:solidFill>
            <a:srgbClr val="EFEDF7"/>
          </a:solidFill>
          <a:ln w="19050">
            <a:solidFill>
              <a:srgbClr val="B9B2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44584" y="3703320"/>
            <a:ext cx="109728" cy="109728"/>
          </a:xfrm>
          <a:prstGeom prst="ellipse">
            <a:avLst/>
          </a:prstGeom>
          <a:solidFill>
            <a:srgbClr val="B9B2D4"/>
          </a:solidFill>
          <a:ln/>
        </p:spPr>
      </p:sp>
      <p:sp>
        <p:nvSpPr>
          <p:cNvPr id="29" name="Shape 27"/>
          <p:cNvSpPr/>
          <p:nvPr/>
        </p:nvSpPr>
        <p:spPr>
          <a:xfrm>
            <a:off x="8970264" y="4014216"/>
            <a:ext cx="512064" cy="0"/>
          </a:xfrm>
          <a:prstGeom prst="line">
            <a:avLst/>
          </a:prstGeom>
          <a:noFill/>
          <a:ln w="19050">
            <a:solidFill>
              <a:srgbClr val="B9B2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233672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team or product photo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take it from us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pilot users say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E7E3F5"/>
          </a:solidFill>
          <a:ln/>
        </p:spPr>
      </p:sp>
      <p:sp>
        <p:nvSpPr>
          <p:cNvPr id="4" name="Text 2"/>
          <p:cNvSpPr/>
          <p:nvPr/>
        </p:nvSpPr>
        <p:spPr>
          <a:xfrm>
            <a:off x="244144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first thing my team opens in the morning now.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F3EEA0"/>
          </a:solidFill>
          <a:ln/>
        </p:spPr>
      </p:sp>
      <p:sp>
        <p:nvSpPr>
          <p:cNvPr id="9" name="Text 7"/>
          <p:cNvSpPr/>
          <p:nvPr/>
        </p:nvSpPr>
        <p:spPr>
          <a:xfrm>
            <a:off x="605332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70916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cut a two-hour job down to about ten minutes.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966520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5703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finally trust the numbers I'm reporting upward.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we're watching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we de-risk them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877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adopt 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0" y="2587752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 + a design-partner feedback loop from day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355848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underdelivers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0" y="3520440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metrics and a kill/scale gate at 90 days.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288536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531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creeps past GA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0" y="445312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capability, GA-scoped; everything else is explicitly v2.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221224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3858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gets pulled away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43600" y="5385816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Ring-fenced squad; no shared-roadmap dependencies.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6153912"/>
            <a:ext cx="10634472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Summit  ·  Product Recommendation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Mountain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377440"/>
            <a:ext cx="10058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Project Summit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year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6 people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partners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776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design partners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780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 by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80644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806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requested: end of Q3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Summit — Product Recommendation</dc:title>
  <dc:subject>PptxGenJS Presentation</dc:subject>
  <dc:creator>Rocky Mountain</dc:creator>
  <cp:lastModifiedBy>Rocky Mountain</cp:lastModifiedBy>
  <cp:revision>1</cp:revision>
  <dcterms:created xsi:type="dcterms:W3CDTF">2026-07-07T00:02:35Z</dcterms:created>
  <dcterms:modified xsi:type="dcterms:W3CDTF">2026-07-07T00:02:35Z</dcterms:modified>
</cp:coreProperties>
</file>