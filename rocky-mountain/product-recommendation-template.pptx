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recommendation framing. This is a reusable Rocky Mountain deck template; the 'Project Summit' content is sample — replace it with your own product recommendation.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ask — recommendation decks put the conclusion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problem with numbers, not adjectives. Illustrative sample figures.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pivot. One idea, lots of 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we'd build, in three capabilities. Flag the panel as illustrative.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'how it works' beat. The particle field is an abstract hero — swap for a product still if you have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Credibility that it works. Sample pilot KPIs — replace with real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decision was considered. The recommended path is the mint 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steps, with a real gate at the pilot (step 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Proof in users' own voices. Fictional sample quotes.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the real risks and specific mitigations. The kill/scale gate caps the downside.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mirroring the cover and restating the ask in one breath.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237744" cy="237744"/>
          </a:xfrm>
          <a:prstGeom prst="ellipse">
            <a:avLst/>
          </a:prstGeom>
          <a:solidFill>
            <a:srgbClr val="BCEFCB"/>
          </a:solidFill>
          <a:ln/>
        </p:spPr>
      </p:sp>
      <p:sp>
        <p:nvSpPr>
          <p:cNvPr id="3" name="Text 1"/>
          <p:cNvSpPr/>
          <p:nvPr/>
        </p:nvSpPr>
        <p:spPr>
          <a:xfrm>
            <a:off x="1088136" y="4023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Rocky Mountain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77240" y="2359152"/>
            <a:ext cx="109728" cy="109728"/>
          </a:xfrm>
          <a:prstGeom prst="ellipse">
            <a:avLst/>
          </a:prstGeom>
          <a:solidFill>
            <a:srgbClr val="BCEFCB"/>
          </a:solidFill>
          <a:ln/>
        </p:spPr>
      </p:sp>
      <p:sp>
        <p:nvSpPr>
          <p:cNvPr id="5" name="Text 3"/>
          <p:cNvSpPr/>
          <p:nvPr/>
        </p:nvSpPr>
        <p:spPr>
          <a:xfrm>
            <a:off x="978408" y="226771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A8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RECOMMENDATION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58952" y="2697480"/>
            <a:ext cx="10607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Summit</a:t>
            </a:r>
            <a:endParaRPr lang="en-US" sz="5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A8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recommendation to build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777240" y="4892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C9C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we'd ship our next flagship — and why now is the moment.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6172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A8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STRATEGY   ·   Q3   ·   V1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07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recommendation</a:t>
            </a:r>
            <a:endParaRPr lang="en-US" sz="29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Project Summit our flagship this year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777240" y="2011680"/>
            <a:ext cx="6720840" cy="3703320"/>
          </a:xfrm>
          <a:prstGeom prst="roundRect">
            <a:avLst>
              <a:gd name="adj" fmla="val 3457"/>
            </a:avLst>
          </a:prstGeom>
          <a:solidFill>
            <a:srgbClr val="E7E3F5"/>
          </a:solidFill>
          <a:ln/>
          <a:effectLst>
            <a:outerShdw sx="100000" sy="100000" kx="0" ky="0" algn="bl" rotWithShape="0" blurRad="114300" dist="38100" dir="5400000">
              <a:srgbClr val="20232A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43000" y="2404872"/>
            <a:ext cx="109728" cy="109728"/>
          </a:xfrm>
          <a:prstGeom prst="ellipse">
            <a:avLst/>
          </a:prstGeom>
          <a:solidFill>
            <a:srgbClr val="181818"/>
          </a:solidFill>
          <a:ln/>
        </p:spPr>
      </p:sp>
      <p:sp>
        <p:nvSpPr>
          <p:cNvPr id="5" name="Text 3"/>
          <p:cNvSpPr/>
          <p:nvPr/>
        </p:nvSpPr>
        <p:spPr>
          <a:xfrm>
            <a:off x="1344168" y="23134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43000" y="2743200"/>
            <a:ext cx="5989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a dedicated squad to build Project Summit — the capability our customers keep asking for — starting next quarter.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143000" y="4114800"/>
            <a:ext cx="5989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an existing strength into a new product line</a:t>
            </a:r>
            <a:endParaRPr lang="en-US" sz="1450" dirty="0"/>
          </a:p>
          <a:p>
            <a:pPr algn="l"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Deepens our moat before competitors catch up</a:t>
            </a:r>
            <a:endParaRPr lang="en-US" sz="1450" dirty="0"/>
          </a:p>
          <a:p>
            <a:pPr algn="l"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Ships on infrastructure we've already proven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046720" y="2404872"/>
            <a:ext cx="109728" cy="109728"/>
          </a:xfrm>
          <a:prstGeom prst="ellipse">
            <a:avLst/>
          </a:prstGeom>
          <a:solidFill>
            <a:srgbClr val="5A6CE6"/>
          </a:solidFill>
          <a:ln/>
        </p:spPr>
      </p:sp>
      <p:sp>
        <p:nvSpPr>
          <p:cNvPr id="9" name="Text 7"/>
          <p:cNvSpPr/>
          <p:nvPr/>
        </p:nvSpPr>
        <p:spPr>
          <a:xfrm>
            <a:off x="8247888" y="23134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ASKING FOR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046720" y="2880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product squad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046720" y="32644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people, ring-fenced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0" y="3749040"/>
            <a:ext cx="3657600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0" y="3931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pilot customers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046720" y="431596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partners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46720" y="4800600"/>
            <a:ext cx="3657600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0" y="4983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by end of Q3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046720" y="53675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hit a Q4 start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Summit  ·  Product Recommendation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95856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058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29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window is open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777240" y="2011680"/>
            <a:ext cx="5577840" cy="8348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68%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77240" y="2864855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customers asked for this in the last quarter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3303767"/>
            <a:ext cx="5577840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3383280"/>
            <a:ext cx="5577840" cy="8348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3.4×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777240" y="4236455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than the workaround teams use today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4675367"/>
            <a:ext cx="5577840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4754880"/>
            <a:ext cx="5577840" cy="8348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$1.2M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777240" y="5608055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at-risk renewals it directly addresses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6046967"/>
            <a:ext cx="5577840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0" y="2011680"/>
            <a:ext cx="4553712" cy="3977640"/>
          </a:xfrm>
          <a:prstGeom prst="roundRect">
            <a:avLst>
              <a:gd name="adj" fmla="val 2759"/>
            </a:avLst>
          </a:prstGeom>
          <a:solidFill>
            <a:srgbClr val="EFEDF7"/>
          </a:solidFill>
          <a:ln w="12700">
            <a:solidFill>
              <a:srgbClr val="DED9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823960" y="3451860"/>
            <a:ext cx="621792" cy="475488"/>
          </a:xfrm>
          <a:prstGeom prst="roundRect">
            <a:avLst>
              <a:gd name="adj" fmla="val 11538"/>
            </a:avLst>
          </a:prstGeom>
          <a:solidFill>
            <a:srgbClr val="EFEDF7"/>
          </a:solidFill>
          <a:ln w="19050">
            <a:solidFill>
              <a:srgbClr val="B9B2D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53144" y="3543300"/>
            <a:ext cx="109728" cy="109728"/>
          </a:xfrm>
          <a:prstGeom prst="ellipse">
            <a:avLst/>
          </a:prstGeom>
          <a:solidFill>
            <a:srgbClr val="B9B2D4"/>
          </a:solidFill>
          <a:ln/>
        </p:spPr>
      </p:sp>
      <p:sp>
        <p:nvSpPr>
          <p:cNvPr id="15" name="Shape 13"/>
          <p:cNvSpPr/>
          <p:nvPr/>
        </p:nvSpPr>
        <p:spPr>
          <a:xfrm>
            <a:off x="8878824" y="3854196"/>
            <a:ext cx="512064" cy="0"/>
          </a:xfrm>
          <a:prstGeom prst="line">
            <a:avLst/>
          </a:prstGeom>
          <a:noFill/>
          <a:ln w="19050">
            <a:solidFill>
              <a:srgbClr val="B9B2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23760" y="4073652"/>
            <a:ext cx="3822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8E8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customer or context photo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Summit  ·  Product Recommendation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95856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2176272"/>
            <a:ext cx="109728" cy="109728"/>
          </a:xfrm>
          <a:prstGeom prst="ellipse">
            <a:avLst/>
          </a:prstGeom>
          <a:solidFill>
            <a:srgbClr val="5A6CE6"/>
          </a:solidFill>
          <a:ln/>
        </p:spPr>
      </p:sp>
      <p:sp>
        <p:nvSpPr>
          <p:cNvPr id="3" name="Text 1"/>
          <p:cNvSpPr/>
          <p:nvPr/>
        </p:nvSpPr>
        <p:spPr>
          <a:xfrm>
            <a:off x="978408" y="20848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2560320"/>
            <a:ext cx="109728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34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already have the hard part.</a:t>
            </a:r>
            <a:endParaRPr lang="en-US" sz="340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34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just haven't </a:t>
            </a:r>
            <a:pPr algn="l" indent="0" marL="0">
              <a:lnSpc>
                <a:spcPct val="114000"/>
              </a:lnSpc>
              <a:buNone/>
            </a:pPr>
            <a:r>
              <a:rPr lang="en-US" sz="3400" b="1" dirty="0">
                <a:solidFill>
                  <a:srgbClr val="5A6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</a:t>
            </a:r>
            <a:pPr algn="l" indent="0" marL="0">
              <a:lnSpc>
                <a:spcPct val="114000"/>
              </a:lnSpc>
              <a:buNone/>
            </a:pPr>
            <a:r>
              <a:rPr lang="en-US" sz="34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 — yet.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77240" y="4617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capability already lives inside the platform. Summit turns it into something customers can buy — before someone else builds it first.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Summit  ·  Product Recommendation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95856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76072"/>
            <a:ext cx="109728" cy="109728"/>
          </a:xfrm>
          <a:prstGeom prst="ellipse">
            <a:avLst/>
          </a:prstGeom>
          <a:solidFill>
            <a:srgbClr val="5A6CE6"/>
          </a:solidFill>
          <a:ln/>
        </p:spPr>
      </p:sp>
      <p:sp>
        <p:nvSpPr>
          <p:cNvPr id="3" name="Text 1"/>
          <p:cNvSpPr/>
          <p:nvPr/>
        </p:nvSpPr>
        <p:spPr>
          <a:xfrm>
            <a:off x="978408" y="4846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Summit</a:t>
            </a:r>
            <a:endParaRPr lang="en-US" sz="28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capability, productised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77240" y="2468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from day one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2852928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get value without a services engagement or long setup.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77240" y="367588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Insight, not just data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4059936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answers the question, instead of handing over another raw feed.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" y="488289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the existing workflow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" y="5266944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lands where the work already happens — no new tool to adopt.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720840" y="2331720"/>
            <a:ext cx="4690872" cy="3611880"/>
          </a:xfrm>
          <a:prstGeom prst="roundRect">
            <a:avLst>
              <a:gd name="adj" fmla="val 3544"/>
            </a:avLst>
          </a:prstGeom>
          <a:solidFill>
            <a:srgbClr val="16181C"/>
          </a:solidFill>
          <a:ln/>
          <a:effectLst>
            <a:outerShdw sx="100000" sy="100000" kx="0" ky="0" algn="bl" rotWithShape="0" blurRad="114300" dist="38100" dir="5400000">
              <a:srgbClr val="20232A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040880" y="2606040"/>
            <a:ext cx="4050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A8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SUMMIT · TODAY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040880" y="3017520"/>
            <a:ext cx="4050792" cy="658368"/>
          </a:xfrm>
          <a:prstGeom prst="roundRect">
            <a:avLst>
              <a:gd name="adj" fmla="val 11111"/>
            </a:avLst>
          </a:prstGeom>
          <a:solidFill>
            <a:srgbClr val="20232B"/>
          </a:solidFill>
          <a:ln/>
        </p:spPr>
      </p:sp>
      <p:sp>
        <p:nvSpPr>
          <p:cNvPr id="14" name="Shape 12"/>
          <p:cNvSpPr/>
          <p:nvPr/>
        </p:nvSpPr>
        <p:spPr>
          <a:xfrm>
            <a:off x="7287768" y="3255264"/>
            <a:ext cx="182880" cy="182880"/>
          </a:xfrm>
          <a:prstGeom prst="ellipse">
            <a:avLst/>
          </a:prstGeom>
          <a:solidFill>
            <a:srgbClr val="5A6CE6"/>
          </a:solidFill>
          <a:ln/>
        </p:spPr>
      </p:sp>
      <p:sp>
        <p:nvSpPr>
          <p:cNvPr id="15" name="Text 13"/>
          <p:cNvSpPr/>
          <p:nvPr/>
        </p:nvSpPr>
        <p:spPr>
          <a:xfrm>
            <a:off x="7589520" y="3017520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ED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 · Renewals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765792" y="30175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6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040880" y="3840480"/>
            <a:ext cx="4050792" cy="658368"/>
          </a:xfrm>
          <a:prstGeom prst="roundRect">
            <a:avLst>
              <a:gd name="adj" fmla="val 11111"/>
            </a:avLst>
          </a:prstGeom>
          <a:solidFill>
            <a:srgbClr val="20232B"/>
          </a:solidFill>
          <a:ln/>
        </p:spPr>
      </p:sp>
      <p:sp>
        <p:nvSpPr>
          <p:cNvPr id="18" name="Shape 16"/>
          <p:cNvSpPr/>
          <p:nvPr/>
        </p:nvSpPr>
        <p:spPr>
          <a:xfrm>
            <a:off x="7287768" y="4078224"/>
            <a:ext cx="182880" cy="182880"/>
          </a:xfrm>
          <a:prstGeom prst="ellipse">
            <a:avLst/>
          </a:prstGeom>
          <a:solidFill>
            <a:srgbClr val="F3EEA0"/>
          </a:solidFill>
          <a:ln/>
        </p:spPr>
      </p:sp>
      <p:sp>
        <p:nvSpPr>
          <p:cNvPr id="19" name="Text 17"/>
          <p:cNvSpPr/>
          <p:nvPr/>
        </p:nvSpPr>
        <p:spPr>
          <a:xfrm>
            <a:off x="7589520" y="3840480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ED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B · Onboarding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9765792" y="384048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3E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040880" y="4663440"/>
            <a:ext cx="4050792" cy="658368"/>
          </a:xfrm>
          <a:prstGeom prst="roundRect">
            <a:avLst>
              <a:gd name="adj" fmla="val 11111"/>
            </a:avLst>
          </a:prstGeom>
          <a:solidFill>
            <a:srgbClr val="20232B"/>
          </a:solidFill>
          <a:ln/>
        </p:spPr>
      </p:sp>
      <p:sp>
        <p:nvSpPr>
          <p:cNvPr id="22" name="Shape 20"/>
          <p:cNvSpPr/>
          <p:nvPr/>
        </p:nvSpPr>
        <p:spPr>
          <a:xfrm>
            <a:off x="7287768" y="4901184"/>
            <a:ext cx="182880" cy="182880"/>
          </a:xfrm>
          <a:prstGeom prst="ellipse">
            <a:avLst/>
          </a:prstGeom>
          <a:solidFill>
            <a:srgbClr val="BCEFCB"/>
          </a:solidFill>
          <a:ln/>
        </p:spPr>
      </p:sp>
      <p:sp>
        <p:nvSpPr>
          <p:cNvPr id="23" name="Text 21"/>
          <p:cNvSpPr/>
          <p:nvPr/>
        </p:nvSpPr>
        <p:spPr>
          <a:xfrm>
            <a:off x="7589520" y="4663440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ED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C · Reporting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765792" y="466344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CEF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720840" y="5532120"/>
            <a:ext cx="4690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— Project Summit priority view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Summit  ·  Product Recommendation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95856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bstract data / intelligence visu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822960"/>
            <a:ext cx="5852160" cy="46817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1078992"/>
            <a:ext cx="109728" cy="109728"/>
          </a:xfrm>
          <a:prstGeom prst="ellipse">
            <a:avLst/>
          </a:prstGeom>
          <a:solidFill>
            <a:srgbClr val="BCEFCB"/>
          </a:solidFill>
          <a:ln/>
        </p:spPr>
      </p:sp>
      <p:sp>
        <p:nvSpPr>
          <p:cNvPr id="4" name="Text 1"/>
          <p:cNvSpPr/>
          <p:nvPr/>
        </p:nvSpPr>
        <p:spPr>
          <a:xfrm>
            <a:off x="978408" y="9875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A8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777240" y="137160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what we</a:t>
            </a:r>
            <a:endParaRPr lang="en-US" sz="30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A8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know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777240" y="3063240"/>
            <a:ext cx="457200" cy="457200"/>
          </a:xfrm>
          <a:prstGeom prst="ellipse">
            <a:avLst/>
          </a:prstGeom>
          <a:solidFill>
            <a:srgbClr val="23262F"/>
          </a:solidFill>
          <a:ln w="15875">
            <a:solidFill>
              <a:srgbClr val="5A6CE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435608" y="302666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435608" y="335584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8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signal already flows through the platform — nothing new to instrument.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77240" y="4087368"/>
            <a:ext cx="457200" cy="457200"/>
          </a:xfrm>
          <a:prstGeom prst="ellipse">
            <a:avLst/>
          </a:prstGeom>
          <a:solidFill>
            <a:srgbClr val="23262F"/>
          </a:solidFill>
          <a:ln w="15875">
            <a:solidFill>
              <a:srgbClr val="5A6CE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4087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435608" y="405079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435608" y="437997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8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turn it into a live, structured view teams can actually read.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77240" y="5111496"/>
            <a:ext cx="457200" cy="457200"/>
          </a:xfrm>
          <a:prstGeom prst="ellipse">
            <a:avLst/>
          </a:prstGeom>
          <a:solidFill>
            <a:srgbClr val="23262F"/>
          </a:solidFill>
          <a:ln w="15875">
            <a:solidFill>
              <a:srgbClr val="5A6CE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77240" y="5111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35608" y="50749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435608" y="5404104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8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Predictions and next steps, delivered where the work happens.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A8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Summit  ·  Product Recommendation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95856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A8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058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Tried and tested</a:t>
            </a:r>
            <a:endParaRPr lang="en-US" sz="29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in the pilot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777240" y="2148840"/>
            <a:ext cx="4937760" cy="675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77240" y="2842989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time-to-value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3281901"/>
            <a:ext cx="4937760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55080" y="2148840"/>
            <a:ext cx="4937760" cy="675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3.2×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355080" y="2842989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during the pilot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55080" y="3281901"/>
            <a:ext cx="4937760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3474720"/>
            <a:ext cx="4937760" cy="675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777240" y="4168869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manual work per week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4607781"/>
            <a:ext cx="4937760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3474720"/>
            <a:ext cx="4937760" cy="675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10k+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355080" y="4168869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automated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355080" y="4607781"/>
            <a:ext cx="4937760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800600"/>
            <a:ext cx="4937760" cy="675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777240" y="5494749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users would recommend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77240" y="5933661"/>
            <a:ext cx="4937760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55080" y="4800600"/>
            <a:ext cx="4937760" cy="675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wks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6355080" y="5494749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first value, on average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355080" y="5933661"/>
            <a:ext cx="4937760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Summit  ·  Product Recommendation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95856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515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considered</a:t>
            </a:r>
            <a:endParaRPr lang="en-US" sz="29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paths, one recommendation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777240" y="2011680"/>
            <a:ext cx="3401568" cy="4160520"/>
          </a:xfrm>
          <a:prstGeom prst="roundRect">
            <a:avLst>
              <a:gd name="adj" fmla="val 3226"/>
            </a:avLst>
          </a:prstGeom>
          <a:solidFill>
            <a:srgbClr val="BCEFCB"/>
          </a:solidFill>
          <a:ln/>
          <a:effectLst>
            <a:outerShdw sx="100000" sy="100000" kx="0" ky="0" algn="bl" rotWithShape="0" blurRad="114300" dist="38100" dir="5400000">
              <a:srgbClr val="20232A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51560" y="2304288"/>
            <a:ext cx="1481328" cy="457200"/>
          </a:xfrm>
          <a:prstGeom prst="roundRect">
            <a:avLst>
              <a:gd name="adj" fmla="val 50000"/>
            </a:avLst>
          </a:prstGeom>
          <a:solidFill>
            <a:srgbClr val="181818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23042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051560" y="2926080"/>
            <a:ext cx="28529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Project Summit now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" y="3840480"/>
            <a:ext cx="2852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5A6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VALUE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051560" y="4059936"/>
            <a:ext cx="2852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quarters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51560" y="4389120"/>
            <a:ext cx="2852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5A6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MOAT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051560" y="4608576"/>
            <a:ext cx="2852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Deepens ours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051560" y="4937760"/>
            <a:ext cx="2852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5A6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051560" y="5157216"/>
            <a:ext cx="2852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squad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051560" y="5486400"/>
            <a:ext cx="2852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5A6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RISK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051560" y="5705856"/>
            <a:ext cx="2852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— we own it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389120" y="2011680"/>
            <a:ext cx="3401568" cy="4160520"/>
          </a:xfrm>
          <a:prstGeom prst="roundRect">
            <a:avLst>
              <a:gd name="adj" fmla="val 3226"/>
            </a:avLst>
          </a:prstGeom>
          <a:solidFill>
            <a:srgbClr val="F4F4F4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2926080"/>
            <a:ext cx="28529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/ buy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663440" y="3840480"/>
            <a:ext cx="2852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VALUE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663440" y="4059936"/>
            <a:ext cx="2852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quarters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663440" y="4389120"/>
            <a:ext cx="2852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663440" y="4608576"/>
            <a:ext cx="2852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/ erodes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663440" y="4937760"/>
            <a:ext cx="2852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663440" y="5157216"/>
            <a:ext cx="2852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Rev-share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663440" y="5486400"/>
            <a:ext cx="2852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RISK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663440" y="5705856"/>
            <a:ext cx="2852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— dependency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001000" y="2011680"/>
            <a:ext cx="3401568" cy="4160520"/>
          </a:xfrm>
          <a:prstGeom prst="roundRect">
            <a:avLst>
              <a:gd name="adj" fmla="val 3226"/>
            </a:avLst>
          </a:prstGeom>
          <a:solidFill>
            <a:srgbClr val="F4F4F4"/>
          </a:solidFill>
          <a:ln/>
        </p:spPr>
      </p:sp>
      <p:sp>
        <p:nvSpPr>
          <p:cNvPr id="26" name="Text 24"/>
          <p:cNvSpPr/>
          <p:nvPr/>
        </p:nvSpPr>
        <p:spPr>
          <a:xfrm>
            <a:off x="8275320" y="2926080"/>
            <a:ext cx="28529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 year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275320" y="3840480"/>
            <a:ext cx="2852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VALUE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8275320" y="4059936"/>
            <a:ext cx="2852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yet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8275320" y="4389120"/>
            <a:ext cx="2852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275320" y="4608576"/>
            <a:ext cx="2852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275320" y="4937760"/>
            <a:ext cx="2852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8275320" y="5157216"/>
            <a:ext cx="2852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Opportunity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275320" y="5486400"/>
            <a:ext cx="2852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RISK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8275320" y="5705856"/>
            <a:ext cx="2852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— others move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Summit  ·  Product Recommendation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95856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76072"/>
            <a:ext cx="109728" cy="109728"/>
          </a:xfrm>
          <a:prstGeom prst="ellipse">
            <a:avLst/>
          </a:prstGeom>
          <a:solidFill>
            <a:srgbClr val="5A6CE6"/>
          </a:solidFill>
          <a:ln/>
        </p:spPr>
      </p:sp>
      <p:sp>
        <p:nvSpPr>
          <p:cNvPr id="3" name="Text 1"/>
          <p:cNvSpPr/>
          <p:nvPr/>
        </p:nvSpPr>
        <p:spPr>
          <a:xfrm>
            <a:off x="978408" y="4846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we'd ship it</a:t>
            </a:r>
            <a:endParaRPr lang="en-US" sz="28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steps to general availability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978408" y="2697480"/>
            <a:ext cx="0" cy="2743200"/>
          </a:xfrm>
          <a:prstGeom prst="line">
            <a:avLst/>
          </a:prstGeom>
          <a:noFill/>
          <a:ln w="19050">
            <a:solidFill>
              <a:srgbClr val="D9DC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606040"/>
            <a:ext cx="402336" cy="402336"/>
          </a:xfrm>
          <a:prstGeom prst="ellipse">
            <a:avLst/>
          </a:prstGeom>
          <a:solidFill>
            <a:srgbClr val="5A6CE6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606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17320" y="2569464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150" kern="0" dirty="0">
                <a:solidFill>
                  <a:srgbClr val="5A6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417320" y="277063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17320" y="309067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the service on infrastructure we already run.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77240" y="3520440"/>
            <a:ext cx="402336" cy="402336"/>
          </a:xfrm>
          <a:prstGeom prst="ellipse">
            <a:avLst/>
          </a:prstGeom>
          <a:solidFill>
            <a:srgbClr val="5A6CE6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520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17320" y="3483864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150" kern="0" dirty="0">
                <a:solidFill>
                  <a:srgbClr val="5A6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417320" y="368503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cohort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17320" y="400507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design partners, pre-agreed success metrics, tight tracking.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" y="4434840"/>
            <a:ext cx="402336" cy="402336"/>
          </a:xfrm>
          <a:prstGeom prst="ellipse">
            <a:avLst/>
          </a:prstGeom>
          <a:solidFill>
            <a:srgbClr val="5A6CE6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434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17320" y="4398264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150" kern="0" dirty="0">
                <a:solidFill>
                  <a:srgbClr val="5A6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03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417320" y="459943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417320" y="491947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across the base once the pilot gate is passed.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77240" y="5349240"/>
            <a:ext cx="402336" cy="402336"/>
          </a:xfrm>
          <a:prstGeom prst="ellipse">
            <a:avLst/>
          </a:prstGeom>
          <a:solidFill>
            <a:srgbClr val="5A6CE6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5349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417320" y="5312664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150" kern="0" dirty="0">
                <a:solidFill>
                  <a:srgbClr val="5A6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04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417320" y="551383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availability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417320" y="583387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with a launch moment for the wider market.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040880" y="2331720"/>
            <a:ext cx="4370832" cy="3657600"/>
          </a:xfrm>
          <a:prstGeom prst="roundRect">
            <a:avLst>
              <a:gd name="adj" fmla="val 3000"/>
            </a:avLst>
          </a:prstGeom>
          <a:solidFill>
            <a:srgbClr val="EFEDF7"/>
          </a:solidFill>
          <a:ln w="12700">
            <a:solidFill>
              <a:srgbClr val="DED9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915400" y="3611880"/>
            <a:ext cx="621792" cy="475488"/>
          </a:xfrm>
          <a:prstGeom prst="roundRect">
            <a:avLst>
              <a:gd name="adj" fmla="val 11538"/>
            </a:avLst>
          </a:prstGeom>
          <a:solidFill>
            <a:srgbClr val="EFEDF7"/>
          </a:solidFill>
          <a:ln w="19050">
            <a:solidFill>
              <a:srgbClr val="B9B2D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244584" y="3703320"/>
            <a:ext cx="109728" cy="109728"/>
          </a:xfrm>
          <a:prstGeom prst="ellipse">
            <a:avLst/>
          </a:prstGeom>
          <a:solidFill>
            <a:srgbClr val="B9B2D4"/>
          </a:solidFill>
          <a:ln/>
        </p:spPr>
      </p:sp>
      <p:sp>
        <p:nvSpPr>
          <p:cNvPr id="29" name="Shape 27"/>
          <p:cNvSpPr/>
          <p:nvPr/>
        </p:nvSpPr>
        <p:spPr>
          <a:xfrm>
            <a:off x="8970264" y="4014216"/>
            <a:ext cx="512064" cy="0"/>
          </a:xfrm>
          <a:prstGeom prst="line">
            <a:avLst/>
          </a:prstGeom>
          <a:noFill/>
          <a:ln w="19050">
            <a:solidFill>
              <a:srgbClr val="B9B2D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06640" y="4233672"/>
            <a:ext cx="3639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8E8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team or product photo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Summit  ·  Product Recommendation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95856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515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just take it from us</a:t>
            </a:r>
            <a:endParaRPr lang="en-US" sz="29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pilot users say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777240" y="2103120"/>
            <a:ext cx="3401568" cy="3520440"/>
          </a:xfrm>
          <a:prstGeom prst="roundRect">
            <a:avLst>
              <a:gd name="adj" fmla="val 3226"/>
            </a:avLst>
          </a:prstGeom>
          <a:solidFill>
            <a:srgbClr val="E7E3F5"/>
          </a:solidFill>
          <a:ln/>
        </p:spPr>
      </p:sp>
      <p:sp>
        <p:nvSpPr>
          <p:cNvPr id="4" name="Text 2"/>
          <p:cNvSpPr/>
          <p:nvPr/>
        </p:nvSpPr>
        <p:spPr>
          <a:xfrm>
            <a:off x="2441448" y="2377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33272" y="22860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1097280" y="3246120"/>
            <a:ext cx="27614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the first thing my team opens in the morning now.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5001768"/>
            <a:ext cx="2761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  </a:t>
            </a:r>
            <a:pPr algn="l" indent="0" marL="0"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89120" y="2103120"/>
            <a:ext cx="3401568" cy="3520440"/>
          </a:xfrm>
          <a:prstGeom prst="roundRect">
            <a:avLst>
              <a:gd name="adj" fmla="val 3226"/>
            </a:avLst>
          </a:prstGeom>
          <a:solidFill>
            <a:srgbClr val="F3EEA0"/>
          </a:solidFill>
          <a:ln/>
        </p:spPr>
      </p:sp>
      <p:sp>
        <p:nvSpPr>
          <p:cNvPr id="9" name="Text 7"/>
          <p:cNvSpPr/>
          <p:nvPr/>
        </p:nvSpPr>
        <p:spPr>
          <a:xfrm>
            <a:off x="6053328" y="2377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B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645152" y="22860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4709160" y="3246120"/>
            <a:ext cx="27614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cut a two-hour job down to about ten minutes.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09160" y="5001768"/>
            <a:ext cx="2761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  </a:t>
            </a:r>
            <a:pPr algn="l" indent="0" marL="0"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01000" y="2103120"/>
            <a:ext cx="3401568" cy="3520440"/>
          </a:xfrm>
          <a:prstGeom prst="roundRect">
            <a:avLst>
              <a:gd name="adj" fmla="val 3226"/>
            </a:avLst>
          </a:prstGeom>
          <a:solidFill>
            <a:srgbClr val="BCEFCB"/>
          </a:solidFill>
          <a:ln/>
        </p:spPr>
      </p:sp>
      <p:sp>
        <p:nvSpPr>
          <p:cNvPr id="14" name="Text 12"/>
          <p:cNvSpPr/>
          <p:nvPr/>
        </p:nvSpPr>
        <p:spPr>
          <a:xfrm>
            <a:off x="9665208" y="2377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PARTNER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257032" y="22860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5400" dirty="0"/>
          </a:p>
        </p:txBody>
      </p:sp>
      <p:sp>
        <p:nvSpPr>
          <p:cNvPr id="16" name="Text 14"/>
          <p:cNvSpPr/>
          <p:nvPr/>
        </p:nvSpPr>
        <p:spPr>
          <a:xfrm>
            <a:off x="8321040" y="3246120"/>
            <a:ext cx="27614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finally trust the numbers I'm reporting upward.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21040" y="5001768"/>
            <a:ext cx="2761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Riley  </a:t>
            </a:r>
            <a:pPr algn="l" indent="0" marL="0"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Summit  ·  Product Recommendation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95856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515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we're watching</a:t>
            </a:r>
            <a:endParaRPr lang="en-US" sz="29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how we de-risk them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777240" y="20116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2011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5A6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2423160"/>
            <a:ext cx="1063447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587752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5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don't adopt it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5943600" y="2587752"/>
            <a:ext cx="5468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3E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Guided onboarding + a design-partner feedback loop from day one.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77240" y="3355848"/>
            <a:ext cx="1063447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35204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5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pilot underdelivers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5943600" y="3520440"/>
            <a:ext cx="5468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3E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Pre-agreed metrics and a kill/scale gate at 90 days.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77240" y="4288536"/>
            <a:ext cx="1063447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445312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5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creeps past GA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5943600" y="4453128"/>
            <a:ext cx="5468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3E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capability, GA-scoped; everything else is explicitly v2.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777240" y="5221224"/>
            <a:ext cx="1063447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5385816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5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Squad gets pulled away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943600" y="5385816"/>
            <a:ext cx="5468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3E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Ring-fenced squad; no shared-roadmap dependencies.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77240" y="6153912"/>
            <a:ext cx="1063447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Summit  ·  Product Recommendation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95856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237744" cy="237744"/>
          </a:xfrm>
          <a:prstGeom prst="ellipse">
            <a:avLst/>
          </a:prstGeom>
          <a:solidFill>
            <a:srgbClr val="BCEFCB"/>
          </a:solidFill>
          <a:ln/>
        </p:spPr>
      </p:sp>
      <p:sp>
        <p:nvSpPr>
          <p:cNvPr id="3" name="Text 1"/>
          <p:cNvSpPr/>
          <p:nvPr/>
        </p:nvSpPr>
        <p:spPr>
          <a:xfrm>
            <a:off x="1088136" y="4023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Rocky Mountain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77240" y="2176272"/>
            <a:ext cx="109728" cy="109728"/>
          </a:xfrm>
          <a:prstGeom prst="ellipse">
            <a:avLst/>
          </a:prstGeom>
          <a:solidFill>
            <a:srgbClr val="BCEFCB"/>
          </a:solidFill>
          <a:ln/>
        </p:spPr>
      </p:sp>
      <p:sp>
        <p:nvSpPr>
          <p:cNvPr id="5" name="Text 3"/>
          <p:cNvSpPr/>
          <p:nvPr/>
        </p:nvSpPr>
        <p:spPr>
          <a:xfrm>
            <a:off x="978408" y="20848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A8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58952" y="2377440"/>
            <a:ext cx="100584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Project Summit</a:t>
            </a:r>
            <a:endParaRPr lang="en-US" sz="44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4400" b="1" dirty="0">
                <a:solidFill>
                  <a:srgbClr val="A8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this year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77240" y="4617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squad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77240" y="51389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A8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dedicated, 6 people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977640" y="4617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partners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977640" y="51389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A8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design partners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178040" y="4617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Q3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7178040" y="51389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A8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requested by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5806440"/>
            <a:ext cx="3840480" cy="457200"/>
          </a:xfrm>
          <a:prstGeom prst="roundRect">
            <a:avLst>
              <a:gd name="adj" fmla="val 50000"/>
            </a:avLst>
          </a:prstGeom>
          <a:solidFill>
            <a:srgbClr val="BCEFCB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58064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requested: end of Q3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Summit — Product Recommendation</dc:title>
  <dc:subject>PptxGenJS Presentation</dc:subject>
  <dc:creator>Rocky Mountain</dc:creator>
  <cp:lastModifiedBy>Rocky Mountain</cp:lastModifiedBy>
  <cp:revision>1</cp:revision>
  <dcterms:created xsi:type="dcterms:W3CDTF">2026-07-07T00:15:40Z</dcterms:created>
  <dcterms:modified xsi:type="dcterms:W3CDTF">2026-07-07T00:15:40Z</dcterms:modified>
</cp:coreProperties>
</file>