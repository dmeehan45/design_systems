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the quarter in one read. Sample content — replace with your own numbers and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the review. Keep it to five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one-sentence thesis of the quarter, up front. Everything after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scorecard. Six KPIs, big and scannable. Sample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honest split. Two columns; keep each to three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of the big bets, at a glance. Green = on track, amber = at risk, blue =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 three priorities for next quarter. Constrained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priority in depth. Repeat this layout per priority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could knock Q4 off course, and the early signal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Sequence, not exact dates. Now / Next / Later keeps it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calls you actually need from the room — not a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37744" cy="237744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3" name="Text 1"/>
          <p:cNvSpPr/>
          <p:nvPr/>
        </p:nvSpPr>
        <p:spPr>
          <a:xfrm>
            <a:off x="1088136" y="4023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Mountain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35915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22677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269748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in review</a:t>
            </a:r>
            <a:endParaRPr lang="en-US" sz="5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and where next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9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quarter in one read: what moved, what didn't, and the calls for Q4.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STRATEGY   ·   Q3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things, in order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645920" y="2121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quarter in numbers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724912"/>
            <a:ext cx="77724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52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871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3474720"/>
            <a:ext cx="77724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6027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36210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4224528"/>
            <a:ext cx="77724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priorities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974336"/>
            <a:ext cx="77724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1023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we need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Strategy Review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grew — but efficiency slipped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6720840" cy="3703320"/>
          </a:xfrm>
          <a:prstGeom prst="roundRect">
            <a:avLst>
              <a:gd name="adj" fmla="val 3457"/>
            </a:avLst>
          </a:prstGeom>
          <a:solidFill>
            <a:srgbClr val="E7E3F5"/>
          </a:solidFill>
          <a:ln/>
          <a:effectLst>
            <a:outerShdw sx="100000" sy="100000" kx="0" ky="0" algn="bl" rotWithShape="0" blurRad="114300" dist="38100" dir="5400000">
              <a:srgbClr val="2023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404872"/>
            <a:ext cx="109728" cy="109728"/>
          </a:xfrm>
          <a:prstGeom prst="ellipse">
            <a:avLst/>
          </a:prstGeom>
          <a:solidFill>
            <a:srgbClr val="181818"/>
          </a:solidFill>
          <a:ln/>
        </p:spPr>
      </p:sp>
      <p:sp>
        <p:nvSpPr>
          <p:cNvPr id="5" name="Text 3"/>
          <p:cNvSpPr/>
          <p:nvPr/>
        </p:nvSpPr>
        <p:spPr>
          <a:xfrm>
            <a:off x="1344168" y="23134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2743200"/>
            <a:ext cx="598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beat the growth target, but activation and cost-to-serve moved the wrong way. Q4 is about fixing the funnel, not adding surface area.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43434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up, ahead of plan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down — the leak is early in onboarding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Cost-to-serve up as we scaled support manually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046720" y="240487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9" name="Text 7"/>
          <p:cNvSpPr/>
          <p:nvPr/>
        </p:nvSpPr>
        <p:spPr>
          <a:xfrm>
            <a:off x="8247888" y="23134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FOR Q4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bets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0" y="3264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priorities, not nine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3749040"/>
            <a:ext cx="36576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before build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46720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funnel leak first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4800600"/>
            <a:ext cx="36576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support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46720" y="5367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add headcount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Strategy Review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quarter in numbers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scorecard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284298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vs. last quarter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328190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214884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355080" y="284298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328190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7472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" y="416886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(down from 47%)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60778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347472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 pts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55080" y="416886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NPS, now 46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460778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0060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77240" y="549474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(up from 11)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593366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80060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3.1×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355080" y="549474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 on Q4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593366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Strategy Review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didn't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read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10312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BCEFCB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496312"/>
            <a:ext cx="109728" cy="109728"/>
          </a:xfrm>
          <a:prstGeom prst="ellipse">
            <a:avLst/>
          </a:prstGeom>
          <a:solidFill>
            <a:srgbClr val="181818"/>
          </a:solidFill>
          <a:ln/>
        </p:spPr>
      </p:sp>
      <p:sp>
        <p:nvSpPr>
          <p:cNvPr id="5" name="Text 3"/>
          <p:cNvSpPr/>
          <p:nvPr/>
        </p:nvSpPr>
        <p:spPr>
          <a:xfrm>
            <a:off x="1344168" y="24048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motion — three lighthouse wins</a:t>
            </a:r>
            <a:endParaRPr lang="en-US" sz="15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held through the price change</a:t>
            </a:r>
            <a:endParaRPr lang="en-US" sz="15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reporting suite drove expansion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99632" y="210312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E7E3F5"/>
          </a:solidFill>
          <a:ln/>
        </p:spPr>
      </p:sp>
      <p:sp>
        <p:nvSpPr>
          <p:cNvPr id="8" name="Shape 6"/>
          <p:cNvSpPr/>
          <p:nvPr/>
        </p:nvSpPr>
        <p:spPr>
          <a:xfrm>
            <a:off x="6565392" y="2496312"/>
            <a:ext cx="109728" cy="109728"/>
          </a:xfrm>
          <a:prstGeom prst="ellipse">
            <a:avLst/>
          </a:prstGeom>
          <a:solidFill>
            <a:srgbClr val="181818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4048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WORKING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65392" y="292608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activation leaks in week one</a:t>
            </a:r>
            <a:endParaRPr lang="en-US" sz="15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cost scaled linearly with usage</a:t>
            </a:r>
            <a:endParaRPr lang="en-US" sz="15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roadmap bets slipped a full quarter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Strategy Review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3327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9418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big bets — </a:t>
            </a:r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they 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10634472" cy="658368"/>
          </a:xfrm>
          <a:prstGeom prst="roundRect">
            <a:avLst>
              <a:gd name="adj" fmla="val 11111"/>
            </a:avLst>
          </a:prstGeom>
          <a:solidFill>
            <a:srgbClr val="20232B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2980944"/>
            <a:ext cx="182880" cy="182880"/>
          </a:xfrm>
          <a:prstGeom prst="ellipse">
            <a:avLst/>
          </a:prstGeom>
          <a:solidFill>
            <a:srgbClr val="F3EEA0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743200"/>
            <a:ext cx="8759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funnel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85832" y="2743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3E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703320"/>
            <a:ext cx="10634472" cy="658368"/>
          </a:xfrm>
          <a:prstGeom prst="roundRect">
            <a:avLst>
              <a:gd name="adj" fmla="val 11111"/>
            </a:avLst>
          </a:prstGeom>
          <a:solidFill>
            <a:srgbClr val="202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3941064"/>
            <a:ext cx="182880" cy="182880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3703320"/>
            <a:ext cx="8759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expansion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85832" y="3703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CE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663440"/>
            <a:ext cx="10634472" cy="658368"/>
          </a:xfrm>
          <a:prstGeom prst="roundRect">
            <a:avLst>
              <a:gd name="adj" fmla="val 11111"/>
            </a:avLst>
          </a:prstGeom>
          <a:solidFill>
            <a:srgbClr val="2023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4901184"/>
            <a:ext cx="182880" cy="182880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4663440"/>
            <a:ext cx="8759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automation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85832" y="46634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 on track, two need attention — that sets the Q4 priorities.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Strategy Review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priorities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Three, not nine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103120"/>
            <a:ext cx="3401568" cy="3749040"/>
          </a:xfrm>
          <a:prstGeom prst="roundRect">
            <a:avLst>
              <a:gd name="adj" fmla="val 3226"/>
            </a:avLst>
          </a:prstGeom>
          <a:solidFill>
            <a:srgbClr val="E7E3F5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324612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activation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43000" y="3931920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week-one onboarding leak; target 47% activation.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401568" cy="3749040"/>
          </a:xfrm>
          <a:prstGeom prst="roundRect">
            <a:avLst>
              <a:gd name="adj" fmla="val 3226"/>
            </a:avLst>
          </a:prstGeom>
          <a:solidFill>
            <a:srgbClr val="F3EEA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754880" y="324612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support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54880" y="3931920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 the top 5 ticket types before we add headcount.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0" y="2103120"/>
            <a:ext cx="3401568" cy="3749040"/>
          </a:xfrm>
          <a:prstGeom prst="roundRect">
            <a:avLst>
              <a:gd name="adj" fmla="val 3226"/>
            </a:avLst>
          </a:prstGeom>
          <a:solidFill>
            <a:srgbClr val="BCEFCB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366760" y="324612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3 lighthouses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66760" y="3931920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enterprise pipeline into named reference logos.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Strategy Review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846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activation</a:t>
            </a:r>
            <a:endParaRPr lang="en-US" sz="2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funnel leaks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8529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week-one journey; find the two biggest drop-offs.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675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fixes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405993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+ a first-value checklist, behind a flag.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882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526694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test; ship if activation clears 47%.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2331720"/>
            <a:ext cx="4553712" cy="3657600"/>
          </a:xfrm>
          <a:prstGeom prst="roundRect">
            <a:avLst>
              <a:gd name="adj" fmla="val 3000"/>
            </a:avLst>
          </a:prstGeom>
          <a:solidFill>
            <a:srgbClr val="EFEDF7"/>
          </a:solidFill>
          <a:ln w="12700">
            <a:solidFill>
              <a:srgbClr val="DED9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3611880"/>
            <a:ext cx="621792" cy="475488"/>
          </a:xfrm>
          <a:prstGeom prst="roundRect">
            <a:avLst>
              <a:gd name="adj" fmla="val 11538"/>
            </a:avLst>
          </a:prstGeom>
          <a:solidFill>
            <a:srgbClr val="EFEDF7"/>
          </a:solidFill>
          <a:ln w="19050">
            <a:solidFill>
              <a:srgbClr val="B9B2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53144" y="3703320"/>
            <a:ext cx="109728" cy="109728"/>
          </a:xfrm>
          <a:prstGeom prst="ellipse">
            <a:avLst/>
          </a:prstGeom>
          <a:solidFill>
            <a:srgbClr val="B9B2D4"/>
          </a:solidFill>
          <a:ln/>
        </p:spPr>
      </p:sp>
      <p:sp>
        <p:nvSpPr>
          <p:cNvPr id="14" name="Shape 12"/>
          <p:cNvSpPr/>
          <p:nvPr/>
        </p:nvSpPr>
        <p:spPr>
          <a:xfrm>
            <a:off x="8878824" y="4014216"/>
            <a:ext cx="512064" cy="0"/>
          </a:xfrm>
          <a:prstGeom prst="line">
            <a:avLst/>
          </a:prstGeom>
          <a:noFill/>
          <a:ln w="19050">
            <a:solidFill>
              <a:srgbClr val="B9B2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4233672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funnel chart or product shot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Strategy Review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Watch-items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knock us off course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 / MITIGATION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877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fix doesn't hold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0" y="2587752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cohort readout; roll back if it dips two weeks running.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355848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cost keeps climbing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0" y="3520440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cost-per-account; gate hiring on deflection rate.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288536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531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deals slip again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943600" y="4453128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Stage-by-stage forecast; exec sponsor on each named logo.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5221224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38581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spread too thin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943600" y="5385816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net-new bets; protect the three priorities.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6153912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Strategy Review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next, later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103120"/>
            <a:ext cx="3401568" cy="3749040"/>
          </a:xfrm>
          <a:prstGeom prst="roundRect">
            <a:avLst>
              <a:gd name="adj" fmla="val 3226"/>
            </a:avLst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46888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Q4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3017520"/>
            <a:ext cx="2670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fixes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deflection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conversions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89120" y="2103120"/>
            <a:ext cx="3401568" cy="3749040"/>
          </a:xfrm>
          <a:prstGeom prst="roundRect">
            <a:avLst>
              <a:gd name="adj" fmla="val 3226"/>
            </a:avLst>
          </a:prstGeom>
          <a:solidFill>
            <a:srgbClr val="F4F4F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46888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3017520"/>
            <a:ext cx="2670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expansion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pricing test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integrations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01000" y="2103120"/>
            <a:ext cx="3401568" cy="3749040"/>
          </a:xfrm>
          <a:prstGeom prst="roundRect">
            <a:avLst>
              <a:gd name="adj" fmla="val 3226"/>
            </a:avLst>
          </a:prstGeom>
          <a:solidFill>
            <a:srgbClr val="F4F4F4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246888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· H1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66760" y="3017520"/>
            <a:ext cx="2670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beta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API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product line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Strategy Review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37744" cy="237744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3" name="Text 1"/>
          <p:cNvSpPr/>
          <p:nvPr/>
        </p:nvSpPr>
        <p:spPr>
          <a:xfrm>
            <a:off x="1088136" y="4023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Mountain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17627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20848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2377440"/>
            <a:ext cx="10058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calls we need</a:t>
            </a:r>
            <a:endParaRPr lang="en-US" sz="4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review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new bets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three Q4 priorities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6052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automation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6052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engineers, reallocated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4380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pricing test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4380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usage-based, one segment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58064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BCEFC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806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requested today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Strategy Review</dc:title>
  <dc:subject>PptxGenJS Presentation</dc:subject>
  <dc:creator>Rocky Mountain</dc:creator>
  <cp:lastModifiedBy>Rocky Mountain</cp:lastModifiedBy>
  <cp:revision>1</cp:revision>
  <dcterms:created xsi:type="dcterms:W3CDTF">2026-07-07T00:15:40Z</dcterms:created>
  <dcterms:modified xsi:type="dcterms:W3CDTF">2026-07-07T00:15:40Z</dcterms:modified>
</cp:coreProperties>
</file>