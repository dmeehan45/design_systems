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recommendation framing: an internal product decision built to investor-review polish. Foresight — predictive care on the data layer we already own — as the 2026 flagship.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ask — recommendation decks put the conclusion first. Lavender card = the recommendation; right column = exactly what approval means. Pause on the 30 Sep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with the market's own numbers, not fear. Warm, dignified photo — never clinical or alarming.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pivot. One idea, lots of air. The whole recommendation rests on this: the data already exists; prediction is the unlock.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we'd build, in three capabilities. Flag the panel as illustrative. The three colors map to the brand: periwinkle/butter/mint for high/elevated/low.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'real AI, not a camera' beat. The blue point cloud is the signature visual. Walk the three levels: room, site, organisation. Foresight is the third.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Credibility that we can ship and it works. Live results from Teton's base. Land on 83% (pilot) and 96% (response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decision was considered. Three honest options, four rows. Building now is the only path that deepens the moat instead of renting or freezing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plan, four steps, with a real gate at the pilot (step 2). We don't roll out until the pilot clears its metrics — that's how we de-risk the spend.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in the users' own voices — the brand puts evidence in nurses' mouths, not adjectives. The 83% here is the same number, now human.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Investor-grade candor: name the real risks and specific mitigations. The kill/scale gate at 90 days caps the downside.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mirroring the cover and restating the ask in one breath: one squad, two pilot sites, decision by 30 September. The mint pill is the single call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237744" cy="237744"/>
          </a:xfrm>
          <a:prstGeom prst="ellipse">
            <a:avLst/>
          </a:prstGeom>
          <a:solidFill>
            <a:srgbClr val="BCEFCB"/>
          </a:solidFill>
          <a:ln/>
        </p:spPr>
      </p:sp>
      <p:sp>
        <p:nvSpPr>
          <p:cNvPr id="3" name="Text 1"/>
          <p:cNvSpPr/>
          <p:nvPr/>
        </p:nvSpPr>
        <p:spPr>
          <a:xfrm>
            <a:off x="1088136" y="4023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2359152"/>
            <a:ext cx="109728" cy="109728"/>
          </a:xfrm>
          <a:prstGeom prst="ellipse">
            <a:avLst/>
          </a:prstGeom>
          <a:solidFill>
            <a:srgbClr val="BCEFCB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22677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8952" y="2697480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Teton Foresight</a:t>
            </a:r>
            <a:endParaRPr lang="en-US" sz="5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monitoring to prediction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77240" y="48920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9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internal recommendation to make predictive care our 2026 flagship.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6172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  ·   PRODUCT STRATEGY   ·   Q3 2026   ·   CONFIDENTIAL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</a:t>
            </a:r>
            <a:endParaRPr lang="en-US" sz="29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Foresight as our 2026 flagship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6720840" cy="3977640"/>
          </a:xfrm>
          <a:prstGeom prst="roundRect">
            <a:avLst>
              <a:gd name="adj" fmla="val 3218"/>
            </a:avLst>
          </a:prstGeom>
          <a:solidFill>
            <a:srgbClr val="E7E3F5"/>
          </a:solidFill>
          <a:ln/>
          <a:effectLst>
            <a:outerShdw sx="100000" sy="100000" kx="0" ky="0" algn="bl" rotWithShape="0" blurRad="114300" dist="38100" dir="5400000">
              <a:srgbClr val="20232A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3000" y="2404872"/>
            <a:ext cx="109728" cy="109728"/>
          </a:xfrm>
          <a:prstGeom prst="ellipse">
            <a:avLst/>
          </a:prstGeom>
          <a:solidFill>
            <a:srgbClr val="181818"/>
          </a:solidFill>
          <a:ln/>
        </p:spPr>
      </p:sp>
      <p:sp>
        <p:nvSpPr>
          <p:cNvPr id="5" name="Text 3"/>
          <p:cNvSpPr/>
          <p:nvPr/>
        </p:nvSpPr>
        <p:spPr>
          <a:xfrm>
            <a:off x="1344168" y="23134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" y="2743200"/>
            <a:ext cx="5989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 dedicated squad to ship Teton Foresight — predictive risk on the data layer we already own — beginning Q4 2026.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43000" y="41148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monitoring into prediction — with no new hardware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Deepens our data moat ahead of the US launch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on infrastructure and trust we've already proven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046720" y="2404872"/>
            <a:ext cx="109728" cy="109728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9" name="Text 7"/>
          <p:cNvSpPr/>
          <p:nvPr/>
        </p:nvSpPr>
        <p:spPr>
          <a:xfrm>
            <a:off x="8247888" y="23134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ASKING FOR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product squad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046720" y="3264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people, ring-fenced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3749040"/>
            <a:ext cx="365760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pilot facilities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046720" y="4315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hospital, one care home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4800600"/>
            <a:ext cx="365760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4983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by 30 Sep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046720" y="5367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hit a Q4 start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Teton — Product Recommendation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756855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  ·  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058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29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 gap is widening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5577840" cy="834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million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77240" y="2864855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global nursing shortage by 2025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3303767"/>
            <a:ext cx="557784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383280"/>
            <a:ext cx="5577840" cy="834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million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77240" y="4236455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per year among people aged 65+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4675367"/>
            <a:ext cx="557784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754880"/>
            <a:ext cx="5577840" cy="834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77240" y="5608055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life expectancy after a fall in a care setting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6046967"/>
            <a:ext cx="557784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2011680"/>
            <a:ext cx="4553712" cy="3977640"/>
          </a:xfrm>
          <a:prstGeom prst="roundRect">
            <a:avLst>
              <a:gd name="adj" fmla="val 2759"/>
            </a:avLst>
          </a:prstGeom>
          <a:solidFill>
            <a:srgbClr val="F4F4F4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33104" y="3470148"/>
            <a:ext cx="603504" cy="4572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9050">
            <a:solidFill>
              <a:srgbClr val="C4C4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97696" y="3579876"/>
            <a:ext cx="118872" cy="118872"/>
          </a:xfrm>
          <a:prstGeom prst="ellipse">
            <a:avLst/>
          </a:prstGeom>
          <a:solidFill>
            <a:srgbClr val="C4C4C4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0" y="4018788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documentary photo — resident and carer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Teton — Product Recommendation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756855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  ·  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2176272"/>
            <a:ext cx="109728" cy="109728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20848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972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already capture the data.</a:t>
            </a:r>
            <a:endParaRPr lang="en-US" sz="34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just don't </a:t>
            </a:r>
            <a:pPr algn="l" indent="0" marL="0">
              <a:lnSpc>
                <a:spcPct val="114000"/>
              </a:lnSpc>
              <a:buNone/>
            </a:pPr>
            <a:r>
              <a:rPr lang="en-US" sz="3400" b="1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pPr algn="l" indent="0" marL="0">
              <a:lnSpc>
                <a:spcPct val="114000"/>
              </a:lnSpc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it — yet.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46177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room already streams to our data layer. Foresight turns that stream into risk we can act on before a fall — not documentation after one.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Teton — Product Recommendation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56855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  ·  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76072"/>
            <a:ext cx="109728" cy="109728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846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Teton Foresight</a:t>
            </a:r>
            <a:endParaRPr lang="en-US" sz="28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on the layer we own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scores, per resident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85292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fall- and deterioration-risk from ambient signals — no wearables.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6758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Shift-level foresight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405993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staff who needs eyes tonight, before the evening handover.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488289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view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526694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Cross-facility risk for operators and clinical leads, in one pane.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720840" y="2331720"/>
            <a:ext cx="4690872" cy="3611880"/>
          </a:xfrm>
          <a:prstGeom prst="roundRect">
            <a:avLst>
              <a:gd name="adj" fmla="val 3544"/>
            </a:avLst>
          </a:prstGeom>
          <a:solidFill>
            <a:srgbClr val="16181C"/>
          </a:solidFill>
          <a:ln/>
          <a:effectLst>
            <a:outerShdw sx="100000" sy="100000" kx="0" ky="0" algn="bl" rotWithShape="0" blurRad="114300" dist="38100" dir="5400000">
              <a:srgbClr val="20232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040880" y="260604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 · TONIGHT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0" y="3017520"/>
            <a:ext cx="4050792" cy="658368"/>
          </a:xfrm>
          <a:prstGeom prst="roundRect">
            <a:avLst>
              <a:gd name="adj" fmla="val 11111"/>
            </a:avLst>
          </a:prstGeom>
          <a:solidFill>
            <a:srgbClr val="20232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0" y="3255264"/>
            <a:ext cx="182880" cy="182880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3017520"/>
            <a:ext cx="2679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122 · Ingrid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902952" y="301752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40880" y="3840480"/>
            <a:ext cx="4050792" cy="658368"/>
          </a:xfrm>
          <a:prstGeom prst="roundRect">
            <a:avLst>
              <a:gd name="adj" fmla="val 11111"/>
            </a:avLst>
          </a:prstGeom>
          <a:solidFill>
            <a:srgbClr val="20232B"/>
          </a:solidFill>
          <a:ln/>
        </p:spPr>
      </p:sp>
      <p:sp>
        <p:nvSpPr>
          <p:cNvPr id="18" name="Shape 16"/>
          <p:cNvSpPr/>
          <p:nvPr/>
        </p:nvSpPr>
        <p:spPr>
          <a:xfrm>
            <a:off x="7223760" y="4078224"/>
            <a:ext cx="182880" cy="182880"/>
          </a:xfrm>
          <a:prstGeom prst="ellipse">
            <a:avLst/>
          </a:prstGeom>
          <a:solidFill>
            <a:srgbClr val="F3EEA0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0" y="3840480"/>
            <a:ext cx="2679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118 · Bent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902952" y="384048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3E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40880" y="4663440"/>
            <a:ext cx="4050792" cy="658368"/>
          </a:xfrm>
          <a:prstGeom prst="roundRect">
            <a:avLst>
              <a:gd name="adj" fmla="val 11111"/>
            </a:avLst>
          </a:prstGeom>
          <a:solidFill>
            <a:srgbClr val="20232B"/>
          </a:solidFill>
          <a:ln/>
        </p:spPr>
      </p:sp>
      <p:sp>
        <p:nvSpPr>
          <p:cNvPr id="22" name="Shape 20"/>
          <p:cNvSpPr/>
          <p:nvPr/>
        </p:nvSpPr>
        <p:spPr>
          <a:xfrm>
            <a:off x="7223760" y="4901184"/>
            <a:ext cx="182880" cy="182880"/>
          </a:xfrm>
          <a:prstGeom prst="ellipse">
            <a:avLst/>
          </a:prstGeom>
          <a:solidFill>
            <a:srgbClr val="BCEFCB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0" y="4663440"/>
            <a:ext cx="2679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130 · Maja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902952" y="466344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CE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0840" y="5532120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Foresight risk panel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Teton — Product Recommendation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756855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  ·  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ivacy-preserving point-cloud room sc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822960"/>
            <a:ext cx="5852160" cy="46817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1078992"/>
            <a:ext cx="109728" cy="109728"/>
          </a:xfrm>
          <a:prstGeom prst="ellipse">
            <a:avLst/>
          </a:prstGeom>
          <a:solidFill>
            <a:srgbClr val="BCEFCB"/>
          </a:solidFill>
          <a:ln/>
        </p:spPr>
      </p:sp>
      <p:sp>
        <p:nvSpPr>
          <p:cNvPr id="4" name="Text 1"/>
          <p:cNvSpPr/>
          <p:nvPr/>
        </p:nvSpPr>
        <p:spPr>
          <a:xfrm>
            <a:off x="978408" y="9875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77240" y="13716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understanding,</a:t>
            </a:r>
            <a:endParaRPr lang="en-US" sz="3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77240" y="3063240"/>
            <a:ext cx="457200" cy="457200"/>
          </a:xfrm>
          <a:prstGeom prst="ellipse">
            <a:avLst/>
          </a:prstGeom>
          <a:solidFill>
            <a:srgbClr val="23262F"/>
          </a:solidFill>
          <a:ln w="15875">
            <a:solidFill>
              <a:srgbClr val="5A6C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35608" y="302666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of care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35608" y="335584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build a live, privacy-safe model of each room — no video leaves it.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87368"/>
            <a:ext cx="457200" cy="457200"/>
          </a:xfrm>
          <a:prstGeom prst="ellipse">
            <a:avLst/>
          </a:prstGeom>
          <a:solidFill>
            <a:srgbClr val="23262F"/>
          </a:solidFill>
          <a:ln w="15875">
            <a:solidFill>
              <a:srgbClr val="5A6C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35608" y="40507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Site-wide clarity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35608" y="437997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roll up into ward and facility views for the team on shift.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7240" y="5111496"/>
            <a:ext cx="457200" cy="457200"/>
          </a:xfrm>
          <a:prstGeom prst="ellipse">
            <a:avLst/>
          </a:prstGeom>
          <a:solidFill>
            <a:srgbClr val="23262F"/>
          </a:solidFill>
          <a:ln w="15875">
            <a:solidFill>
              <a:srgbClr val="5A6C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5074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Organisational foresight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35608" y="540410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across the whole portfolio — where Foresight lives.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7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Teton — Product Recommendation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756855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  ·  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058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 and tested</a:t>
            </a:r>
            <a:endParaRPr lang="en-US" sz="29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results at scale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77240" y="2148840"/>
            <a:ext cx="4937760" cy="675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2842989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falls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3281901"/>
            <a:ext cx="493776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5080" y="2148840"/>
            <a:ext cx="4937760" cy="675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355080" y="2842989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fall-response times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3281901"/>
            <a:ext cx="493776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474720"/>
            <a:ext cx="4937760" cy="675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77240" y="4168869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staff workload, 8pm–8am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4607781"/>
            <a:ext cx="493776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3474720"/>
            <a:ext cx="4937760" cy="675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10M+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55080" y="4168869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in-room monitoring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4607781"/>
            <a:ext cx="493776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800600"/>
            <a:ext cx="4937760" cy="675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77240" y="5494749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staff supported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5933661"/>
            <a:ext cx="493776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4800600"/>
            <a:ext cx="4937760" cy="675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355080" y="5494749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falls (Hjørring pilot)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5933661"/>
            <a:ext cx="493776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Teton — Product Recommendation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756855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  ·  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considered</a:t>
            </a:r>
            <a:endParaRPr lang="en-US" sz="29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paths, one recommendation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3401568" cy="4160520"/>
          </a:xfrm>
          <a:prstGeom prst="roundRect">
            <a:avLst>
              <a:gd name="adj" fmla="val 3226"/>
            </a:avLst>
          </a:prstGeom>
          <a:solidFill>
            <a:srgbClr val="BCEFCB"/>
          </a:solidFill>
          <a:ln/>
          <a:effectLst>
            <a:outerShdw sx="100000" sy="100000" kx="0" ky="0" algn="bl" rotWithShape="0" blurRad="114300" dist="38100" dir="5400000">
              <a:srgbClr val="20232A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2304288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181818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30428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51560" y="2926080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Foresight now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384048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VALUE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51560" y="405993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quarters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438912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MOAT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1560" y="460857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Deepens ours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560" y="493776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51560" y="515721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squad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51560" y="548640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RISK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51560" y="570585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we own the layer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89120" y="2011680"/>
            <a:ext cx="3401568" cy="4160520"/>
          </a:xfrm>
          <a:prstGeom prst="roundRect">
            <a:avLst>
              <a:gd name="adj" fmla="val 3226"/>
            </a:avLst>
          </a:prstGeom>
          <a:solidFill>
            <a:srgbClr val="F4F4F4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926080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for analytics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63440" y="384048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VALUE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63440" y="405993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quarters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63440" y="438912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MOAT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63440" y="460857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/ erodes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63440" y="493776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63440" y="515721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Rev-share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63440" y="548640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RISK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63440" y="570585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dependency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01000" y="2011680"/>
            <a:ext cx="3401568" cy="4160520"/>
          </a:xfrm>
          <a:prstGeom prst="roundRect">
            <a:avLst>
              <a:gd name="adj" fmla="val 3226"/>
            </a:avLst>
          </a:prstGeom>
          <a:solidFill>
            <a:srgbClr val="F4F4F4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2926080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to 2027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275320" y="384048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VALUE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75320" y="405993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yet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75320" y="438912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MOAT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75320" y="460857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275320" y="493776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275320" y="515721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75320" y="548640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RISK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275320" y="570585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others move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77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Teton — Product Recommendation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756855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  ·  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76072"/>
            <a:ext cx="109728" cy="109728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846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we'd ship it</a:t>
            </a:r>
            <a:endParaRPr lang="en-US" sz="28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to general availability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78408" y="2697480"/>
            <a:ext cx="0" cy="2743200"/>
          </a:xfrm>
          <a:prstGeom prst="line">
            <a:avLst/>
          </a:prstGeom>
          <a:noFill/>
          <a:ln w="19050">
            <a:solidFill>
              <a:srgbClr val="D9DC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606040"/>
            <a:ext cx="402336" cy="402336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17320" y="25694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17320" y="27706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30906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prediction service on the existing data layer.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520440"/>
            <a:ext cx="402336" cy="402336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34838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417320" y="36850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cohort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0050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facilities, pre-agreed success metrics, tight tracking.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434840"/>
            <a:ext cx="402336" cy="402336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434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43982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417320" y="45994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Cross-facility rollout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49194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across the current base once the gate is passed.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5349240"/>
            <a:ext cx="402336" cy="402336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349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53126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417320" y="55138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&amp; US launch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17320" y="58338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availability, timed into the US expansion.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040880" y="2331720"/>
            <a:ext cx="4370832" cy="3657600"/>
          </a:xfrm>
          <a:prstGeom prst="roundRect">
            <a:avLst>
              <a:gd name="adj" fmla="val 3000"/>
            </a:avLst>
          </a:prstGeom>
          <a:solidFill>
            <a:srgbClr val="E7E3F5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24544" y="3630168"/>
            <a:ext cx="603504" cy="457200"/>
          </a:xfrm>
          <a:prstGeom prst="roundRect">
            <a:avLst>
              <a:gd name="adj" fmla="val 12000"/>
            </a:avLst>
          </a:prstGeom>
          <a:solidFill>
            <a:srgbClr val="E7E3F5"/>
          </a:solidFill>
          <a:ln w="19050">
            <a:solidFill>
              <a:srgbClr val="C4C4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89136" y="3739896"/>
            <a:ext cx="118872" cy="118872"/>
          </a:xfrm>
          <a:prstGeom prst="ellipse">
            <a:avLst/>
          </a:prstGeom>
          <a:solidFill>
            <a:srgbClr val="C4C4C4"/>
          </a:solidFill>
          <a:ln/>
        </p:spPr>
      </p:sp>
      <p:sp>
        <p:nvSpPr>
          <p:cNvPr id="29" name="Text 27"/>
          <p:cNvSpPr/>
          <p:nvPr/>
        </p:nvSpPr>
        <p:spPr>
          <a:xfrm>
            <a:off x="7406640" y="4178808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at work — care staff &amp; product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77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Teton — Product Recommendation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756855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  ·  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just take it from us</a:t>
            </a:r>
            <a:endParaRPr lang="en-US" sz="29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care staff already say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77240" y="2103120"/>
            <a:ext cx="3401568" cy="3840480"/>
          </a:xfrm>
          <a:prstGeom prst="roundRect">
            <a:avLst>
              <a:gd name="adj" fmla="val 3226"/>
            </a:avLst>
          </a:prstGeom>
          <a:solidFill>
            <a:srgbClr val="E7E3F5"/>
          </a:solidFill>
          <a:ln/>
        </p:spPr>
      </p:sp>
      <p:sp>
        <p:nvSpPr>
          <p:cNvPr id="4" name="Text 2"/>
          <p:cNvSpPr/>
          <p:nvPr/>
        </p:nvSpPr>
        <p:spPr>
          <a:xfrm>
            <a:off x="2624328" y="2377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3272" y="2286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097280" y="3291840"/>
            <a:ext cx="27614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brilliant — our falls have decreased by 83%. It's changed the way we work.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5303520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Tina  </a:t>
            </a:r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Assistant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2103120"/>
            <a:ext cx="3401568" cy="3840480"/>
          </a:xfrm>
          <a:prstGeom prst="roundRect">
            <a:avLst>
              <a:gd name="adj" fmla="val 3226"/>
            </a:avLst>
          </a:prstGeom>
          <a:solidFill>
            <a:srgbClr val="F3EEA0"/>
          </a:solidFill>
          <a:ln/>
        </p:spPr>
      </p:sp>
      <p:sp>
        <p:nvSpPr>
          <p:cNvPr id="9" name="Text 7"/>
          <p:cNvSpPr/>
          <p:nvPr/>
        </p:nvSpPr>
        <p:spPr>
          <a:xfrm>
            <a:off x="6236208" y="2377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45152" y="2286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709160" y="3291840"/>
            <a:ext cx="27614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I've got lots of patients, it gives me peace of mind knowing Teton is there.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09160" y="5303520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Maja  </a:t>
            </a:r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0" y="2103120"/>
            <a:ext cx="3401568" cy="3840480"/>
          </a:xfrm>
          <a:prstGeom prst="roundRect">
            <a:avLst>
              <a:gd name="adj" fmla="val 3226"/>
            </a:avLst>
          </a:prstGeom>
          <a:solidFill>
            <a:srgbClr val="BCEFCB"/>
          </a:solidFill>
          <a:ln/>
        </p:spPr>
      </p:sp>
      <p:sp>
        <p:nvSpPr>
          <p:cNvPr id="14" name="Text 12"/>
          <p:cNvSpPr/>
          <p:nvPr/>
        </p:nvSpPr>
        <p:spPr>
          <a:xfrm>
            <a:off x="9848088" y="2377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HOME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57032" y="2286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8321040" y="3291840"/>
            <a:ext cx="27614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be at the other end of the building and still feel secure about a resident.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1040" y="5303520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Lasse  </a:t>
            </a:r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Assistant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Teton — Product Recommendation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756855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  ·  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we're watching</a:t>
            </a:r>
            <a:endParaRPr lang="en-US" sz="29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we de-risk them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7240" y="2423160"/>
            <a:ext cx="10634472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58775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don't trust the model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0" y="2587752"/>
            <a:ext cx="5468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risk + clinician-in-the-loop from day one.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3355848"/>
            <a:ext cx="10634472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520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underdelivers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943600" y="3520440"/>
            <a:ext cx="5468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Pre-agreed metrics; a kill/scale gate at 90 days.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4288536"/>
            <a:ext cx="10634472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4531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regulatory exposure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943600" y="4453128"/>
            <a:ext cx="5468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Privacy-by-design already; compliance engaged in Step 1.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7240" y="5221224"/>
            <a:ext cx="10634472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38581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gets pulled onto other work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943600" y="5385816"/>
            <a:ext cx="5468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Ring-fenced squad; no shared-roadmap dependencies.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77240" y="6153912"/>
            <a:ext cx="10634472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Teton — Product Recommendation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756855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  ·  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237744" cy="237744"/>
          </a:xfrm>
          <a:prstGeom prst="ellipse">
            <a:avLst/>
          </a:prstGeom>
          <a:solidFill>
            <a:srgbClr val="BCEFCB"/>
          </a:solidFill>
          <a:ln/>
        </p:spPr>
      </p:sp>
      <p:sp>
        <p:nvSpPr>
          <p:cNvPr id="3" name="Text 1"/>
          <p:cNvSpPr/>
          <p:nvPr/>
        </p:nvSpPr>
        <p:spPr>
          <a:xfrm>
            <a:off x="1088136" y="4023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2176272"/>
            <a:ext cx="109728" cy="109728"/>
          </a:xfrm>
          <a:prstGeom prst="ellipse">
            <a:avLst/>
          </a:prstGeom>
          <a:solidFill>
            <a:srgbClr val="BCEFCB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20848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8952" y="2377440"/>
            <a:ext cx="10058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Foresight</a:t>
            </a:r>
            <a:endParaRPr lang="en-US" sz="44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2026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4617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squad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5138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dedicated, 6 people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77640" y="4617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sites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977640" y="5138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+ care home pilot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78040" y="4617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178040" y="5138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requested by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5806440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BCEFC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806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requested: 30 September 2026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42455" y="5943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spc="150" kern="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  ·   CONFIDENTIAL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Teton — Product Recommendation</dc:title>
  <dc:subject>PptxGenJS Presentation</dc:subject>
  <dc:creator>Teton Product</dc:creator>
  <cp:lastModifiedBy>Teton Product</cp:lastModifiedBy>
  <cp:revision>1</cp:revision>
  <dcterms:created xsi:type="dcterms:W3CDTF">2026-07-06T23:08:01Z</dcterms:created>
  <dcterms:modified xsi:type="dcterms:W3CDTF">2026-07-06T23:08:01Z</dcterms:modified>
</cp:coreProperties>
</file>